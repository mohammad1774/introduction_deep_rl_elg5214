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Université d'Ottawa   |   University of Ottawa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0024"/>
                </a:solidFill>
              </a:rPr>
              <a:t>Result 1: Massively Multitask RL (Figure 1)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229600" cy="0"/>
          </a:xfrm>
          <a:prstGeom prst="line">
            <a:avLst/>
          </a:prstGeom>
          <a:noFill/>
          <a:ln w="889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uOttawa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R1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234440"/>
            <a:ext cx="384048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89120" y="1234440"/>
            <a:ext cx="347472" cy="685800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0" y="1234440"/>
            <a:ext cx="347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①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73168" y="1234440"/>
            <a:ext cx="4069080" cy="6858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64608" y="12710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0024"/>
                </a:solidFill>
              </a:rPr>
              <a:t>Newt leads overall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64608" y="153619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Highest avg. normalized score across 200 tasks vs. all baselines at 100M steps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89120" y="2057400"/>
            <a:ext cx="347472" cy="685800"/>
          </a:xfrm>
          <a:prstGeom prst="rect">
            <a:avLst/>
          </a:prstGeom>
          <a:solidFill>
            <a:srgbClr val="B5003E"/>
          </a:solidFill>
          <a:ln w="12700">
            <a:solidFill>
              <a:srgbClr val="B5003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0" y="2057400"/>
            <a:ext cx="347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②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73168" y="2057400"/>
            <a:ext cx="4069080" cy="6858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64608" y="20939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003E"/>
                </a:solidFill>
              </a:rPr>
              <a:t>More data-efficient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64608" y="235915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Newt rises faster than PPO and FastTD3, reaching higher scores with fewer steps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89120" y="2880360"/>
            <a:ext cx="347472" cy="68580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9120" y="2880360"/>
            <a:ext cx="347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③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773168" y="2880360"/>
            <a:ext cx="4069080" cy="6858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64608" y="29169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D3D"/>
                </a:solidFill>
              </a:rPr>
              <a:t>BC plateaus early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64608" y="318211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BC starts strong (high-quality demos) but cannot improve beyond imitation ceiling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389120" y="3703320"/>
            <a:ext cx="347472" cy="68580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89120" y="3703320"/>
            <a:ext cx="347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④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773168" y="3703320"/>
            <a:ext cx="4069080" cy="6858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64608" y="37398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</a:rPr>
              <a:t>Demos matter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64608" y="400507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"Ours (no demos)" is noticeably worse — pretraining on demonstrations is essential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47472" y="44805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</a:rPr>
              <a:t>Source: Figure 1 — Hansen et al.,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Université d'Ottawa   |   University of Ottawa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0024"/>
                </a:solidFill>
              </a:rPr>
              <a:t>Result 2: Per-Domain Performance (Figure 7)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229600" cy="0"/>
          </a:xfrm>
          <a:prstGeom prst="line">
            <a:avLst/>
          </a:prstGeom>
          <a:noFill/>
          <a:ln w="889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uOttawa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R2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07008"/>
            <a:ext cx="859536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4498848"/>
            <a:ext cx="8595360" cy="43891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449884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0024"/>
                </a:solidFill>
              </a:rPr>
              <a:t>Key takeaway: </a:t>
            </a:r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Newt (dark blue) leads in most domains but gains are uneven — ManiSkill &amp; Meta-World show strong improvement; MuJoCo &amp; Atari are more competitive. This is an honest limitation the authors acknowledge.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0" y="469087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</a:rPr>
              <a:t>Source: Figure 7 — Hansen et al.,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Université d'Ottawa   |   University of Ottawa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0024"/>
                </a:solidFill>
              </a:rPr>
              <a:t>Result 3: Few-Shot Adaptation to Unseen Tasks (Figure 9)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229600" cy="0"/>
          </a:xfrm>
          <a:prstGeom prst="line">
            <a:avLst/>
          </a:prstGeom>
          <a:noFill/>
          <a:ln w="889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uOttawa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R3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234440"/>
            <a:ext cx="3657600" cy="3383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51960" y="1234440"/>
            <a:ext cx="4617720" cy="914400"/>
          </a:xfrm>
          <a:prstGeom prst="rect">
            <a:avLst/>
          </a:prstGeom>
          <a:solidFill>
            <a:srgbClr val="FFF0F3"/>
          </a:solidFill>
          <a:ln w="12700">
            <a:solidFill>
              <a:srgbClr val="8F00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70832" y="12618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0024"/>
                </a:solidFill>
              </a:rPr>
              <a:t>What is being tested?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70832" y="153619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</a:rPr>
              <a:t>Transfer Newt (pretrained on 200 tasks) to 20 completely unseen tasks &amp; embodiments using only a small number of fine-tuning steps.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51960" y="2286000"/>
            <a:ext cx="347472" cy="694944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51960" y="2286000"/>
            <a:ext cx="3474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36008" y="2286000"/>
            <a:ext cx="4233672" cy="694944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2322576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0024"/>
                </a:solidFill>
              </a:rPr>
              <a:t>Finetuned Newt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27448" y="2596896"/>
            <a:ext cx="4050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Starts at ~0.4 and reaches ~0.85 normalized score by 100k steps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51960" y="3127248"/>
            <a:ext cx="347472" cy="694944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51960" y="3127248"/>
            <a:ext cx="3474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636008" y="3127248"/>
            <a:ext cx="4233672" cy="694944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27448" y="3163824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</a:rPr>
              <a:t>From Scratch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27448" y="3438144"/>
            <a:ext cx="4050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Starts near 0 and only reaches ~0.55 — much slower, much lower ceiling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251960" y="3968496"/>
            <a:ext cx="347472" cy="694944"/>
          </a:xfrm>
          <a:prstGeom prst="rect">
            <a:avLst/>
          </a:prstGeom>
          <a:solidFill>
            <a:srgbClr val="B5003E"/>
          </a:solidFill>
          <a:ln w="12700">
            <a:solidFill>
              <a:srgbClr val="B5003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51960" y="3968496"/>
            <a:ext cx="3474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★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636008" y="3968496"/>
            <a:ext cx="4233672" cy="694944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27448" y="4005072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003E"/>
                </a:solidFill>
              </a:rPr>
              <a:t>~15× zero-shot advantage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27448" y="4279392"/>
            <a:ext cx="4050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Newt scores ~0.192 at step 0 vs. ~0.013 for scratch — pretrained representations transfer immediately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47472" y="4645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</a:rPr>
              <a:t>Source: Figure 9 — Hansen et al., 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Université d'Ottawa   |   University of Ottawa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0024"/>
                </a:solidFill>
              </a:rPr>
              <a:t>Result 4: Open-Loop Control &amp; 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229600" cy="0"/>
          </a:xfrm>
          <a:prstGeom prst="line">
            <a:avLst/>
          </a:prstGeom>
          <a:noFill/>
          <a:ln w="889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uOttawa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R4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234440"/>
            <a:ext cx="4160520" cy="23317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234440"/>
            <a:ext cx="4160520" cy="365760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is Open-Loop Control?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664208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1E1E"/>
                </a:solidFill>
              </a:rPr>
              <a:t>Normal (closed-loop):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1E1E"/>
                </a:solidFill>
              </a:rPr>
              <a:t>Agent observes → acts → observes → acts...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1E1E"/>
                </a:solidFill>
              </a:rPr>
              <a:t>Open-loop: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1E1E"/>
                </a:solidFill>
              </a:rPr>
              <a:t>Agent plans a sequence of actions and executes them ALL without re-observing the environment.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1E1E"/>
                </a:solidFill>
              </a:rPr>
              <a:t>Newt's world model allows it to simulate future states internally — making open-loop control feasible.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3657600"/>
            <a:ext cx="4160520" cy="658368"/>
          </a:xfrm>
          <a:prstGeom prst="rect">
            <a:avLst/>
          </a:prstGeom>
          <a:solidFill>
            <a:srgbClr val="FFF0F3"/>
          </a:solidFill>
          <a:ln w="12700">
            <a:solidFill>
              <a:srgbClr val="8F00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576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0024"/>
                </a:solidFill>
              </a:rPr>
              <a:t>Why it matters: </a:t>
            </a:r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</a:rPr>
              <a:t>Critical for robotics where sensors are slow, expensive, or unreliable in the real world.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234440"/>
            <a:ext cx="4160520" cy="36576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Results Summary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691640"/>
            <a:ext cx="192024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7830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0024"/>
                </a:solidFill>
              </a:rPr>
              <a:t>~0.45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54880" y="22585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</a:rPr>
              <a:t>Newt avg. score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</a:rPr>
              <a:t>(200 tasks, 100M steps)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12280" y="1691640"/>
            <a:ext cx="192024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7830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0024"/>
                </a:solidFill>
              </a:rPr>
              <a:t>~0.25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858000" y="22585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</a:rPr>
              <a:t>FastTD3 avg. score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</a:rPr>
              <a:t>(best model-free baseline)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192024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0175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0024"/>
                </a:solidFill>
              </a:rPr>
              <a:t>15×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754880" y="3493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</a:rPr>
              <a:t>Zero-shot advantage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</a:rPr>
              <a:t>over training from scratch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2926080"/>
            <a:ext cx="192024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30175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0024"/>
                </a:solidFill>
              </a:rPr>
              <a:t>20M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858000" y="3493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</a:rPr>
              <a:t>Optimal model size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</a:rPr>
              <a:t>(sweet spot for 200 tasks)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Université d'Ottawa   |   University of Ottawa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0024"/>
                </a:solidFill>
              </a:rPr>
              <a:t>Ablation Study: Every Design Choice Matters (Figure 8)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229600" cy="0"/>
          </a:xfrm>
          <a:prstGeom prst="line">
            <a:avLst/>
          </a:prstGeom>
          <a:noFill/>
          <a:ln w="889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uOttawa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R5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07008"/>
            <a:ext cx="8595360" cy="2606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3858768"/>
            <a:ext cx="2084832" cy="89611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3858768"/>
            <a:ext cx="2084832" cy="274320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" y="385876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Size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9184" y="4151376"/>
            <a:ext cx="1975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1E1E"/>
                </a:solidFill>
              </a:rPr>
              <a:t>20M is the sweet spot. Bigger ≠ always better — 80M gives diminishing returns.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87168" y="3858768"/>
            <a:ext cx="2084832" cy="89611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87168" y="3858768"/>
            <a:ext cx="2084832" cy="274320"/>
          </a:xfrm>
          <a:prstGeom prst="rect">
            <a:avLst/>
          </a:prstGeom>
          <a:solidFill>
            <a:srgbClr val="B5003E"/>
          </a:solidFill>
          <a:ln w="12700">
            <a:solidFill>
              <a:srgbClr val="B5003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42032" y="385876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Batch Size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542032" y="4151376"/>
            <a:ext cx="1975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1E1E"/>
                </a:solidFill>
              </a:rPr>
              <a:t>Larger batches consistently help. 200 tasks need large batches for stable gradients.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00016" y="3858768"/>
            <a:ext cx="2084832" cy="89611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0016" y="3858768"/>
            <a:ext cx="2084832" cy="27432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385876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Language (CLIP)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54880" y="4151376"/>
            <a:ext cx="1975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1E1E"/>
                </a:solidFill>
              </a:rPr>
              <a:t>CLIP &gt;&gt; Task ID &gt;&gt; None. Semantic language understanding generalizes far better.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12864" y="3858768"/>
            <a:ext cx="2084832" cy="89611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12864" y="3858768"/>
            <a:ext cx="2084832" cy="27432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67728" y="385876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Demonstrations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967728" y="4151376"/>
            <a:ext cx="1975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1E1E"/>
                </a:solidFill>
              </a:rPr>
              <a:t>All components compound. Removing any one (demos, pretraining, BC) hurts performance.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858000" y="46908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</a:rPr>
              <a:t>Source: Figure 8 — Hansen et al.,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2026-03-15T23:51:27Z</dcterms:created>
  <dcterms:modified xsi:type="dcterms:W3CDTF">2026-03-15T23:51:27Z</dcterms:modified>
</cp:coreProperties>
</file>