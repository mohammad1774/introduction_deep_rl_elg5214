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356" r:id="rId10"/>
    <p:sldId id="264" r:id="rId11"/>
    <p:sldId id="272" r:id="rId12"/>
    <p:sldId id="265" r:id="rId13"/>
    <p:sldId id="266" r:id="rId14"/>
    <p:sldId id="274" r:id="rId15"/>
    <p:sldId id="275" r:id="rId16"/>
    <p:sldId id="276" r:id="rId17"/>
    <p:sldId id="277" r:id="rId18"/>
    <p:sldId id="278" r:id="rId19"/>
    <p:sldId id="267" r:id="rId20"/>
    <p:sldId id="268" r:id="rId21"/>
    <p:sldId id="269" r:id="rId22"/>
    <p:sldId id="270"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7739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F0A1D-7A5D-D78D-9A01-ED2B3CEEF5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CCCA7F-5839-B43B-98F7-2D93B65A19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1CA118-EDD1-D5FD-5AEA-7A665C592894}"/>
              </a:ext>
            </a:extLst>
          </p:cNvPr>
          <p:cNvSpPr>
            <a:spLocks noGrp="1"/>
          </p:cNvSpPr>
          <p:nvPr>
            <p:ph type="body" idx="1"/>
          </p:nvPr>
        </p:nvSpPr>
        <p:spPr/>
        <p:txBody>
          <a:bodyPr/>
          <a:lstStyle/>
          <a:p>
            <a:r>
              <a:rPr lang="en-CA"/>
              <a:t>“The paper’s setup is massively multitask online RL: one policy trained across many heterogeneous tasks. At this scale, task IDs are not enough because they do not generalize to unseen tasks, so the benchmark uses language instructions. It also provides demonstrations, which the paper frames as a practical way to reduce exploration burden and make this scale of online RL trainable.”</a:t>
            </a:r>
            <a:endParaRPr lang="en-US"/>
          </a:p>
        </p:txBody>
      </p:sp>
      <p:sp>
        <p:nvSpPr>
          <p:cNvPr id="4" name="Slide Number Placeholder 3">
            <a:extLst>
              <a:ext uri="{FF2B5EF4-FFF2-40B4-BE49-F238E27FC236}">
                <a16:creationId xmlns:a16="http://schemas.microsoft.com/office/drawing/2014/main" id="{3FBBD2AB-3FE2-C124-8902-48EAEA38BAFB}"/>
              </a:ext>
            </a:extLst>
          </p:cNvPr>
          <p:cNvSpPr>
            <a:spLocks noGrp="1"/>
          </p:cNvSpPr>
          <p:nvPr>
            <p:ph type="sldNum" sz="quarter" idx="5"/>
          </p:nvPr>
        </p:nvSpPr>
        <p:spPr/>
        <p:txBody>
          <a:bodyPr/>
          <a:lstStyle/>
          <a:p>
            <a:fld id="{0BA96726-B0E5-5C4D-84CE-D53510198312}" type="slidenum">
              <a:rPr lang="en-US" smtClean="0"/>
              <a:pPr/>
              <a:t>9</a:t>
            </a:fld>
            <a:endParaRPr lang="en-US"/>
          </a:p>
        </p:txBody>
      </p:sp>
    </p:spTree>
    <p:extLst>
      <p:ext uri="{BB962C8B-B14F-4D97-AF65-F5344CB8AC3E}">
        <p14:creationId xmlns:p14="http://schemas.microsoft.com/office/powerpoint/2010/main" val="2163553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CC918-3A48-E511-526F-0B7A9067C1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0FAD46-3DBF-83BD-EE2E-FF7940EF07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C3A423-8DBC-41D8-9411-23AF86DF4E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CB429E-3D4B-AA03-1981-1D238A390337}"/>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1520057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10" name="Title 1"/>
          <p:cNvSpPr>
            <a:spLocks noGrp="1"/>
          </p:cNvSpPr>
          <p:nvPr>
            <p:ph type="title"/>
          </p:nvPr>
        </p:nvSpPr>
        <p:spPr>
          <a:xfrm>
            <a:off x="412750" y="519522"/>
            <a:ext cx="7774632" cy="648072"/>
          </a:xfrm>
        </p:spPr>
        <p:txBody>
          <a:bodyPr/>
          <a:lstStyle/>
          <a:p>
            <a:endParaRPr lang="en-US" b="1"/>
          </a:p>
        </p:txBody>
      </p:sp>
      <p:sp>
        <p:nvSpPr>
          <p:cNvPr id="11" name="Content Placeholder 2"/>
          <p:cNvSpPr>
            <a:spLocks noGrp="1"/>
          </p:cNvSpPr>
          <p:nvPr>
            <p:ph idx="1"/>
          </p:nvPr>
        </p:nvSpPr>
        <p:spPr>
          <a:xfrm>
            <a:off x="395536" y="1275606"/>
            <a:ext cx="7772400" cy="2815158"/>
          </a:xfrm>
        </p:spPr>
        <p:txBody>
          <a:bodyPr/>
          <a:lstStyle/>
          <a:p>
            <a:endParaRPr lang="en-US"/>
          </a:p>
        </p:txBody>
      </p:sp>
      <p:pic>
        <p:nvPicPr>
          <p:cNvPr id="8" name="Picture 7"/>
          <p:cNvPicPr>
            <a:picLocks noChangeAspect="1"/>
          </p:cNvPicPr>
          <p:nvPr userDrawn="1"/>
        </p:nvPicPr>
        <p:blipFill>
          <a:blip r:embed="rId2"/>
          <a:stretch>
            <a:fillRect/>
          </a:stretch>
        </p:blipFill>
        <p:spPr>
          <a:xfrm>
            <a:off x="-14941" y="4989124"/>
            <a:ext cx="9166412" cy="159980"/>
          </a:xfrm>
          <a:prstGeom prst="rect">
            <a:avLst/>
          </a:prstGeom>
        </p:spPr>
      </p:pic>
      <p:sp>
        <p:nvSpPr>
          <p:cNvPr id="9" name="Rectangle 8"/>
          <p:cNvSpPr/>
          <p:nvPr userDrawn="1"/>
        </p:nvSpPr>
        <p:spPr bwMode="auto">
          <a:xfrm>
            <a:off x="-6643" y="4326161"/>
            <a:ext cx="9150643" cy="665033"/>
          </a:xfrm>
          <a:prstGeom prst="rect">
            <a:avLst/>
          </a:prstGeom>
          <a:solidFill>
            <a:schemeClr val="bg1"/>
          </a:solidFill>
          <a:ln>
            <a:noFill/>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vert="horz" wrap="square" lIns="68580" tIns="34290" rIns="68580" bIns="34290" numCol="1" rtlCol="0" anchor="t" anchorCtr="0" compatLnSpc="1">
            <a:prstTxWarp prst="textNoShape">
              <a:avLst/>
            </a:prstTxWarp>
          </a:bodyPr>
          <a:lstStyle/>
          <a:p>
            <a:pPr marL="0" marR="0" indent="0" algn="r" defTabSz="6858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Times" pitchFamily="-110" charset="0"/>
              </a:rPr>
              <a:t> </a:t>
            </a:r>
          </a:p>
        </p:txBody>
      </p:sp>
      <p:pic>
        <p:nvPicPr>
          <p:cNvPr id="14" name="Picture 13" descr="top.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1399"/>
            <a:ext cx="9144002" cy="288229"/>
          </a:xfrm>
          <a:prstGeom prst="rect">
            <a:avLst/>
          </a:prstGeom>
        </p:spPr>
      </p:pic>
      <p:pic>
        <p:nvPicPr>
          <p:cNvPr id="16" name="Picture 15" descr="uOttawa_HOR_WG7.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09367" y="4460876"/>
            <a:ext cx="1697566" cy="340530"/>
          </a:xfrm>
          <a:prstGeom prst="rect">
            <a:avLst/>
          </a:prstGeom>
        </p:spPr>
      </p:pic>
      <p:sp>
        <p:nvSpPr>
          <p:cNvPr id="3" name="TextBox 2">
            <a:extLst>
              <a:ext uri="{FF2B5EF4-FFF2-40B4-BE49-F238E27FC236}">
                <a16:creationId xmlns:a16="http://schemas.microsoft.com/office/drawing/2014/main" id="{4FE47AB8-FF3F-A065-B38E-AB3A51C53E9B}"/>
              </a:ext>
            </a:extLst>
          </p:cNvPr>
          <p:cNvSpPr txBox="1"/>
          <p:nvPr userDrawn="1"/>
        </p:nvSpPr>
        <p:spPr>
          <a:xfrm>
            <a:off x="4314825" y="4765417"/>
            <a:ext cx="514350" cy="207749"/>
          </a:xfrm>
          <a:prstGeom prst="rect">
            <a:avLst/>
          </a:prstGeom>
          <a:noFill/>
        </p:spPr>
        <p:txBody>
          <a:bodyPr wrap="square" rtlCol="0">
            <a:spAutoFit/>
          </a:bodyPr>
          <a:lstStyle/>
          <a:p>
            <a:pPr algn="ctr"/>
            <a:fld id="{F0B1AAE9-9813-2248-B2A8-96C88B254205}" type="slidenum">
              <a:rPr lang="en-US" sz="750" smtClean="0">
                <a:solidFill>
                  <a:schemeClr val="bg2"/>
                </a:solidFill>
                <a:latin typeface="Arial;"/>
                <a:cs typeface="Arial;"/>
              </a:rPr>
              <a:pPr algn="ctr"/>
              <a:t>‹#›</a:t>
            </a:fld>
            <a:endParaRPr lang="en-US" sz="750">
              <a:solidFill>
                <a:schemeClr val="bg2"/>
              </a:solidFill>
              <a:latin typeface="Arial;"/>
              <a:cs typeface="Arial;"/>
            </a:endParaRPr>
          </a:p>
        </p:txBody>
      </p:sp>
    </p:spTree>
    <p:extLst>
      <p:ext uri="{BB962C8B-B14F-4D97-AF65-F5344CB8AC3E}">
        <p14:creationId xmlns:p14="http://schemas.microsoft.com/office/powerpoint/2010/main" val="10497523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FFFFFF"/>
          </a:solidFill>
          <a:ln w="12700">
            <a:solidFill>
              <a:srgbClr val="FFFFFF"/>
            </a:solidFill>
            <a:prstDash val="solid"/>
          </a:ln>
        </p:spPr>
        <p:txBody>
          <a:bodyPr/>
          <a:lstStyle/>
          <a:p>
            <a:endParaRPr lang="en-CA"/>
          </a:p>
        </p:txBody>
      </p:sp>
      <p:sp>
        <p:nvSpPr>
          <p:cNvPr id="3" name="Text 1"/>
          <p:cNvSpPr/>
          <p:nvPr/>
        </p:nvSpPr>
        <p:spPr>
          <a:xfrm>
            <a:off x="164592" y="0"/>
            <a:ext cx="5486400" cy="411480"/>
          </a:xfrm>
          <a:prstGeom prst="rect">
            <a:avLst/>
          </a:prstGeom>
          <a:noFill/>
          <a:ln/>
        </p:spPr>
        <p:txBody>
          <a:bodyPr wrap="square" lIns="0" tIns="0" rIns="0" bIns="0" rtlCol="0" anchor="ctr"/>
          <a:lstStyle/>
          <a:p>
            <a:pPr marL="0" indent="0">
              <a:buNone/>
            </a:pPr>
            <a:r>
              <a:rPr lang="en-US" sz="900" dirty="0">
                <a:solidFill>
                  <a:srgbClr val="1E1E1E"/>
                </a:solidFill>
              </a:rPr>
              <a:t>Université d'Ottawa   |   University of Ottawa</a:t>
            </a:r>
            <a:endParaRPr lang="en-US" sz="900" dirty="0"/>
          </a:p>
        </p:txBody>
      </p:sp>
      <p:sp>
        <p:nvSpPr>
          <p:cNvPr id="4" name="Shape 2"/>
          <p:cNvSpPr/>
          <p:nvPr/>
        </p:nvSpPr>
        <p:spPr>
          <a:xfrm>
            <a:off x="8138160" y="411480"/>
            <a:ext cx="256032" cy="2103120"/>
          </a:xfrm>
          <a:prstGeom prst="rect">
            <a:avLst/>
          </a:prstGeom>
          <a:solidFill>
            <a:srgbClr val="8F0024"/>
          </a:solidFill>
          <a:ln w="12700">
            <a:solidFill>
              <a:srgbClr val="8F0024"/>
            </a:solidFill>
            <a:prstDash val="solid"/>
          </a:ln>
        </p:spPr>
        <p:txBody>
          <a:bodyPr/>
          <a:lstStyle/>
          <a:p>
            <a:endParaRPr lang="en-CA"/>
          </a:p>
        </p:txBody>
      </p:sp>
      <p:sp>
        <p:nvSpPr>
          <p:cNvPr id="5" name="Shape 3"/>
          <p:cNvSpPr/>
          <p:nvPr/>
        </p:nvSpPr>
        <p:spPr>
          <a:xfrm>
            <a:off x="8458200" y="411480"/>
            <a:ext cx="685800" cy="2103120"/>
          </a:xfrm>
          <a:prstGeom prst="rect">
            <a:avLst/>
          </a:prstGeom>
          <a:solidFill>
            <a:srgbClr val="B5003E"/>
          </a:solidFill>
          <a:ln w="12700">
            <a:solidFill>
              <a:srgbClr val="B5003E"/>
            </a:solidFill>
            <a:prstDash val="solid"/>
          </a:ln>
        </p:spPr>
        <p:txBody>
          <a:bodyPr/>
          <a:lstStyle/>
          <a:p>
            <a:endParaRPr lang="en-CA"/>
          </a:p>
        </p:txBody>
      </p:sp>
      <p:sp>
        <p:nvSpPr>
          <p:cNvPr id="6" name="Shape 4"/>
          <p:cNvSpPr/>
          <p:nvPr/>
        </p:nvSpPr>
        <p:spPr>
          <a:xfrm>
            <a:off x="0" y="1554480"/>
            <a:ext cx="8046720" cy="1691640"/>
          </a:xfrm>
          <a:prstGeom prst="rect">
            <a:avLst/>
          </a:prstGeom>
          <a:solidFill>
            <a:srgbClr val="D6D1CC"/>
          </a:solidFill>
          <a:ln w="12700">
            <a:solidFill>
              <a:srgbClr val="D6D1CC"/>
            </a:solidFill>
            <a:prstDash val="solid"/>
          </a:ln>
        </p:spPr>
        <p:txBody>
          <a:bodyPr/>
          <a:lstStyle/>
          <a:p>
            <a:endParaRPr lang="en-CA"/>
          </a:p>
        </p:txBody>
      </p:sp>
      <p:sp>
        <p:nvSpPr>
          <p:cNvPr id="7" name="Text 5"/>
          <p:cNvSpPr/>
          <p:nvPr/>
        </p:nvSpPr>
        <p:spPr>
          <a:xfrm>
            <a:off x="347472" y="1572768"/>
            <a:ext cx="7589520" cy="1645920"/>
          </a:xfrm>
          <a:prstGeom prst="rect">
            <a:avLst/>
          </a:prstGeom>
          <a:noFill/>
          <a:ln/>
        </p:spPr>
        <p:txBody>
          <a:bodyPr wrap="square" lIns="0" tIns="0" rIns="0" bIns="0" rtlCol="0" anchor="ctr"/>
          <a:lstStyle/>
          <a:p>
            <a:pPr marL="0" indent="0">
              <a:buNone/>
            </a:pPr>
            <a:r>
              <a:rPr lang="en-US" sz="2600" b="1" dirty="0">
                <a:solidFill>
                  <a:srgbClr val="1E1E1E"/>
                </a:solidFill>
              </a:rPr>
              <a:t>Learning Massively Multitask</a:t>
            </a:r>
            <a:endParaRPr lang="en-US" sz="2600" dirty="0"/>
          </a:p>
          <a:p>
            <a:pPr marL="0" indent="0">
              <a:buNone/>
            </a:pPr>
            <a:r>
              <a:rPr lang="en-US" sz="2600" b="1" dirty="0">
                <a:solidFill>
                  <a:srgbClr val="1E1E1E"/>
                </a:solidFill>
              </a:rPr>
              <a:t>World Models for Continuous Control</a:t>
            </a:r>
            <a:endParaRPr lang="en-US" sz="2600" dirty="0"/>
          </a:p>
        </p:txBody>
      </p:sp>
      <p:sp>
        <p:nvSpPr>
          <p:cNvPr id="8" name="Text 6"/>
          <p:cNvSpPr/>
          <p:nvPr/>
        </p:nvSpPr>
        <p:spPr>
          <a:xfrm>
            <a:off x="365760" y="2880360"/>
            <a:ext cx="7315200" cy="365760"/>
          </a:xfrm>
          <a:prstGeom prst="rect">
            <a:avLst/>
          </a:prstGeom>
          <a:noFill/>
          <a:ln/>
        </p:spPr>
        <p:txBody>
          <a:bodyPr wrap="square" lIns="0" tIns="0" rIns="0" bIns="0" rtlCol="0" anchor="ctr"/>
          <a:lstStyle/>
          <a:p>
            <a:pPr marL="0" indent="0">
              <a:buNone/>
            </a:pPr>
            <a:r>
              <a:rPr lang="en-US" sz="1400" dirty="0">
                <a:solidFill>
                  <a:srgbClr val="3D3D3D"/>
                </a:solidFill>
              </a:rPr>
              <a:t>By Nicklas Hansen, Hao Su, Xiaolong Wang</a:t>
            </a:r>
            <a:endParaRPr lang="en-US" sz="1400" dirty="0"/>
          </a:p>
        </p:txBody>
      </p:sp>
      <p:sp>
        <p:nvSpPr>
          <p:cNvPr id="9" name="Text 7"/>
          <p:cNvSpPr/>
          <p:nvPr/>
        </p:nvSpPr>
        <p:spPr>
          <a:xfrm>
            <a:off x="347472" y="4114800"/>
            <a:ext cx="7315200" cy="640080"/>
          </a:xfrm>
          <a:prstGeom prst="rect">
            <a:avLst/>
          </a:prstGeom>
          <a:noFill/>
          <a:ln/>
        </p:spPr>
        <p:txBody>
          <a:bodyPr wrap="square" lIns="0" tIns="0" rIns="0" bIns="0" rtlCol="0" anchor="ctr"/>
          <a:lstStyle/>
          <a:p>
            <a:pPr marL="0" indent="0">
              <a:buNone/>
            </a:pPr>
            <a:r>
              <a:rPr lang="en-US" sz="1200" dirty="0">
                <a:solidFill>
                  <a:srgbClr val="6B6B6B"/>
                </a:solidFill>
              </a:rPr>
              <a:t>Presented by: Mariana Chávez Flores, Mohammad</a:t>
            </a:r>
            <a:endParaRPr lang="en-US" sz="1200" dirty="0"/>
          </a:p>
          <a:p>
            <a:pPr marL="0" indent="0">
              <a:buNone/>
            </a:pPr>
            <a:r>
              <a:rPr lang="en-US" sz="1200" dirty="0">
                <a:solidFill>
                  <a:srgbClr val="6B6B6B"/>
                </a:solidFill>
              </a:rPr>
              <a:t>CSI5340-F00 / ELG 5214-F00   ·   ICLR 2026</a:t>
            </a:r>
            <a:endParaRPr lang="en-US" sz="1200" dirty="0"/>
          </a:p>
        </p:txBody>
      </p:sp>
      <p:sp>
        <p:nvSpPr>
          <p:cNvPr id="10" name="Text 8"/>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rPr>
              <a:t>uOttawa</a:t>
            </a:r>
            <a:endParaRPr lang="en-US" sz="1300" dirty="0"/>
          </a:p>
        </p:txBody>
      </p:sp>
      <p:sp>
        <p:nvSpPr>
          <p:cNvPr id="11" name="Text 9"/>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B6B6B"/>
                </a:solidFill>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FFFFFF"/>
          </a:solidFill>
          <a:ln w="12700">
            <a:solidFill>
              <a:srgbClr val="FFFFFF"/>
            </a:solidFill>
            <a:prstDash val="solid"/>
          </a:ln>
        </p:spPr>
        <p:txBody>
          <a:bodyPr/>
          <a:lstStyle/>
          <a:p>
            <a:endParaRPr lang="en-CA"/>
          </a:p>
        </p:txBody>
      </p:sp>
      <p:sp>
        <p:nvSpPr>
          <p:cNvPr id="3" name="Text 1"/>
          <p:cNvSpPr/>
          <p:nvPr/>
        </p:nvSpPr>
        <p:spPr>
          <a:xfrm>
            <a:off x="164592" y="0"/>
            <a:ext cx="5486400" cy="411480"/>
          </a:xfrm>
          <a:prstGeom prst="rect">
            <a:avLst/>
          </a:prstGeom>
          <a:noFill/>
          <a:ln/>
        </p:spPr>
        <p:txBody>
          <a:bodyPr wrap="square" lIns="0" tIns="0" rIns="0" bIns="0" rtlCol="0" anchor="ctr"/>
          <a:lstStyle/>
          <a:p>
            <a:pPr marL="0" indent="0">
              <a:buNone/>
            </a:pPr>
            <a:r>
              <a:rPr lang="en-US" sz="900" dirty="0">
                <a:solidFill>
                  <a:srgbClr val="1E1E1E"/>
                </a:solidFill>
              </a:rPr>
              <a:t>Université d'Ottawa   |   University of Ottawa</a:t>
            </a:r>
            <a:endParaRPr lang="en-US" sz="900" dirty="0"/>
          </a:p>
        </p:txBody>
      </p:sp>
      <p:sp>
        <p:nvSpPr>
          <p:cNvPr id="4" name="Text 2"/>
          <p:cNvSpPr/>
          <p:nvPr/>
        </p:nvSpPr>
        <p:spPr>
          <a:xfrm>
            <a:off x="347472" y="566928"/>
            <a:ext cx="7589520" cy="502920"/>
          </a:xfrm>
          <a:prstGeom prst="rect">
            <a:avLst/>
          </a:prstGeom>
          <a:noFill/>
          <a:ln/>
        </p:spPr>
        <p:txBody>
          <a:bodyPr wrap="square" lIns="0" tIns="0" rIns="0" bIns="0" rtlCol="0" anchor="ctr"/>
          <a:lstStyle/>
          <a:p>
            <a:pPr marL="0" indent="0">
              <a:buNone/>
            </a:pPr>
            <a:r>
              <a:rPr lang="en-US" sz="2600" b="1" dirty="0">
                <a:solidFill>
                  <a:srgbClr val="8F0024"/>
                </a:solidFill>
              </a:rPr>
              <a:t>The Big Picture</a:t>
            </a:r>
            <a:endParaRPr lang="en-US" sz="2600" dirty="0"/>
          </a:p>
        </p:txBody>
      </p:sp>
      <p:sp>
        <p:nvSpPr>
          <p:cNvPr id="5" name="Shape 3"/>
          <p:cNvSpPr/>
          <p:nvPr/>
        </p:nvSpPr>
        <p:spPr>
          <a:xfrm>
            <a:off x="347472" y="1115568"/>
            <a:ext cx="8229600" cy="0"/>
          </a:xfrm>
          <a:prstGeom prst="line">
            <a:avLst/>
          </a:prstGeom>
          <a:noFill/>
          <a:ln w="8890">
            <a:solidFill>
              <a:srgbClr val="CCCCCC"/>
            </a:solidFill>
            <a:prstDash val="solid"/>
          </a:ln>
        </p:spPr>
        <p:txBody>
          <a:bodyPr/>
          <a:lstStyle/>
          <a:p>
            <a:endParaRPr lang="en-CA"/>
          </a:p>
        </p:txBody>
      </p:sp>
      <p:sp>
        <p:nvSpPr>
          <p:cNvPr id="6" name="Text 4"/>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rPr>
              <a:t>uOttawa</a:t>
            </a:r>
            <a:endParaRPr lang="en-US" sz="1300" dirty="0"/>
          </a:p>
        </p:txBody>
      </p:sp>
      <p:sp>
        <p:nvSpPr>
          <p:cNvPr id="7" name="Text 5"/>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B6B6B"/>
                </a:solidFill>
              </a:rPr>
              <a:t>2</a:t>
            </a:r>
            <a:endParaRPr lang="en-US" sz="900" dirty="0"/>
          </a:p>
        </p:txBody>
      </p:sp>
      <p:sp>
        <p:nvSpPr>
          <p:cNvPr id="8" name="Shape 6"/>
          <p:cNvSpPr/>
          <p:nvPr/>
        </p:nvSpPr>
        <p:spPr>
          <a:xfrm>
            <a:off x="1097280" y="1325880"/>
            <a:ext cx="6949440" cy="2560320"/>
          </a:xfrm>
          <a:prstGeom prst="roundRect">
            <a:avLst>
              <a:gd name="adj" fmla="val 5357"/>
            </a:avLst>
          </a:prstGeom>
          <a:solidFill>
            <a:srgbClr val="F4F4F4"/>
          </a:solidFill>
          <a:ln w="19050">
            <a:solidFill>
              <a:srgbClr val="CCCCCC"/>
            </a:solidFill>
            <a:prstDash val="solid"/>
          </a:ln>
        </p:spPr>
        <p:txBody>
          <a:bodyPr/>
          <a:lstStyle/>
          <a:p>
            <a:endParaRPr lang="en-CA"/>
          </a:p>
        </p:txBody>
      </p:sp>
      <p:sp>
        <p:nvSpPr>
          <p:cNvPr id="9" name="Text 7"/>
          <p:cNvSpPr/>
          <p:nvPr/>
        </p:nvSpPr>
        <p:spPr>
          <a:xfrm>
            <a:off x="1280160" y="1463040"/>
            <a:ext cx="6583680" cy="2286000"/>
          </a:xfrm>
          <a:prstGeom prst="rect">
            <a:avLst/>
          </a:prstGeom>
          <a:noFill/>
          <a:ln/>
        </p:spPr>
        <p:txBody>
          <a:bodyPr wrap="square" rtlCol="0" anchor="ctr"/>
          <a:lstStyle/>
          <a:p>
            <a:pPr marL="0" indent="0" algn="ctr">
              <a:lnSpc>
                <a:spcPct val="140000"/>
              </a:lnSpc>
              <a:buNone/>
            </a:pPr>
            <a:r>
              <a:rPr lang="en-US" sz="1800" dirty="0">
                <a:solidFill>
                  <a:srgbClr val="1E1E1E"/>
                </a:solidFill>
              </a:rPr>
              <a:t>Online RL can scale to hundreds of continuous-control tasks</a:t>
            </a:r>
            <a:endParaRPr lang="en-US" sz="1800" dirty="0"/>
          </a:p>
          <a:p>
            <a:pPr marL="0" indent="0" algn="ctr">
              <a:lnSpc>
                <a:spcPct val="140000"/>
              </a:lnSpc>
              <a:buNone/>
            </a:pPr>
            <a:r>
              <a:rPr lang="en-US" sz="1800" dirty="0">
                <a:solidFill>
                  <a:srgbClr val="1E1E1E"/>
                </a:solidFill>
              </a:rPr>
              <a:t>when combined with a massively multitask benchmark,</a:t>
            </a:r>
            <a:endParaRPr lang="en-US" sz="1800" dirty="0"/>
          </a:p>
          <a:p>
            <a:pPr marL="0" indent="0" algn="ctr">
              <a:lnSpc>
                <a:spcPct val="140000"/>
              </a:lnSpc>
              <a:buNone/>
            </a:pPr>
            <a:r>
              <a:rPr lang="en-US" sz="1800" dirty="0">
                <a:solidFill>
                  <a:srgbClr val="1E1E1E"/>
                </a:solidFill>
              </a:rPr>
              <a:t>a language-conditioned world model,</a:t>
            </a:r>
            <a:endParaRPr lang="en-US" sz="1800" dirty="0"/>
          </a:p>
          <a:p>
            <a:pPr marL="0" indent="0" algn="ctr">
              <a:lnSpc>
                <a:spcPct val="140000"/>
              </a:lnSpc>
              <a:buNone/>
            </a:pPr>
            <a:r>
              <a:rPr lang="en-US" sz="1800" dirty="0">
                <a:solidFill>
                  <a:srgbClr val="1E1E1E"/>
                </a:solidFill>
              </a:rPr>
              <a:t>and demonstration-based pretraining.</a:t>
            </a:r>
            <a:endParaRPr lang="en-US" sz="1800" dirty="0"/>
          </a:p>
        </p:txBody>
      </p:sp>
      <p:sp>
        <p:nvSpPr>
          <p:cNvPr id="10" name="Text 8"/>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rPr>
              <a:t>uOttawa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FFFFFF"/>
          </a:solidFill>
          <a:ln w="12700">
            <a:solidFill>
              <a:srgbClr val="FFFFFF"/>
            </a:solidFill>
            <a:prstDash val="solid"/>
          </a:ln>
        </p:spPr>
        <p:txBody>
          <a:bodyPr/>
          <a:lstStyle/>
          <a:p>
            <a:endParaRPr lang="en-CA"/>
          </a:p>
        </p:txBody>
      </p:sp>
      <p:sp>
        <p:nvSpPr>
          <p:cNvPr id="3" name="Text 1"/>
          <p:cNvSpPr/>
          <p:nvPr/>
        </p:nvSpPr>
        <p:spPr>
          <a:xfrm>
            <a:off x="164592" y="0"/>
            <a:ext cx="5486400" cy="411480"/>
          </a:xfrm>
          <a:prstGeom prst="rect">
            <a:avLst/>
          </a:prstGeom>
          <a:noFill/>
          <a:ln/>
        </p:spPr>
        <p:txBody>
          <a:bodyPr wrap="square" lIns="0" tIns="0" rIns="0" bIns="0" rtlCol="0" anchor="ctr"/>
          <a:lstStyle/>
          <a:p>
            <a:pPr marL="0" indent="0">
              <a:buNone/>
            </a:pPr>
            <a:r>
              <a:rPr lang="en-US" sz="900" dirty="0">
                <a:solidFill>
                  <a:srgbClr val="1E1E1E"/>
                </a:solidFill>
              </a:rPr>
              <a:t>Université d'Ottawa   |   University of Ottawa</a:t>
            </a:r>
            <a:endParaRPr lang="en-US" sz="900" dirty="0"/>
          </a:p>
        </p:txBody>
      </p:sp>
      <p:sp>
        <p:nvSpPr>
          <p:cNvPr id="4" name="Text 2"/>
          <p:cNvSpPr/>
          <p:nvPr/>
        </p:nvSpPr>
        <p:spPr>
          <a:xfrm>
            <a:off x="347472" y="566928"/>
            <a:ext cx="7589520" cy="502920"/>
          </a:xfrm>
          <a:prstGeom prst="rect">
            <a:avLst/>
          </a:prstGeom>
          <a:noFill/>
          <a:ln/>
        </p:spPr>
        <p:txBody>
          <a:bodyPr wrap="square" lIns="0" tIns="0" rIns="0" bIns="0" rtlCol="0" anchor="ctr"/>
          <a:lstStyle/>
          <a:p>
            <a:pPr marL="0" indent="0">
              <a:buNone/>
            </a:pPr>
            <a:r>
              <a:rPr lang="en-US" sz="2600" b="1" dirty="0">
                <a:solidFill>
                  <a:srgbClr val="8F0024"/>
                </a:solidFill>
              </a:rPr>
              <a:t>Motivation</a:t>
            </a:r>
            <a:endParaRPr lang="en-US" sz="2600" dirty="0"/>
          </a:p>
        </p:txBody>
      </p:sp>
      <p:sp>
        <p:nvSpPr>
          <p:cNvPr id="5" name="Shape 3"/>
          <p:cNvSpPr/>
          <p:nvPr/>
        </p:nvSpPr>
        <p:spPr>
          <a:xfrm>
            <a:off x="347472" y="1115568"/>
            <a:ext cx="8229600" cy="0"/>
          </a:xfrm>
          <a:prstGeom prst="line">
            <a:avLst/>
          </a:prstGeom>
          <a:noFill/>
          <a:ln w="8890">
            <a:solidFill>
              <a:srgbClr val="CCCCCC"/>
            </a:solidFill>
            <a:prstDash val="solid"/>
          </a:ln>
        </p:spPr>
        <p:txBody>
          <a:bodyPr/>
          <a:lstStyle/>
          <a:p>
            <a:endParaRPr lang="en-CA"/>
          </a:p>
        </p:txBody>
      </p:sp>
      <p:sp>
        <p:nvSpPr>
          <p:cNvPr id="6" name="Text 4"/>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rPr>
              <a:t>uOttawa</a:t>
            </a:r>
            <a:endParaRPr lang="en-US" sz="1300" dirty="0"/>
          </a:p>
        </p:txBody>
      </p:sp>
      <p:sp>
        <p:nvSpPr>
          <p:cNvPr id="7" name="Text 5"/>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B6B6B"/>
                </a:solidFill>
              </a:rPr>
              <a:t>3</a:t>
            </a:r>
            <a:endParaRPr lang="en-US" sz="900" dirty="0"/>
          </a:p>
        </p:txBody>
      </p:sp>
      <p:sp>
        <p:nvSpPr>
          <p:cNvPr id="8" name="Text 6"/>
          <p:cNvSpPr/>
          <p:nvPr/>
        </p:nvSpPr>
        <p:spPr>
          <a:xfrm>
            <a:off x="457200" y="1261872"/>
            <a:ext cx="5029200" cy="3474720"/>
          </a:xfrm>
          <a:prstGeom prst="rect">
            <a:avLst/>
          </a:prstGeom>
          <a:noFill/>
          <a:ln/>
        </p:spPr>
        <p:txBody>
          <a:bodyPr wrap="square" rtlCol="0" anchor="t"/>
          <a:lstStyle/>
          <a:p>
            <a:pPr marL="342900" indent="-342900">
              <a:spcAft>
                <a:spcPts val="600"/>
              </a:spcAft>
              <a:buSzPct val="100000"/>
              <a:buChar char="•"/>
            </a:pPr>
            <a:r>
              <a:rPr lang="en-US" sz="1500" b="1" dirty="0">
                <a:solidFill>
                  <a:srgbClr val="1E1E1E"/>
                </a:solidFill>
              </a:rPr>
              <a:t>Can one agent be trained online across hundreds of tasks?</a:t>
            </a:r>
            <a:endParaRPr lang="en-US" sz="1500" dirty="0"/>
          </a:p>
          <a:p>
            <a:pPr marL="0" indent="0">
              <a:spcAft>
                <a:spcPts val="600"/>
              </a:spcAft>
              <a:buNone/>
            </a:pPr>
            <a:r>
              <a:rPr lang="en-US" sz="1500" dirty="0">
                <a:solidFill>
                  <a:srgbClr val="1E1E1E"/>
                </a:solidFill>
              </a:rPr>
              <a:t> </a:t>
            </a:r>
            <a:endParaRPr lang="en-US" sz="1500" dirty="0"/>
          </a:p>
          <a:p>
            <a:pPr marL="342900" indent="-342900">
              <a:spcAft>
                <a:spcPts val="600"/>
              </a:spcAft>
              <a:buSzPct val="100000"/>
              <a:buChar char="•"/>
            </a:pPr>
            <a:r>
              <a:rPr lang="en-US" sz="1500" dirty="0">
                <a:solidFill>
                  <a:srgbClr val="1E1E1E"/>
                </a:solidFill>
              </a:rPr>
              <a:t>Continuous-control RL is still mostly single-task or offline</a:t>
            </a:r>
            <a:endParaRPr lang="en-US" sz="1500" dirty="0"/>
          </a:p>
          <a:p>
            <a:pPr marL="342900" indent="-342900">
              <a:spcAft>
                <a:spcPts val="600"/>
              </a:spcAft>
              <a:buSzPct val="100000"/>
              <a:buChar char="•"/>
            </a:pPr>
            <a:r>
              <a:rPr lang="en-US" sz="1500" dirty="0">
                <a:solidFill>
                  <a:srgbClr val="1E1E1E"/>
                </a:solidFill>
              </a:rPr>
              <a:t>Foundation model recipe (pretrain → RL) works for games &amp; reasoning — why not control?</a:t>
            </a:r>
            <a:endParaRPr lang="en-US" sz="1500" dirty="0"/>
          </a:p>
          <a:p>
            <a:pPr marL="342900" indent="-342900">
              <a:spcAft>
                <a:spcPts val="600"/>
              </a:spcAft>
              <a:buSzPct val="100000"/>
              <a:buChar char="•"/>
            </a:pPr>
            <a:r>
              <a:rPr lang="en-US" sz="1500" dirty="0">
                <a:solidFill>
                  <a:srgbClr val="1E1E1E"/>
                </a:solidFill>
              </a:rPr>
              <a:t>Imitation-heavy scaling is limited by data quantity &amp; demonstration quality</a:t>
            </a:r>
            <a:endParaRPr lang="en-US" sz="1500" dirty="0"/>
          </a:p>
          <a:p>
            <a:pPr marL="342900" indent="-342900">
              <a:spcAft>
                <a:spcPts val="600"/>
              </a:spcAft>
              <a:buSzPct val="100000"/>
              <a:buChar char="•"/>
            </a:pPr>
            <a:r>
              <a:rPr lang="en-US" sz="1500" dirty="0">
                <a:solidFill>
                  <a:srgbClr val="1E1E1E"/>
                </a:solidFill>
              </a:rPr>
              <a:t>No benchmark for massively multitask online RL existed</a:t>
            </a:r>
            <a:endParaRPr lang="en-US" sz="1500" dirty="0"/>
          </a:p>
        </p:txBody>
      </p:sp>
      <p:sp>
        <p:nvSpPr>
          <p:cNvPr id="9" name="Shape 7"/>
          <p:cNvSpPr/>
          <p:nvPr/>
        </p:nvSpPr>
        <p:spPr>
          <a:xfrm>
            <a:off x="5760720" y="1261872"/>
            <a:ext cx="3017520" cy="3474720"/>
          </a:xfrm>
          <a:prstGeom prst="rect">
            <a:avLst/>
          </a:prstGeom>
          <a:solidFill>
            <a:srgbClr val="F4F4F4"/>
          </a:solidFill>
          <a:ln w="12700">
            <a:solidFill>
              <a:srgbClr val="DDDDDD"/>
            </a:solidFill>
            <a:prstDash val="solid"/>
          </a:ln>
        </p:spPr>
        <p:txBody>
          <a:bodyPr/>
          <a:lstStyle/>
          <a:p>
            <a:endParaRPr lang="en-CA"/>
          </a:p>
        </p:txBody>
      </p:sp>
      <p:sp>
        <p:nvSpPr>
          <p:cNvPr id="10" name="Shape 8"/>
          <p:cNvSpPr/>
          <p:nvPr/>
        </p:nvSpPr>
        <p:spPr>
          <a:xfrm>
            <a:off x="5989320" y="1508760"/>
            <a:ext cx="2560320" cy="566928"/>
          </a:xfrm>
          <a:prstGeom prst="rect">
            <a:avLst/>
          </a:prstGeom>
          <a:solidFill>
            <a:srgbClr val="6B6B6B"/>
          </a:solidFill>
          <a:ln w="12700">
            <a:solidFill>
              <a:srgbClr val="6B6B6B"/>
            </a:solidFill>
            <a:prstDash val="solid"/>
          </a:ln>
        </p:spPr>
        <p:txBody>
          <a:bodyPr/>
          <a:lstStyle/>
          <a:p>
            <a:endParaRPr lang="en-CA"/>
          </a:p>
        </p:txBody>
      </p:sp>
      <p:sp>
        <p:nvSpPr>
          <p:cNvPr id="11" name="Text 9"/>
          <p:cNvSpPr/>
          <p:nvPr/>
        </p:nvSpPr>
        <p:spPr>
          <a:xfrm>
            <a:off x="5989320" y="1508760"/>
            <a:ext cx="2560320" cy="566928"/>
          </a:xfrm>
          <a:prstGeom prst="rect">
            <a:avLst/>
          </a:prstGeom>
          <a:noFill/>
          <a:ln/>
        </p:spPr>
        <p:txBody>
          <a:bodyPr wrap="square" rtlCol="0" anchor="ctr"/>
          <a:lstStyle/>
          <a:p>
            <a:pPr marL="0" indent="0" algn="ctr">
              <a:buNone/>
            </a:pPr>
            <a:r>
              <a:rPr lang="en-US" sz="1200" b="1" dirty="0">
                <a:solidFill>
                  <a:srgbClr val="FFFFFF"/>
                </a:solidFill>
              </a:rPr>
              <a:t>Single-task RL</a:t>
            </a:r>
            <a:endParaRPr lang="en-US" sz="1200" dirty="0"/>
          </a:p>
        </p:txBody>
      </p:sp>
      <p:sp>
        <p:nvSpPr>
          <p:cNvPr id="12" name="Shape 10"/>
          <p:cNvSpPr/>
          <p:nvPr/>
        </p:nvSpPr>
        <p:spPr>
          <a:xfrm>
            <a:off x="5989320" y="2423160"/>
            <a:ext cx="2560320" cy="566928"/>
          </a:xfrm>
          <a:prstGeom prst="rect">
            <a:avLst/>
          </a:prstGeom>
          <a:solidFill>
            <a:srgbClr val="B5003E"/>
          </a:solidFill>
          <a:ln w="12700">
            <a:solidFill>
              <a:srgbClr val="B5003E"/>
            </a:solidFill>
            <a:prstDash val="solid"/>
          </a:ln>
        </p:spPr>
        <p:txBody>
          <a:bodyPr/>
          <a:lstStyle/>
          <a:p>
            <a:endParaRPr lang="en-CA"/>
          </a:p>
        </p:txBody>
      </p:sp>
      <p:sp>
        <p:nvSpPr>
          <p:cNvPr id="13" name="Text 11"/>
          <p:cNvSpPr/>
          <p:nvPr/>
        </p:nvSpPr>
        <p:spPr>
          <a:xfrm>
            <a:off x="5989320" y="2423160"/>
            <a:ext cx="2560320" cy="566928"/>
          </a:xfrm>
          <a:prstGeom prst="rect">
            <a:avLst/>
          </a:prstGeom>
          <a:noFill/>
          <a:ln/>
        </p:spPr>
        <p:txBody>
          <a:bodyPr wrap="square" rtlCol="0" anchor="ctr"/>
          <a:lstStyle/>
          <a:p>
            <a:pPr marL="0" indent="0" algn="ctr">
              <a:buNone/>
            </a:pPr>
            <a:r>
              <a:rPr lang="en-US" sz="1200" b="1" dirty="0">
                <a:solidFill>
                  <a:srgbClr val="FFFFFF"/>
                </a:solidFill>
              </a:rPr>
              <a:t>Multitask RL</a:t>
            </a:r>
            <a:endParaRPr lang="en-US" sz="1200" dirty="0"/>
          </a:p>
          <a:p>
            <a:pPr marL="0" indent="0" algn="ctr">
              <a:buNone/>
            </a:pPr>
            <a:r>
              <a:rPr lang="en-US" sz="1200" b="1" dirty="0">
                <a:solidFill>
                  <a:srgbClr val="FFFFFF"/>
                </a:solidFill>
              </a:rPr>
              <a:t>(offline)</a:t>
            </a:r>
            <a:endParaRPr lang="en-US" sz="1200" dirty="0"/>
          </a:p>
        </p:txBody>
      </p:sp>
      <p:sp>
        <p:nvSpPr>
          <p:cNvPr id="14" name="Shape 12"/>
          <p:cNvSpPr/>
          <p:nvPr/>
        </p:nvSpPr>
        <p:spPr>
          <a:xfrm>
            <a:off x="5989320" y="3246120"/>
            <a:ext cx="2560320" cy="841248"/>
          </a:xfrm>
          <a:prstGeom prst="rect">
            <a:avLst/>
          </a:prstGeom>
          <a:solidFill>
            <a:srgbClr val="8F0024"/>
          </a:solidFill>
          <a:ln w="12700">
            <a:solidFill>
              <a:srgbClr val="8F0024"/>
            </a:solidFill>
            <a:prstDash val="solid"/>
          </a:ln>
        </p:spPr>
        <p:txBody>
          <a:bodyPr/>
          <a:lstStyle/>
          <a:p>
            <a:endParaRPr lang="en-CA"/>
          </a:p>
        </p:txBody>
      </p:sp>
      <p:sp>
        <p:nvSpPr>
          <p:cNvPr id="15" name="Text 13"/>
          <p:cNvSpPr/>
          <p:nvPr/>
        </p:nvSpPr>
        <p:spPr>
          <a:xfrm>
            <a:off x="5989320" y="3246120"/>
            <a:ext cx="2560320" cy="841248"/>
          </a:xfrm>
          <a:prstGeom prst="rect">
            <a:avLst/>
          </a:prstGeom>
          <a:noFill/>
          <a:ln/>
        </p:spPr>
        <p:txBody>
          <a:bodyPr wrap="square" rtlCol="0" anchor="ctr"/>
          <a:lstStyle/>
          <a:p>
            <a:pPr marL="0" indent="0" algn="ctr">
              <a:buNone/>
            </a:pPr>
            <a:r>
              <a:rPr lang="en-US" sz="1200" b="1" dirty="0">
                <a:solidFill>
                  <a:srgbClr val="FFFFFF"/>
                </a:solidFill>
              </a:rPr>
              <a:t>Massively</a:t>
            </a:r>
            <a:endParaRPr lang="en-US" sz="1200" dirty="0"/>
          </a:p>
          <a:p>
            <a:pPr marL="0" indent="0" algn="ctr">
              <a:buNone/>
            </a:pPr>
            <a:r>
              <a:rPr lang="en-US" sz="1200" b="1" dirty="0">
                <a:solidFill>
                  <a:srgbClr val="FFFFFF"/>
                </a:solidFill>
              </a:rPr>
              <a:t>Multitask</a:t>
            </a:r>
            <a:endParaRPr lang="en-US" sz="1200" dirty="0"/>
          </a:p>
          <a:p>
            <a:pPr marL="0" indent="0" algn="ctr">
              <a:buNone/>
            </a:pPr>
            <a:r>
              <a:rPr lang="en-US" sz="1200" b="1" dirty="0">
                <a:solidFill>
                  <a:srgbClr val="FFFFFF"/>
                </a:solidFill>
              </a:rPr>
              <a:t>Online RL ✓</a:t>
            </a:r>
            <a:endParaRPr lang="en-US" sz="1200" dirty="0"/>
          </a:p>
        </p:txBody>
      </p:sp>
      <p:sp>
        <p:nvSpPr>
          <p:cNvPr id="16" name="Shape 14"/>
          <p:cNvSpPr/>
          <p:nvPr/>
        </p:nvSpPr>
        <p:spPr>
          <a:xfrm>
            <a:off x="7269480" y="2075688"/>
            <a:ext cx="0" cy="347472"/>
          </a:xfrm>
          <a:prstGeom prst="line">
            <a:avLst/>
          </a:prstGeom>
          <a:noFill/>
          <a:ln w="19050">
            <a:solidFill>
              <a:srgbClr val="6B6B6B"/>
            </a:solidFill>
            <a:prstDash val="solid"/>
          </a:ln>
        </p:spPr>
        <p:txBody>
          <a:bodyPr/>
          <a:lstStyle/>
          <a:p>
            <a:endParaRPr lang="en-CA"/>
          </a:p>
        </p:txBody>
      </p:sp>
      <p:sp>
        <p:nvSpPr>
          <p:cNvPr id="17" name="Shape 15"/>
          <p:cNvSpPr/>
          <p:nvPr/>
        </p:nvSpPr>
        <p:spPr>
          <a:xfrm>
            <a:off x="7269480" y="2990088"/>
            <a:ext cx="0" cy="347472"/>
          </a:xfrm>
          <a:prstGeom prst="line">
            <a:avLst/>
          </a:prstGeom>
          <a:noFill/>
          <a:ln w="19050">
            <a:solidFill>
              <a:srgbClr val="6B6B6B"/>
            </a:solidFill>
            <a:prstDash val="solid"/>
          </a:ln>
        </p:spPr>
        <p:txBody>
          <a:bodyPr/>
          <a:lstStyle/>
          <a:p>
            <a:endParaRPr lang="en-CA"/>
          </a:p>
        </p:txBody>
      </p:sp>
      <p:sp>
        <p:nvSpPr>
          <p:cNvPr id="18" name="Text 16"/>
          <p:cNvSpPr/>
          <p:nvPr/>
        </p:nvSpPr>
        <p:spPr>
          <a:xfrm>
            <a:off x="347472" y="4663440"/>
            <a:ext cx="7315200" cy="320040"/>
          </a:xfrm>
          <a:prstGeom prst="rect">
            <a:avLst/>
          </a:prstGeom>
          <a:noFill/>
          <a:ln/>
        </p:spPr>
        <p:txBody>
          <a:bodyPr wrap="square" lIns="0" tIns="0" rIns="0" bIns="0" rtlCol="0" anchor="ctr"/>
          <a:lstStyle/>
          <a:p>
            <a:pPr marL="0" indent="0">
              <a:buNone/>
            </a:pPr>
            <a:r>
              <a:rPr lang="en-US" sz="1100" b="1" i="1" dirty="0">
                <a:solidFill>
                  <a:srgbClr val="8F0024"/>
                </a:solidFill>
              </a:rPr>
              <a:t>•Can one agent be trained online across hundreds of tasks?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FFFFFF"/>
          </a:solidFill>
          <a:ln w="12700">
            <a:solidFill>
              <a:srgbClr val="FFFFFF"/>
            </a:solidFill>
            <a:prstDash val="solid"/>
          </a:ln>
        </p:spPr>
        <p:txBody>
          <a:bodyPr/>
          <a:lstStyle/>
          <a:p>
            <a:endParaRPr lang="en-CA"/>
          </a:p>
        </p:txBody>
      </p:sp>
      <p:sp>
        <p:nvSpPr>
          <p:cNvPr id="3" name="Text 1"/>
          <p:cNvSpPr/>
          <p:nvPr/>
        </p:nvSpPr>
        <p:spPr>
          <a:xfrm>
            <a:off x="164592" y="0"/>
            <a:ext cx="5486400" cy="411480"/>
          </a:xfrm>
          <a:prstGeom prst="rect">
            <a:avLst/>
          </a:prstGeom>
          <a:noFill/>
          <a:ln/>
        </p:spPr>
        <p:txBody>
          <a:bodyPr wrap="square" lIns="0" tIns="0" rIns="0" bIns="0" rtlCol="0" anchor="ctr"/>
          <a:lstStyle/>
          <a:p>
            <a:pPr marL="0" indent="0">
              <a:buNone/>
            </a:pPr>
            <a:r>
              <a:rPr lang="en-US" sz="900" dirty="0">
                <a:solidFill>
                  <a:srgbClr val="1E1E1E"/>
                </a:solidFill>
              </a:rPr>
              <a:t>Université d'Ottawa   |   University of Ottawa</a:t>
            </a:r>
            <a:endParaRPr lang="en-US" sz="900" dirty="0"/>
          </a:p>
        </p:txBody>
      </p:sp>
      <p:sp>
        <p:nvSpPr>
          <p:cNvPr id="4" name="Text 2"/>
          <p:cNvSpPr/>
          <p:nvPr/>
        </p:nvSpPr>
        <p:spPr>
          <a:xfrm>
            <a:off x="347472" y="566928"/>
            <a:ext cx="7589520" cy="502920"/>
          </a:xfrm>
          <a:prstGeom prst="rect">
            <a:avLst/>
          </a:prstGeom>
          <a:noFill/>
          <a:ln/>
        </p:spPr>
        <p:txBody>
          <a:bodyPr wrap="square" lIns="0" tIns="0" rIns="0" bIns="0" rtlCol="0" anchor="ctr"/>
          <a:lstStyle/>
          <a:p>
            <a:pPr marL="0" indent="0">
              <a:buNone/>
            </a:pPr>
            <a:r>
              <a:rPr lang="en-US" sz="2600" b="1" dirty="0">
                <a:solidFill>
                  <a:srgbClr val="8F0024"/>
                </a:solidFill>
              </a:rPr>
              <a:t>Background: RL &amp; World Models</a:t>
            </a:r>
            <a:endParaRPr lang="en-US" sz="2600" dirty="0"/>
          </a:p>
        </p:txBody>
      </p:sp>
      <p:sp>
        <p:nvSpPr>
          <p:cNvPr id="5" name="Shape 3"/>
          <p:cNvSpPr/>
          <p:nvPr/>
        </p:nvSpPr>
        <p:spPr>
          <a:xfrm>
            <a:off x="347472" y="1115568"/>
            <a:ext cx="8229600" cy="0"/>
          </a:xfrm>
          <a:prstGeom prst="line">
            <a:avLst/>
          </a:prstGeom>
          <a:noFill/>
          <a:ln w="8890">
            <a:solidFill>
              <a:srgbClr val="CCCCCC"/>
            </a:solidFill>
            <a:prstDash val="solid"/>
          </a:ln>
        </p:spPr>
        <p:txBody>
          <a:bodyPr/>
          <a:lstStyle/>
          <a:p>
            <a:endParaRPr lang="en-CA"/>
          </a:p>
        </p:txBody>
      </p:sp>
      <p:sp>
        <p:nvSpPr>
          <p:cNvPr id="6" name="Text 4"/>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rPr>
              <a:t>uOttawa</a:t>
            </a:r>
            <a:endParaRPr lang="en-US" sz="1300" dirty="0"/>
          </a:p>
        </p:txBody>
      </p:sp>
      <p:sp>
        <p:nvSpPr>
          <p:cNvPr id="7" name="Text 5"/>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B6B6B"/>
                </a:solidFill>
              </a:rPr>
              <a:t>4</a:t>
            </a:r>
            <a:endParaRPr lang="en-US" sz="900" dirty="0"/>
          </a:p>
        </p:txBody>
      </p:sp>
      <p:sp>
        <p:nvSpPr>
          <p:cNvPr id="8" name="Shape 6"/>
          <p:cNvSpPr/>
          <p:nvPr/>
        </p:nvSpPr>
        <p:spPr>
          <a:xfrm>
            <a:off x="347472" y="1234440"/>
            <a:ext cx="4206240" cy="3520440"/>
          </a:xfrm>
          <a:prstGeom prst="rect">
            <a:avLst/>
          </a:prstGeom>
          <a:solidFill>
            <a:srgbClr val="F4F4F4"/>
          </a:solidFill>
          <a:ln w="12700">
            <a:solidFill>
              <a:srgbClr val="DDDDDD"/>
            </a:solidFill>
            <a:prstDash val="solid"/>
          </a:ln>
        </p:spPr>
        <p:txBody>
          <a:bodyPr/>
          <a:lstStyle/>
          <a:p>
            <a:endParaRPr lang="en-CA"/>
          </a:p>
        </p:txBody>
      </p:sp>
      <p:sp>
        <p:nvSpPr>
          <p:cNvPr id="9" name="Shape 7"/>
          <p:cNvSpPr/>
          <p:nvPr/>
        </p:nvSpPr>
        <p:spPr>
          <a:xfrm>
            <a:off x="347472" y="1234440"/>
            <a:ext cx="4206240" cy="384048"/>
          </a:xfrm>
          <a:prstGeom prst="rect">
            <a:avLst/>
          </a:prstGeom>
          <a:solidFill>
            <a:srgbClr val="8F0024"/>
          </a:solidFill>
          <a:ln w="12700">
            <a:solidFill>
              <a:srgbClr val="8F0024"/>
            </a:solidFill>
            <a:prstDash val="solid"/>
          </a:ln>
        </p:spPr>
        <p:txBody>
          <a:bodyPr/>
          <a:lstStyle/>
          <a:p>
            <a:endParaRPr lang="en-CA"/>
          </a:p>
        </p:txBody>
      </p:sp>
      <p:sp>
        <p:nvSpPr>
          <p:cNvPr id="10" name="Text 8"/>
          <p:cNvSpPr/>
          <p:nvPr/>
        </p:nvSpPr>
        <p:spPr>
          <a:xfrm>
            <a:off x="457200" y="1234440"/>
            <a:ext cx="3986784" cy="384048"/>
          </a:xfrm>
          <a:prstGeom prst="rect">
            <a:avLst/>
          </a:prstGeom>
          <a:noFill/>
          <a:ln/>
        </p:spPr>
        <p:txBody>
          <a:bodyPr wrap="square" lIns="0" tIns="0" rIns="0" bIns="0" rtlCol="0" anchor="ctr"/>
          <a:lstStyle/>
          <a:p>
            <a:pPr marL="0" indent="0">
              <a:buNone/>
            </a:pPr>
            <a:r>
              <a:rPr lang="en-US" sz="1300" b="1" dirty="0">
                <a:solidFill>
                  <a:srgbClr val="FFFFFF"/>
                </a:solidFill>
              </a:rPr>
              <a:t>Reinforcement Learning</a:t>
            </a:r>
            <a:endParaRPr lang="en-US" sz="1300" dirty="0"/>
          </a:p>
        </p:txBody>
      </p:sp>
      <p:sp>
        <p:nvSpPr>
          <p:cNvPr id="11" name="Text 9"/>
          <p:cNvSpPr/>
          <p:nvPr/>
        </p:nvSpPr>
        <p:spPr>
          <a:xfrm>
            <a:off x="438912" y="1691640"/>
            <a:ext cx="3931920" cy="1920240"/>
          </a:xfrm>
          <a:prstGeom prst="rect">
            <a:avLst/>
          </a:prstGeom>
          <a:noFill/>
          <a:ln/>
        </p:spPr>
        <p:txBody>
          <a:bodyPr wrap="square" rtlCol="0" anchor="ctr"/>
          <a:lstStyle/>
          <a:p>
            <a:pPr marL="342900" indent="-342900">
              <a:spcAft>
                <a:spcPts val="400"/>
              </a:spcAft>
              <a:buSzPct val="100000"/>
              <a:buChar char="•"/>
            </a:pPr>
            <a:r>
              <a:rPr lang="en-US" sz="1300" dirty="0">
                <a:solidFill>
                  <a:srgbClr val="1E1E1E"/>
                </a:solidFill>
              </a:rPr>
              <a:t>Agent interacts with environment</a:t>
            </a:r>
            <a:endParaRPr lang="en-US" sz="1300" dirty="0"/>
          </a:p>
          <a:p>
            <a:pPr marL="342900" indent="-342900">
              <a:spcAft>
                <a:spcPts val="400"/>
              </a:spcAft>
              <a:buSzPct val="100000"/>
              <a:buChar char="•"/>
            </a:pPr>
            <a:r>
              <a:rPr lang="en-US" sz="1300" dirty="0">
                <a:solidFill>
                  <a:srgbClr val="1E1E1E"/>
                </a:solidFill>
              </a:rPr>
              <a:t>Learns policy π(a|s) to maximize cumulative reward</a:t>
            </a:r>
            <a:endParaRPr lang="en-US" sz="1300" dirty="0"/>
          </a:p>
          <a:p>
            <a:pPr marL="342900" indent="-342900">
              <a:spcAft>
                <a:spcPts val="400"/>
              </a:spcAft>
              <a:buSzPct val="100000"/>
              <a:buChar char="•"/>
            </a:pPr>
            <a:r>
              <a:rPr lang="en-US" sz="1300" dirty="0">
                <a:solidFill>
                  <a:srgbClr val="1E1E1E"/>
                </a:solidFill>
              </a:rPr>
              <a:t>Key challenge: exploration + sample efficiency</a:t>
            </a:r>
            <a:endParaRPr lang="en-US" sz="1300" dirty="0"/>
          </a:p>
        </p:txBody>
      </p:sp>
      <p:sp>
        <p:nvSpPr>
          <p:cNvPr id="12" name="Shape 10"/>
          <p:cNvSpPr/>
          <p:nvPr/>
        </p:nvSpPr>
        <p:spPr>
          <a:xfrm>
            <a:off x="621792" y="3474720"/>
            <a:ext cx="3657600" cy="502920"/>
          </a:xfrm>
          <a:prstGeom prst="rect">
            <a:avLst/>
          </a:prstGeom>
          <a:solidFill>
            <a:srgbClr val="E8E8E8"/>
          </a:solidFill>
          <a:ln w="12700">
            <a:solidFill>
              <a:srgbClr val="CCCCCC"/>
            </a:solidFill>
            <a:prstDash val="solid"/>
          </a:ln>
        </p:spPr>
        <p:txBody>
          <a:bodyPr/>
          <a:lstStyle/>
          <a:p>
            <a:endParaRPr lang="en-CA"/>
          </a:p>
        </p:txBody>
      </p:sp>
      <p:sp>
        <p:nvSpPr>
          <p:cNvPr id="13" name="Text 11"/>
          <p:cNvSpPr/>
          <p:nvPr/>
        </p:nvSpPr>
        <p:spPr>
          <a:xfrm>
            <a:off x="621792" y="3474720"/>
            <a:ext cx="3657600" cy="502920"/>
          </a:xfrm>
          <a:prstGeom prst="rect">
            <a:avLst/>
          </a:prstGeom>
          <a:noFill/>
          <a:ln/>
        </p:spPr>
        <p:txBody>
          <a:bodyPr wrap="square" rtlCol="0" anchor="ctr"/>
          <a:lstStyle/>
          <a:p>
            <a:pPr marL="0" indent="0" algn="ctr">
              <a:buNone/>
            </a:pPr>
            <a:r>
              <a:rPr lang="en-US" sz="1400" b="1" i="1" dirty="0">
                <a:solidFill>
                  <a:srgbClr val="1E1E1E"/>
                </a:solidFill>
              </a:rPr>
              <a:t>J(π) = E[Σ γᵗ rₜ]</a:t>
            </a:r>
            <a:endParaRPr lang="en-US" sz="1400" dirty="0"/>
          </a:p>
        </p:txBody>
      </p:sp>
      <p:sp>
        <p:nvSpPr>
          <p:cNvPr id="14" name="Shape 12"/>
          <p:cNvSpPr/>
          <p:nvPr/>
        </p:nvSpPr>
        <p:spPr>
          <a:xfrm>
            <a:off x="4754880" y="1234440"/>
            <a:ext cx="4206240" cy="3520440"/>
          </a:xfrm>
          <a:prstGeom prst="rect">
            <a:avLst/>
          </a:prstGeom>
          <a:solidFill>
            <a:srgbClr val="F4F4F4"/>
          </a:solidFill>
          <a:ln w="12700">
            <a:solidFill>
              <a:srgbClr val="DDDDDD"/>
            </a:solidFill>
            <a:prstDash val="solid"/>
          </a:ln>
        </p:spPr>
        <p:txBody>
          <a:bodyPr/>
          <a:lstStyle/>
          <a:p>
            <a:endParaRPr lang="en-CA"/>
          </a:p>
        </p:txBody>
      </p:sp>
      <p:sp>
        <p:nvSpPr>
          <p:cNvPr id="15" name="Shape 13"/>
          <p:cNvSpPr/>
          <p:nvPr/>
        </p:nvSpPr>
        <p:spPr>
          <a:xfrm>
            <a:off x="4754880" y="1234440"/>
            <a:ext cx="4206240" cy="384048"/>
          </a:xfrm>
          <a:prstGeom prst="rect">
            <a:avLst/>
          </a:prstGeom>
          <a:solidFill>
            <a:srgbClr val="8F0024"/>
          </a:solidFill>
          <a:ln w="12700">
            <a:solidFill>
              <a:srgbClr val="8F0024"/>
            </a:solidFill>
            <a:prstDash val="solid"/>
          </a:ln>
        </p:spPr>
        <p:txBody>
          <a:bodyPr/>
          <a:lstStyle/>
          <a:p>
            <a:endParaRPr lang="en-CA"/>
          </a:p>
        </p:txBody>
      </p:sp>
      <p:sp>
        <p:nvSpPr>
          <p:cNvPr id="16" name="Text 14"/>
          <p:cNvSpPr/>
          <p:nvPr/>
        </p:nvSpPr>
        <p:spPr>
          <a:xfrm>
            <a:off x="4864608" y="1234440"/>
            <a:ext cx="3986784" cy="384048"/>
          </a:xfrm>
          <a:prstGeom prst="rect">
            <a:avLst/>
          </a:prstGeom>
          <a:noFill/>
          <a:ln/>
        </p:spPr>
        <p:txBody>
          <a:bodyPr wrap="square" lIns="0" tIns="0" rIns="0" bIns="0" rtlCol="0" anchor="ctr"/>
          <a:lstStyle/>
          <a:p>
            <a:pPr marL="0" indent="0">
              <a:buNone/>
            </a:pPr>
            <a:r>
              <a:rPr lang="en-US" sz="1300" b="1" dirty="0">
                <a:solidFill>
                  <a:srgbClr val="FFFFFF"/>
                </a:solidFill>
              </a:rPr>
              <a:t>World Models (Model-Based RL)</a:t>
            </a:r>
            <a:endParaRPr lang="en-US" sz="1300" dirty="0"/>
          </a:p>
        </p:txBody>
      </p:sp>
      <p:sp>
        <p:nvSpPr>
          <p:cNvPr id="17" name="Text 15"/>
          <p:cNvSpPr/>
          <p:nvPr/>
        </p:nvSpPr>
        <p:spPr>
          <a:xfrm>
            <a:off x="4846320" y="1691640"/>
            <a:ext cx="3931920" cy="1920240"/>
          </a:xfrm>
          <a:prstGeom prst="rect">
            <a:avLst/>
          </a:prstGeom>
          <a:noFill/>
          <a:ln/>
        </p:spPr>
        <p:txBody>
          <a:bodyPr wrap="square" rtlCol="0" anchor="ctr"/>
          <a:lstStyle/>
          <a:p>
            <a:pPr marL="342900" indent="-342900">
              <a:spcAft>
                <a:spcPts val="400"/>
              </a:spcAft>
              <a:buSzPct val="100000"/>
              <a:buChar char="•"/>
            </a:pPr>
            <a:r>
              <a:rPr lang="en-US" sz="1300" dirty="0">
                <a:solidFill>
                  <a:srgbClr val="1E1E1E"/>
                </a:solidFill>
              </a:rPr>
              <a:t>Agent learns a model of environment dynamics</a:t>
            </a:r>
            <a:endParaRPr lang="en-US" sz="1300" dirty="0"/>
          </a:p>
          <a:p>
            <a:pPr marL="342900" indent="-342900">
              <a:spcAft>
                <a:spcPts val="400"/>
              </a:spcAft>
              <a:buSzPct val="100000"/>
              <a:buChar char="•"/>
            </a:pPr>
            <a:r>
              <a:rPr lang="en-US" sz="1300" dirty="0">
                <a:solidFill>
                  <a:srgbClr val="1E1E1E"/>
                </a:solidFill>
              </a:rPr>
              <a:t>Enables planning in latent space (no decoder needed)</a:t>
            </a:r>
            <a:endParaRPr lang="en-US" sz="1300" dirty="0"/>
          </a:p>
          <a:p>
            <a:pPr marL="342900" indent="-342900">
              <a:spcAft>
                <a:spcPts val="400"/>
              </a:spcAft>
              <a:buSzPct val="100000"/>
              <a:buChar char="•"/>
            </a:pPr>
            <a:r>
              <a:rPr lang="en-US" sz="1300" dirty="0">
                <a:solidFill>
                  <a:srgbClr val="1E1E1E"/>
                </a:solidFill>
              </a:rPr>
              <a:t>TD-MPC2: state-of-art for continuous control tasks</a:t>
            </a:r>
            <a:endParaRPr lang="en-US" sz="1300" dirty="0"/>
          </a:p>
        </p:txBody>
      </p:sp>
      <p:sp>
        <p:nvSpPr>
          <p:cNvPr id="18" name="Shape 16"/>
          <p:cNvSpPr/>
          <p:nvPr/>
        </p:nvSpPr>
        <p:spPr>
          <a:xfrm>
            <a:off x="5029200" y="3474720"/>
            <a:ext cx="3657600" cy="502920"/>
          </a:xfrm>
          <a:prstGeom prst="rect">
            <a:avLst/>
          </a:prstGeom>
          <a:solidFill>
            <a:srgbClr val="E8E8E8"/>
          </a:solidFill>
          <a:ln w="12700">
            <a:solidFill>
              <a:srgbClr val="CCCCCC"/>
            </a:solidFill>
            <a:prstDash val="solid"/>
          </a:ln>
        </p:spPr>
        <p:txBody>
          <a:bodyPr/>
          <a:lstStyle/>
          <a:p>
            <a:endParaRPr lang="en-CA"/>
          </a:p>
        </p:txBody>
      </p:sp>
      <p:sp>
        <p:nvSpPr>
          <p:cNvPr id="19" name="Text 17"/>
          <p:cNvSpPr/>
          <p:nvPr/>
        </p:nvSpPr>
        <p:spPr>
          <a:xfrm>
            <a:off x="5029200" y="3474720"/>
            <a:ext cx="3657600" cy="502920"/>
          </a:xfrm>
          <a:prstGeom prst="rect">
            <a:avLst/>
          </a:prstGeom>
          <a:noFill/>
          <a:ln/>
        </p:spPr>
        <p:txBody>
          <a:bodyPr wrap="square" rtlCol="0" anchor="ctr"/>
          <a:lstStyle/>
          <a:p>
            <a:pPr marL="0" indent="0" algn="ctr">
              <a:buNone/>
            </a:pPr>
            <a:r>
              <a:rPr lang="en-US" sz="1400" b="1" i="1" dirty="0">
                <a:solidFill>
                  <a:srgbClr val="1E1E1E"/>
                </a:solidFill>
              </a:rPr>
              <a:t>z' = d(z, a, 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FFFFFF"/>
          </a:solidFill>
          <a:ln w="12700">
            <a:solidFill>
              <a:srgbClr val="FFFFFF"/>
            </a:solidFill>
            <a:prstDash val="solid"/>
          </a:ln>
        </p:spPr>
        <p:txBody>
          <a:bodyPr/>
          <a:lstStyle/>
          <a:p>
            <a:endParaRPr lang="en-CA"/>
          </a:p>
        </p:txBody>
      </p:sp>
      <p:sp>
        <p:nvSpPr>
          <p:cNvPr id="3" name="Text 1"/>
          <p:cNvSpPr/>
          <p:nvPr/>
        </p:nvSpPr>
        <p:spPr>
          <a:xfrm>
            <a:off x="164592" y="0"/>
            <a:ext cx="5486400" cy="411480"/>
          </a:xfrm>
          <a:prstGeom prst="rect">
            <a:avLst/>
          </a:prstGeom>
          <a:noFill/>
          <a:ln/>
        </p:spPr>
        <p:txBody>
          <a:bodyPr wrap="square" lIns="0" tIns="0" rIns="0" bIns="0" rtlCol="0" anchor="ctr"/>
          <a:lstStyle/>
          <a:p>
            <a:pPr marL="0" indent="0">
              <a:buNone/>
            </a:pPr>
            <a:r>
              <a:rPr lang="en-US" sz="900" dirty="0">
                <a:solidFill>
                  <a:srgbClr val="1E1E1E"/>
                </a:solidFill>
              </a:rPr>
              <a:t>Université d'Ottawa   |   University of Ottawa</a:t>
            </a:r>
            <a:endParaRPr lang="en-US" sz="900" dirty="0"/>
          </a:p>
        </p:txBody>
      </p:sp>
      <p:sp>
        <p:nvSpPr>
          <p:cNvPr id="4" name="Text 2"/>
          <p:cNvSpPr/>
          <p:nvPr/>
        </p:nvSpPr>
        <p:spPr>
          <a:xfrm>
            <a:off x="347472" y="566928"/>
            <a:ext cx="7589520" cy="502920"/>
          </a:xfrm>
          <a:prstGeom prst="rect">
            <a:avLst/>
          </a:prstGeom>
          <a:noFill/>
          <a:ln/>
        </p:spPr>
        <p:txBody>
          <a:bodyPr wrap="square" lIns="0" tIns="0" rIns="0" bIns="0" rtlCol="0" anchor="ctr"/>
          <a:lstStyle/>
          <a:p>
            <a:pPr marL="0" indent="0">
              <a:buNone/>
            </a:pPr>
            <a:r>
              <a:rPr lang="en-US" sz="2600" b="1" dirty="0">
                <a:solidFill>
                  <a:srgbClr val="8F0024"/>
                </a:solidFill>
              </a:rPr>
              <a:t>The Lineage: TD-MPC → TD-MPC2 → Newt</a:t>
            </a:r>
            <a:endParaRPr lang="en-US" sz="2600" dirty="0"/>
          </a:p>
        </p:txBody>
      </p:sp>
      <p:sp>
        <p:nvSpPr>
          <p:cNvPr id="5" name="Shape 3"/>
          <p:cNvSpPr/>
          <p:nvPr/>
        </p:nvSpPr>
        <p:spPr>
          <a:xfrm>
            <a:off x="347472" y="1115568"/>
            <a:ext cx="8229600" cy="0"/>
          </a:xfrm>
          <a:prstGeom prst="line">
            <a:avLst/>
          </a:prstGeom>
          <a:noFill/>
          <a:ln w="8890">
            <a:solidFill>
              <a:srgbClr val="CCCCCC"/>
            </a:solidFill>
            <a:prstDash val="solid"/>
          </a:ln>
        </p:spPr>
        <p:txBody>
          <a:bodyPr/>
          <a:lstStyle/>
          <a:p>
            <a:endParaRPr lang="en-CA"/>
          </a:p>
        </p:txBody>
      </p:sp>
      <p:sp>
        <p:nvSpPr>
          <p:cNvPr id="6" name="Text 4"/>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rPr>
              <a:t>uOttawa</a:t>
            </a:r>
            <a:endParaRPr lang="en-US" sz="1300" dirty="0"/>
          </a:p>
        </p:txBody>
      </p:sp>
      <p:sp>
        <p:nvSpPr>
          <p:cNvPr id="7" name="Text 5"/>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B6B6B"/>
                </a:solidFill>
              </a:rPr>
              <a:t>5</a:t>
            </a:r>
            <a:endParaRPr lang="en-US" sz="900" dirty="0"/>
          </a:p>
        </p:txBody>
      </p:sp>
      <p:sp>
        <p:nvSpPr>
          <p:cNvPr id="8" name="Shape 6"/>
          <p:cNvSpPr/>
          <p:nvPr/>
        </p:nvSpPr>
        <p:spPr>
          <a:xfrm>
            <a:off x="365760" y="1280160"/>
            <a:ext cx="2651760" cy="502920"/>
          </a:xfrm>
          <a:prstGeom prst="rect">
            <a:avLst/>
          </a:prstGeom>
          <a:solidFill>
            <a:srgbClr val="6B6B6B"/>
          </a:solidFill>
          <a:ln w="12700">
            <a:solidFill>
              <a:srgbClr val="6B6B6B"/>
            </a:solidFill>
            <a:prstDash val="solid"/>
          </a:ln>
        </p:spPr>
        <p:txBody>
          <a:bodyPr/>
          <a:lstStyle/>
          <a:p>
            <a:endParaRPr lang="en-CA"/>
          </a:p>
        </p:txBody>
      </p:sp>
      <p:sp>
        <p:nvSpPr>
          <p:cNvPr id="9" name="Text 7"/>
          <p:cNvSpPr/>
          <p:nvPr/>
        </p:nvSpPr>
        <p:spPr>
          <a:xfrm>
            <a:off x="365760" y="1280160"/>
            <a:ext cx="2651760" cy="502920"/>
          </a:xfrm>
          <a:prstGeom prst="rect">
            <a:avLst/>
          </a:prstGeom>
          <a:noFill/>
          <a:ln/>
        </p:spPr>
        <p:txBody>
          <a:bodyPr wrap="square" rtlCol="0" anchor="ctr"/>
          <a:lstStyle/>
          <a:p>
            <a:pPr marL="0" indent="0" algn="ctr">
              <a:buNone/>
            </a:pPr>
            <a:r>
              <a:rPr lang="en-US" sz="1200" b="1" dirty="0">
                <a:solidFill>
                  <a:srgbClr val="FFFFFF"/>
                </a:solidFill>
              </a:rPr>
              <a:t>TD-MPC</a:t>
            </a:r>
            <a:endParaRPr lang="en-US" sz="1200" dirty="0"/>
          </a:p>
          <a:p>
            <a:pPr marL="0" indent="0" algn="ctr">
              <a:buNone/>
            </a:pPr>
            <a:r>
              <a:rPr lang="en-US" sz="1200" b="1" dirty="0">
                <a:solidFill>
                  <a:srgbClr val="FFFFFF"/>
                </a:solidFill>
              </a:rPr>
              <a:t>(ICML 2022)</a:t>
            </a:r>
            <a:endParaRPr lang="en-US" sz="1200" dirty="0"/>
          </a:p>
        </p:txBody>
      </p:sp>
      <p:sp>
        <p:nvSpPr>
          <p:cNvPr id="10" name="Shape 8"/>
          <p:cNvSpPr/>
          <p:nvPr/>
        </p:nvSpPr>
        <p:spPr>
          <a:xfrm>
            <a:off x="365760" y="1783080"/>
            <a:ext cx="2651760" cy="2011680"/>
          </a:xfrm>
          <a:prstGeom prst="rect">
            <a:avLst/>
          </a:prstGeom>
          <a:solidFill>
            <a:srgbClr val="F4F4F4"/>
          </a:solidFill>
          <a:ln w="12700">
            <a:solidFill>
              <a:srgbClr val="DDDDDD"/>
            </a:solidFill>
            <a:prstDash val="solid"/>
          </a:ln>
        </p:spPr>
        <p:txBody>
          <a:bodyPr/>
          <a:lstStyle/>
          <a:p>
            <a:endParaRPr lang="en-CA"/>
          </a:p>
        </p:txBody>
      </p:sp>
      <p:sp>
        <p:nvSpPr>
          <p:cNvPr id="11" name="Text 9"/>
          <p:cNvSpPr/>
          <p:nvPr/>
        </p:nvSpPr>
        <p:spPr>
          <a:xfrm>
            <a:off x="457200" y="1828800"/>
            <a:ext cx="2468880" cy="1920240"/>
          </a:xfrm>
          <a:prstGeom prst="rect">
            <a:avLst/>
          </a:prstGeom>
          <a:noFill/>
          <a:ln/>
        </p:spPr>
        <p:txBody>
          <a:bodyPr wrap="square" rtlCol="0" anchor="ctr"/>
          <a:lstStyle/>
          <a:p>
            <a:pPr marL="0" indent="0" algn="ctr">
              <a:lnSpc>
                <a:spcPct val="140000"/>
              </a:lnSpc>
              <a:buNone/>
            </a:pPr>
            <a:r>
              <a:rPr lang="en-US" sz="1300" dirty="0">
                <a:solidFill>
                  <a:srgbClr val="1E1E1E"/>
                </a:solidFill>
              </a:rPr>
              <a:t>Latent trajectory</a:t>
            </a:r>
            <a:endParaRPr lang="en-US" sz="1300" dirty="0"/>
          </a:p>
          <a:p>
            <a:pPr marL="0" indent="0" algn="ctr">
              <a:lnSpc>
                <a:spcPct val="140000"/>
              </a:lnSpc>
              <a:buNone/>
            </a:pPr>
            <a:r>
              <a:rPr lang="en-US" sz="1300" dirty="0">
                <a:solidFill>
                  <a:srgbClr val="1E1E1E"/>
                </a:solidFill>
              </a:rPr>
              <a:t>optimization</a:t>
            </a:r>
            <a:endParaRPr lang="en-US" sz="1300" dirty="0"/>
          </a:p>
          <a:p>
            <a:pPr marL="0" indent="0" algn="ctr">
              <a:lnSpc>
                <a:spcPct val="140000"/>
              </a:lnSpc>
              <a:buNone/>
            </a:pPr>
            <a:r>
              <a:rPr lang="en-US" sz="1300" dirty="0">
                <a:solidFill>
                  <a:srgbClr val="1E1E1E"/>
                </a:solidFill>
              </a:rPr>
              <a:t>Single-task</a:t>
            </a:r>
            <a:endParaRPr lang="en-US" sz="1300" dirty="0"/>
          </a:p>
        </p:txBody>
      </p:sp>
      <p:sp>
        <p:nvSpPr>
          <p:cNvPr id="12" name="Text 10"/>
          <p:cNvSpPr/>
          <p:nvPr/>
        </p:nvSpPr>
        <p:spPr>
          <a:xfrm>
            <a:off x="3108960" y="2057400"/>
            <a:ext cx="182880" cy="548640"/>
          </a:xfrm>
          <a:prstGeom prst="rect">
            <a:avLst/>
          </a:prstGeom>
          <a:noFill/>
          <a:ln/>
        </p:spPr>
        <p:txBody>
          <a:bodyPr wrap="square" rtlCol="0" anchor="ctr"/>
          <a:lstStyle/>
          <a:p>
            <a:pPr marL="0" indent="0" algn="ctr">
              <a:buNone/>
            </a:pPr>
            <a:r>
              <a:rPr lang="en-US" sz="2200" b="1" dirty="0">
                <a:solidFill>
                  <a:srgbClr val="8F0024"/>
                </a:solidFill>
              </a:rPr>
              <a:t>→</a:t>
            </a:r>
            <a:endParaRPr lang="en-US" sz="2200" dirty="0"/>
          </a:p>
        </p:txBody>
      </p:sp>
      <p:sp>
        <p:nvSpPr>
          <p:cNvPr id="13" name="Shape 11"/>
          <p:cNvSpPr/>
          <p:nvPr/>
        </p:nvSpPr>
        <p:spPr>
          <a:xfrm>
            <a:off x="3291840" y="1280160"/>
            <a:ext cx="2651760" cy="502920"/>
          </a:xfrm>
          <a:prstGeom prst="rect">
            <a:avLst/>
          </a:prstGeom>
          <a:solidFill>
            <a:srgbClr val="B5003E"/>
          </a:solidFill>
          <a:ln w="12700">
            <a:solidFill>
              <a:srgbClr val="B5003E"/>
            </a:solidFill>
            <a:prstDash val="solid"/>
          </a:ln>
        </p:spPr>
        <p:txBody>
          <a:bodyPr/>
          <a:lstStyle/>
          <a:p>
            <a:endParaRPr lang="en-CA"/>
          </a:p>
        </p:txBody>
      </p:sp>
      <p:sp>
        <p:nvSpPr>
          <p:cNvPr id="14" name="Text 12"/>
          <p:cNvSpPr/>
          <p:nvPr/>
        </p:nvSpPr>
        <p:spPr>
          <a:xfrm>
            <a:off x="3291840" y="1280160"/>
            <a:ext cx="2651760" cy="502920"/>
          </a:xfrm>
          <a:prstGeom prst="rect">
            <a:avLst/>
          </a:prstGeom>
          <a:noFill/>
          <a:ln/>
        </p:spPr>
        <p:txBody>
          <a:bodyPr wrap="square" rtlCol="0" anchor="ctr"/>
          <a:lstStyle/>
          <a:p>
            <a:pPr marL="0" indent="0" algn="ctr">
              <a:buNone/>
            </a:pPr>
            <a:r>
              <a:rPr lang="en-US" sz="1200" b="1" dirty="0">
                <a:solidFill>
                  <a:srgbClr val="FFFFFF"/>
                </a:solidFill>
              </a:rPr>
              <a:t>TD-MPC2</a:t>
            </a:r>
            <a:endParaRPr lang="en-US" sz="1200" dirty="0"/>
          </a:p>
          <a:p>
            <a:pPr marL="0" indent="0" algn="ctr">
              <a:buNone/>
            </a:pPr>
            <a:r>
              <a:rPr lang="en-US" sz="1200" b="1" dirty="0">
                <a:solidFill>
                  <a:srgbClr val="FFFFFF"/>
                </a:solidFill>
              </a:rPr>
              <a:t>(ICLR 2024)</a:t>
            </a:r>
            <a:endParaRPr lang="en-US" sz="1200" dirty="0"/>
          </a:p>
        </p:txBody>
      </p:sp>
      <p:sp>
        <p:nvSpPr>
          <p:cNvPr id="15" name="Shape 13"/>
          <p:cNvSpPr/>
          <p:nvPr/>
        </p:nvSpPr>
        <p:spPr>
          <a:xfrm>
            <a:off x="3291840" y="1783080"/>
            <a:ext cx="2651760" cy="2011680"/>
          </a:xfrm>
          <a:prstGeom prst="rect">
            <a:avLst/>
          </a:prstGeom>
          <a:solidFill>
            <a:srgbClr val="F4F4F4"/>
          </a:solidFill>
          <a:ln w="12700">
            <a:solidFill>
              <a:srgbClr val="DDDDDD"/>
            </a:solidFill>
            <a:prstDash val="solid"/>
          </a:ln>
        </p:spPr>
        <p:txBody>
          <a:bodyPr/>
          <a:lstStyle/>
          <a:p>
            <a:endParaRPr lang="en-CA"/>
          </a:p>
        </p:txBody>
      </p:sp>
      <p:sp>
        <p:nvSpPr>
          <p:cNvPr id="16" name="Text 14"/>
          <p:cNvSpPr/>
          <p:nvPr/>
        </p:nvSpPr>
        <p:spPr>
          <a:xfrm>
            <a:off x="3383280" y="1828800"/>
            <a:ext cx="2468880" cy="1920240"/>
          </a:xfrm>
          <a:prstGeom prst="rect">
            <a:avLst/>
          </a:prstGeom>
          <a:noFill/>
          <a:ln/>
        </p:spPr>
        <p:txBody>
          <a:bodyPr wrap="square" rtlCol="0" anchor="ctr"/>
          <a:lstStyle/>
          <a:p>
            <a:pPr marL="0" indent="0" algn="ctr">
              <a:lnSpc>
                <a:spcPct val="140000"/>
              </a:lnSpc>
              <a:buNone/>
            </a:pPr>
            <a:r>
              <a:rPr lang="en-US" sz="1300" dirty="0">
                <a:solidFill>
                  <a:srgbClr val="1E1E1E"/>
                </a:solidFill>
              </a:rPr>
              <a:t>104 tasks, single</a:t>
            </a:r>
            <a:endParaRPr lang="en-US" sz="1300" dirty="0"/>
          </a:p>
          <a:p>
            <a:pPr marL="0" indent="0" algn="ctr">
              <a:lnSpc>
                <a:spcPct val="140000"/>
              </a:lnSpc>
              <a:buNone/>
            </a:pPr>
            <a:r>
              <a:rPr lang="en-US" sz="1300" dirty="0">
                <a:solidFill>
                  <a:srgbClr val="1E1E1E"/>
                </a:solidFill>
              </a:rPr>
              <a:t>hyperparameter set</a:t>
            </a:r>
            <a:endParaRPr lang="en-US" sz="1300" dirty="0"/>
          </a:p>
          <a:p>
            <a:pPr marL="0" indent="0" algn="ctr">
              <a:lnSpc>
                <a:spcPct val="140000"/>
              </a:lnSpc>
              <a:buNone/>
            </a:pPr>
            <a:r>
              <a:rPr lang="en-US" sz="1300" dirty="0">
                <a:solidFill>
                  <a:srgbClr val="1E1E1E"/>
                </a:solidFill>
              </a:rPr>
              <a:t>317M multitask agent</a:t>
            </a:r>
            <a:endParaRPr lang="en-US" sz="1300" dirty="0"/>
          </a:p>
          <a:p>
            <a:pPr marL="0" indent="0" algn="ctr">
              <a:lnSpc>
                <a:spcPct val="140000"/>
              </a:lnSpc>
              <a:buNone/>
            </a:pPr>
            <a:r>
              <a:rPr lang="en-US" sz="1300" dirty="0">
                <a:solidFill>
                  <a:srgbClr val="1E1E1E"/>
                </a:solidFill>
              </a:rPr>
              <a:t>(offline)</a:t>
            </a:r>
            <a:endParaRPr lang="en-US" sz="1300" dirty="0"/>
          </a:p>
        </p:txBody>
      </p:sp>
      <p:sp>
        <p:nvSpPr>
          <p:cNvPr id="17" name="Text 15"/>
          <p:cNvSpPr/>
          <p:nvPr/>
        </p:nvSpPr>
        <p:spPr>
          <a:xfrm>
            <a:off x="6035040" y="2057400"/>
            <a:ext cx="182880" cy="548640"/>
          </a:xfrm>
          <a:prstGeom prst="rect">
            <a:avLst/>
          </a:prstGeom>
          <a:noFill/>
          <a:ln/>
        </p:spPr>
        <p:txBody>
          <a:bodyPr wrap="square" rtlCol="0" anchor="ctr"/>
          <a:lstStyle/>
          <a:p>
            <a:pPr marL="0" indent="0" algn="ctr">
              <a:buNone/>
            </a:pPr>
            <a:r>
              <a:rPr lang="en-US" sz="2200" b="1" dirty="0">
                <a:solidFill>
                  <a:srgbClr val="8F0024"/>
                </a:solidFill>
              </a:rPr>
              <a:t>→</a:t>
            </a:r>
            <a:endParaRPr lang="en-US" sz="2200" dirty="0"/>
          </a:p>
        </p:txBody>
      </p:sp>
      <p:sp>
        <p:nvSpPr>
          <p:cNvPr id="18" name="Shape 16"/>
          <p:cNvSpPr/>
          <p:nvPr/>
        </p:nvSpPr>
        <p:spPr>
          <a:xfrm>
            <a:off x="6217920" y="1280160"/>
            <a:ext cx="2651760" cy="502920"/>
          </a:xfrm>
          <a:prstGeom prst="rect">
            <a:avLst/>
          </a:prstGeom>
          <a:solidFill>
            <a:srgbClr val="8F0024"/>
          </a:solidFill>
          <a:ln w="12700">
            <a:solidFill>
              <a:srgbClr val="8F0024"/>
            </a:solidFill>
            <a:prstDash val="solid"/>
          </a:ln>
        </p:spPr>
        <p:txBody>
          <a:bodyPr/>
          <a:lstStyle/>
          <a:p>
            <a:endParaRPr lang="en-CA"/>
          </a:p>
        </p:txBody>
      </p:sp>
      <p:sp>
        <p:nvSpPr>
          <p:cNvPr id="19" name="Text 17"/>
          <p:cNvSpPr/>
          <p:nvPr/>
        </p:nvSpPr>
        <p:spPr>
          <a:xfrm>
            <a:off x="6217920" y="1280160"/>
            <a:ext cx="2651760" cy="502920"/>
          </a:xfrm>
          <a:prstGeom prst="rect">
            <a:avLst/>
          </a:prstGeom>
          <a:noFill/>
          <a:ln/>
        </p:spPr>
        <p:txBody>
          <a:bodyPr wrap="square" rtlCol="0" anchor="ctr"/>
          <a:lstStyle/>
          <a:p>
            <a:pPr marL="0" indent="0" algn="ctr">
              <a:buNone/>
            </a:pPr>
            <a:r>
              <a:rPr lang="en-US" sz="1200" b="1" dirty="0">
                <a:solidFill>
                  <a:srgbClr val="FFFFFF"/>
                </a:solidFill>
              </a:rPr>
              <a:t>Newt / MMBench</a:t>
            </a:r>
            <a:endParaRPr lang="en-US" sz="1200" dirty="0"/>
          </a:p>
          <a:p>
            <a:pPr marL="0" indent="0" algn="ctr">
              <a:buNone/>
            </a:pPr>
            <a:r>
              <a:rPr lang="en-US" sz="1200" b="1" dirty="0">
                <a:solidFill>
                  <a:srgbClr val="FFFFFF"/>
                </a:solidFill>
              </a:rPr>
              <a:t>(ICLR 2026)</a:t>
            </a:r>
            <a:endParaRPr lang="en-US" sz="1200" dirty="0"/>
          </a:p>
        </p:txBody>
      </p:sp>
      <p:sp>
        <p:nvSpPr>
          <p:cNvPr id="20" name="Shape 18"/>
          <p:cNvSpPr/>
          <p:nvPr/>
        </p:nvSpPr>
        <p:spPr>
          <a:xfrm>
            <a:off x="6217920" y="1783080"/>
            <a:ext cx="2651760" cy="2011680"/>
          </a:xfrm>
          <a:prstGeom prst="rect">
            <a:avLst/>
          </a:prstGeom>
          <a:solidFill>
            <a:srgbClr val="F4F4F4"/>
          </a:solidFill>
          <a:ln w="12700">
            <a:solidFill>
              <a:srgbClr val="DDDDDD"/>
            </a:solidFill>
            <a:prstDash val="solid"/>
          </a:ln>
        </p:spPr>
        <p:txBody>
          <a:bodyPr/>
          <a:lstStyle/>
          <a:p>
            <a:endParaRPr lang="en-CA"/>
          </a:p>
        </p:txBody>
      </p:sp>
      <p:sp>
        <p:nvSpPr>
          <p:cNvPr id="21" name="Text 19"/>
          <p:cNvSpPr/>
          <p:nvPr/>
        </p:nvSpPr>
        <p:spPr>
          <a:xfrm>
            <a:off x="6309360" y="1828800"/>
            <a:ext cx="2468880" cy="1920240"/>
          </a:xfrm>
          <a:prstGeom prst="rect">
            <a:avLst/>
          </a:prstGeom>
          <a:noFill/>
          <a:ln/>
        </p:spPr>
        <p:txBody>
          <a:bodyPr wrap="square" rtlCol="0" anchor="ctr"/>
          <a:lstStyle/>
          <a:p>
            <a:pPr marL="0" indent="0" algn="ctr">
              <a:lnSpc>
                <a:spcPct val="140000"/>
              </a:lnSpc>
              <a:buNone/>
            </a:pPr>
            <a:r>
              <a:rPr lang="en-US" sz="1300" dirty="0">
                <a:solidFill>
                  <a:srgbClr val="1E1E1E"/>
                </a:solidFill>
              </a:rPr>
              <a:t>200 tasks online</a:t>
            </a:r>
            <a:endParaRPr lang="en-US" sz="1300" dirty="0"/>
          </a:p>
          <a:p>
            <a:pPr marL="0" indent="0" algn="ctr">
              <a:lnSpc>
                <a:spcPct val="140000"/>
              </a:lnSpc>
              <a:buNone/>
            </a:pPr>
            <a:r>
              <a:rPr lang="en-US" sz="1300" dirty="0">
                <a:solidFill>
                  <a:srgbClr val="1E1E1E"/>
                </a:solidFill>
              </a:rPr>
              <a:t>Language-conditioned</a:t>
            </a:r>
            <a:endParaRPr lang="en-US" sz="1300" dirty="0"/>
          </a:p>
          <a:p>
            <a:pPr marL="0" indent="0" algn="ctr">
              <a:lnSpc>
                <a:spcPct val="140000"/>
              </a:lnSpc>
              <a:buNone/>
            </a:pPr>
            <a:r>
              <a:rPr lang="en-US" sz="1300" dirty="0">
                <a:solidFill>
                  <a:srgbClr val="1E1E1E"/>
                </a:solidFill>
              </a:rPr>
              <a:t>Demo pretraining</a:t>
            </a:r>
            <a:endParaRPr lang="en-US" sz="1300" dirty="0"/>
          </a:p>
          <a:p>
            <a:pPr marL="0" indent="0" algn="ctr">
              <a:lnSpc>
                <a:spcPct val="140000"/>
              </a:lnSpc>
              <a:buNone/>
            </a:pPr>
            <a:r>
              <a:rPr lang="en-US" sz="1300" dirty="0">
                <a:solidFill>
                  <a:srgbClr val="1E1E1E"/>
                </a:solidFill>
              </a:rPr>
              <a:t>+ online RL</a:t>
            </a:r>
            <a:endParaRPr lang="en-US" sz="1300" dirty="0"/>
          </a:p>
        </p:txBody>
      </p:sp>
      <p:sp>
        <p:nvSpPr>
          <p:cNvPr id="22" name="Text 20"/>
          <p:cNvSpPr/>
          <p:nvPr/>
        </p:nvSpPr>
        <p:spPr>
          <a:xfrm>
            <a:off x="457200" y="4069080"/>
            <a:ext cx="8229600" cy="502920"/>
          </a:xfrm>
          <a:prstGeom prst="rect">
            <a:avLst/>
          </a:prstGeom>
          <a:solidFill>
            <a:srgbClr val="FFF0F3"/>
          </a:solidFill>
          <a:ln/>
        </p:spPr>
        <p:txBody>
          <a:bodyPr wrap="square" rtlCol="0" anchor="ctr"/>
          <a:lstStyle/>
          <a:p>
            <a:pPr marL="0" indent="0" algn="ctr">
              <a:buNone/>
            </a:pPr>
            <a:r>
              <a:rPr lang="en-US" sz="1300" i="1" dirty="0">
                <a:solidFill>
                  <a:srgbClr val="8F0024"/>
                </a:solidFill>
              </a:rPr>
              <a:t>This paper = Newt + MMBench: scaling online RL to 200 tasks for the first time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FFFFFF"/>
          </a:solidFill>
          <a:ln w="12700">
            <a:solidFill>
              <a:srgbClr val="FFFFFF"/>
            </a:solidFill>
            <a:prstDash val="solid"/>
          </a:ln>
        </p:spPr>
        <p:txBody>
          <a:bodyPr/>
          <a:lstStyle/>
          <a:p>
            <a:endParaRPr lang="en-CA"/>
          </a:p>
        </p:txBody>
      </p:sp>
      <p:sp>
        <p:nvSpPr>
          <p:cNvPr id="3" name="Text 1"/>
          <p:cNvSpPr/>
          <p:nvPr/>
        </p:nvSpPr>
        <p:spPr>
          <a:xfrm>
            <a:off x="164592" y="0"/>
            <a:ext cx="5486400" cy="411480"/>
          </a:xfrm>
          <a:prstGeom prst="rect">
            <a:avLst/>
          </a:prstGeom>
          <a:noFill/>
          <a:ln/>
        </p:spPr>
        <p:txBody>
          <a:bodyPr wrap="square" lIns="0" tIns="0" rIns="0" bIns="0" rtlCol="0" anchor="ctr"/>
          <a:lstStyle/>
          <a:p>
            <a:pPr marL="0" indent="0">
              <a:buNone/>
            </a:pPr>
            <a:r>
              <a:rPr lang="en-US" sz="900" dirty="0">
                <a:solidFill>
                  <a:srgbClr val="1E1E1E"/>
                </a:solidFill>
              </a:rPr>
              <a:t>Université d'Ottawa   |   University of Ottawa</a:t>
            </a:r>
            <a:endParaRPr lang="en-US" sz="900" dirty="0"/>
          </a:p>
        </p:txBody>
      </p:sp>
      <p:sp>
        <p:nvSpPr>
          <p:cNvPr id="4" name="Text 2"/>
          <p:cNvSpPr/>
          <p:nvPr/>
        </p:nvSpPr>
        <p:spPr>
          <a:xfrm>
            <a:off x="347472" y="566928"/>
            <a:ext cx="7589520" cy="502920"/>
          </a:xfrm>
          <a:prstGeom prst="rect">
            <a:avLst/>
          </a:prstGeom>
          <a:noFill/>
          <a:ln/>
        </p:spPr>
        <p:txBody>
          <a:bodyPr wrap="square" lIns="0" tIns="0" rIns="0" bIns="0" rtlCol="0" anchor="ctr"/>
          <a:lstStyle/>
          <a:p>
            <a:pPr marL="0" indent="0">
              <a:buNone/>
            </a:pPr>
            <a:r>
              <a:rPr lang="en-US" sz="2600" b="1" dirty="0">
                <a:solidFill>
                  <a:srgbClr val="8F0024"/>
                </a:solidFill>
              </a:rPr>
              <a:t>Paper Contributions</a:t>
            </a:r>
            <a:endParaRPr lang="en-US" sz="2600" dirty="0"/>
          </a:p>
        </p:txBody>
      </p:sp>
      <p:sp>
        <p:nvSpPr>
          <p:cNvPr id="5" name="Shape 3"/>
          <p:cNvSpPr/>
          <p:nvPr/>
        </p:nvSpPr>
        <p:spPr>
          <a:xfrm>
            <a:off x="347472" y="1115568"/>
            <a:ext cx="8229600" cy="0"/>
          </a:xfrm>
          <a:prstGeom prst="line">
            <a:avLst/>
          </a:prstGeom>
          <a:noFill/>
          <a:ln w="8890">
            <a:solidFill>
              <a:srgbClr val="CCCCCC"/>
            </a:solidFill>
            <a:prstDash val="solid"/>
          </a:ln>
        </p:spPr>
        <p:txBody>
          <a:bodyPr/>
          <a:lstStyle/>
          <a:p>
            <a:endParaRPr lang="en-CA"/>
          </a:p>
        </p:txBody>
      </p:sp>
      <p:sp>
        <p:nvSpPr>
          <p:cNvPr id="6" name="Text 4"/>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rPr>
              <a:t>uOttawa</a:t>
            </a:r>
            <a:endParaRPr lang="en-US" sz="1300" dirty="0"/>
          </a:p>
        </p:txBody>
      </p:sp>
      <p:sp>
        <p:nvSpPr>
          <p:cNvPr id="7" name="Text 5"/>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B6B6B"/>
                </a:solidFill>
              </a:rPr>
              <a:t>6</a:t>
            </a:r>
            <a:endParaRPr lang="en-US" sz="900" dirty="0"/>
          </a:p>
        </p:txBody>
      </p:sp>
      <p:sp>
        <p:nvSpPr>
          <p:cNvPr id="8" name="Shape 6"/>
          <p:cNvSpPr/>
          <p:nvPr/>
        </p:nvSpPr>
        <p:spPr>
          <a:xfrm>
            <a:off x="347472" y="1280160"/>
            <a:ext cx="4160520" cy="1481328"/>
          </a:xfrm>
          <a:prstGeom prst="rect">
            <a:avLst/>
          </a:prstGeom>
          <a:solidFill>
            <a:srgbClr val="F4F4F4"/>
          </a:solidFill>
          <a:ln w="12700">
            <a:solidFill>
              <a:srgbClr val="DDDDDD"/>
            </a:solidFill>
            <a:prstDash val="solid"/>
          </a:ln>
        </p:spPr>
        <p:txBody>
          <a:bodyPr/>
          <a:lstStyle/>
          <a:p>
            <a:endParaRPr lang="en-CA"/>
          </a:p>
        </p:txBody>
      </p:sp>
      <p:sp>
        <p:nvSpPr>
          <p:cNvPr id="9" name="Shape 7"/>
          <p:cNvSpPr/>
          <p:nvPr/>
        </p:nvSpPr>
        <p:spPr>
          <a:xfrm>
            <a:off x="347472" y="1280160"/>
            <a:ext cx="502920" cy="1481328"/>
          </a:xfrm>
          <a:prstGeom prst="rect">
            <a:avLst/>
          </a:prstGeom>
          <a:solidFill>
            <a:srgbClr val="8F0024"/>
          </a:solidFill>
          <a:ln w="12700">
            <a:solidFill>
              <a:srgbClr val="8F0024"/>
            </a:solidFill>
            <a:prstDash val="solid"/>
          </a:ln>
        </p:spPr>
        <p:txBody>
          <a:bodyPr/>
          <a:lstStyle/>
          <a:p>
            <a:endParaRPr lang="en-CA"/>
          </a:p>
        </p:txBody>
      </p:sp>
      <p:sp>
        <p:nvSpPr>
          <p:cNvPr id="10" name="Text 8"/>
          <p:cNvSpPr/>
          <p:nvPr/>
        </p:nvSpPr>
        <p:spPr>
          <a:xfrm>
            <a:off x="347472" y="1280160"/>
            <a:ext cx="502920" cy="1481328"/>
          </a:xfrm>
          <a:prstGeom prst="rect">
            <a:avLst/>
          </a:prstGeom>
          <a:noFill/>
          <a:ln/>
        </p:spPr>
        <p:txBody>
          <a:bodyPr wrap="square" rtlCol="0" anchor="ctr"/>
          <a:lstStyle/>
          <a:p>
            <a:pPr marL="0" indent="0" algn="ctr">
              <a:buNone/>
            </a:pPr>
            <a:r>
              <a:rPr lang="en-US" sz="2000" b="1" dirty="0">
                <a:solidFill>
                  <a:srgbClr val="FFFFFF"/>
                </a:solidFill>
              </a:rPr>
              <a:t>①</a:t>
            </a:r>
            <a:endParaRPr lang="en-US" sz="2000" dirty="0"/>
          </a:p>
        </p:txBody>
      </p:sp>
      <p:sp>
        <p:nvSpPr>
          <p:cNvPr id="11" name="Text 9"/>
          <p:cNvSpPr/>
          <p:nvPr/>
        </p:nvSpPr>
        <p:spPr>
          <a:xfrm>
            <a:off x="941832" y="1371600"/>
            <a:ext cx="3429000" cy="347472"/>
          </a:xfrm>
          <a:prstGeom prst="rect">
            <a:avLst/>
          </a:prstGeom>
          <a:noFill/>
          <a:ln/>
        </p:spPr>
        <p:txBody>
          <a:bodyPr wrap="square" lIns="0" tIns="0" rIns="0" bIns="0" rtlCol="0" anchor="ctr"/>
          <a:lstStyle/>
          <a:p>
            <a:pPr marL="0" indent="0">
              <a:buNone/>
            </a:pPr>
            <a:r>
              <a:rPr lang="en-US" sz="1400" b="1" dirty="0">
                <a:solidFill>
                  <a:srgbClr val="8F0024"/>
                </a:solidFill>
              </a:rPr>
              <a:t>MMBench</a:t>
            </a:r>
            <a:endParaRPr lang="en-US" sz="1400" dirty="0"/>
          </a:p>
        </p:txBody>
      </p:sp>
      <p:sp>
        <p:nvSpPr>
          <p:cNvPr id="12" name="Text 10"/>
          <p:cNvSpPr/>
          <p:nvPr/>
        </p:nvSpPr>
        <p:spPr>
          <a:xfrm>
            <a:off x="941832" y="1719072"/>
            <a:ext cx="3429000" cy="960120"/>
          </a:xfrm>
          <a:prstGeom prst="rect">
            <a:avLst/>
          </a:prstGeom>
          <a:noFill/>
          <a:ln/>
        </p:spPr>
        <p:txBody>
          <a:bodyPr wrap="square" rtlCol="0" anchor="ctr"/>
          <a:lstStyle/>
          <a:p>
            <a:pPr marL="0" indent="0">
              <a:lnSpc>
                <a:spcPct val="130000"/>
              </a:lnSpc>
              <a:buNone/>
            </a:pPr>
            <a:r>
              <a:rPr lang="en-US" sz="1150" dirty="0">
                <a:solidFill>
                  <a:srgbClr val="1E1E1E"/>
                </a:solidFill>
              </a:rPr>
              <a:t>First benchmark for massively multitask online RL</a:t>
            </a:r>
            <a:endParaRPr lang="en-US" sz="1150" dirty="0"/>
          </a:p>
          <a:p>
            <a:pPr marL="0" indent="0">
              <a:lnSpc>
                <a:spcPct val="130000"/>
              </a:lnSpc>
              <a:buNone/>
            </a:pPr>
            <a:r>
              <a:rPr lang="en-US" sz="1150" dirty="0">
                <a:solidFill>
                  <a:srgbClr val="1E1E1E"/>
                </a:solidFill>
              </a:rPr>
              <a:t>200 tasks · 10 domains · language instructions · demos · optional images</a:t>
            </a:r>
            <a:endParaRPr lang="en-US" sz="1150" dirty="0"/>
          </a:p>
        </p:txBody>
      </p:sp>
      <p:sp>
        <p:nvSpPr>
          <p:cNvPr id="13" name="Shape 11"/>
          <p:cNvSpPr/>
          <p:nvPr/>
        </p:nvSpPr>
        <p:spPr>
          <a:xfrm>
            <a:off x="4782312" y="1280160"/>
            <a:ext cx="4160520" cy="1481328"/>
          </a:xfrm>
          <a:prstGeom prst="rect">
            <a:avLst/>
          </a:prstGeom>
          <a:solidFill>
            <a:srgbClr val="F4F4F4"/>
          </a:solidFill>
          <a:ln w="12700">
            <a:solidFill>
              <a:srgbClr val="DDDDDD"/>
            </a:solidFill>
            <a:prstDash val="solid"/>
          </a:ln>
        </p:spPr>
        <p:txBody>
          <a:bodyPr/>
          <a:lstStyle/>
          <a:p>
            <a:endParaRPr lang="en-CA"/>
          </a:p>
        </p:txBody>
      </p:sp>
      <p:sp>
        <p:nvSpPr>
          <p:cNvPr id="14" name="Shape 12"/>
          <p:cNvSpPr/>
          <p:nvPr/>
        </p:nvSpPr>
        <p:spPr>
          <a:xfrm>
            <a:off x="4782312" y="1280160"/>
            <a:ext cx="502920" cy="1481328"/>
          </a:xfrm>
          <a:prstGeom prst="rect">
            <a:avLst/>
          </a:prstGeom>
          <a:solidFill>
            <a:srgbClr val="8F0024"/>
          </a:solidFill>
          <a:ln w="12700">
            <a:solidFill>
              <a:srgbClr val="8F0024"/>
            </a:solidFill>
            <a:prstDash val="solid"/>
          </a:ln>
        </p:spPr>
        <p:txBody>
          <a:bodyPr/>
          <a:lstStyle/>
          <a:p>
            <a:endParaRPr lang="en-CA"/>
          </a:p>
        </p:txBody>
      </p:sp>
      <p:sp>
        <p:nvSpPr>
          <p:cNvPr id="15" name="Text 13"/>
          <p:cNvSpPr/>
          <p:nvPr/>
        </p:nvSpPr>
        <p:spPr>
          <a:xfrm>
            <a:off x="4782312" y="1280160"/>
            <a:ext cx="502920" cy="1481328"/>
          </a:xfrm>
          <a:prstGeom prst="rect">
            <a:avLst/>
          </a:prstGeom>
          <a:noFill/>
          <a:ln/>
        </p:spPr>
        <p:txBody>
          <a:bodyPr wrap="square" rtlCol="0" anchor="ctr"/>
          <a:lstStyle/>
          <a:p>
            <a:pPr marL="0" indent="0" algn="ctr">
              <a:buNone/>
            </a:pPr>
            <a:r>
              <a:rPr lang="en-US" sz="2000" b="1" dirty="0">
                <a:solidFill>
                  <a:srgbClr val="FFFFFF"/>
                </a:solidFill>
              </a:rPr>
              <a:t>②</a:t>
            </a:r>
            <a:endParaRPr lang="en-US" sz="2000" dirty="0"/>
          </a:p>
        </p:txBody>
      </p:sp>
      <p:sp>
        <p:nvSpPr>
          <p:cNvPr id="16" name="Text 14"/>
          <p:cNvSpPr/>
          <p:nvPr/>
        </p:nvSpPr>
        <p:spPr>
          <a:xfrm>
            <a:off x="5376672" y="1371600"/>
            <a:ext cx="3429000" cy="347472"/>
          </a:xfrm>
          <a:prstGeom prst="rect">
            <a:avLst/>
          </a:prstGeom>
          <a:noFill/>
          <a:ln/>
        </p:spPr>
        <p:txBody>
          <a:bodyPr wrap="square" lIns="0" tIns="0" rIns="0" bIns="0" rtlCol="0" anchor="ctr"/>
          <a:lstStyle/>
          <a:p>
            <a:pPr marL="0" indent="0">
              <a:buNone/>
            </a:pPr>
            <a:r>
              <a:rPr lang="en-US" sz="1400" b="1" dirty="0">
                <a:solidFill>
                  <a:srgbClr val="8F0024"/>
                </a:solidFill>
              </a:rPr>
              <a:t>Newt Agent</a:t>
            </a:r>
            <a:endParaRPr lang="en-US" sz="1400" dirty="0"/>
          </a:p>
        </p:txBody>
      </p:sp>
      <p:sp>
        <p:nvSpPr>
          <p:cNvPr id="17" name="Text 15"/>
          <p:cNvSpPr/>
          <p:nvPr/>
        </p:nvSpPr>
        <p:spPr>
          <a:xfrm>
            <a:off x="5376672" y="1719072"/>
            <a:ext cx="3429000" cy="960120"/>
          </a:xfrm>
          <a:prstGeom prst="rect">
            <a:avLst/>
          </a:prstGeom>
          <a:noFill/>
          <a:ln/>
        </p:spPr>
        <p:txBody>
          <a:bodyPr wrap="square" rtlCol="0" anchor="ctr"/>
          <a:lstStyle/>
          <a:p>
            <a:pPr marL="0" indent="0">
              <a:lnSpc>
                <a:spcPct val="130000"/>
              </a:lnSpc>
              <a:buNone/>
            </a:pPr>
            <a:r>
              <a:rPr lang="en-US" sz="1150" dirty="0">
                <a:solidFill>
                  <a:srgbClr val="1E1E1E"/>
                </a:solidFill>
              </a:rPr>
              <a:t>Language-conditioned world model based on TD-MPC2</a:t>
            </a:r>
            <a:endParaRPr lang="en-US" sz="1150" dirty="0"/>
          </a:p>
          <a:p>
            <a:pPr marL="0" indent="0">
              <a:lnSpc>
                <a:spcPct val="130000"/>
              </a:lnSpc>
              <a:buNone/>
            </a:pPr>
            <a:r>
              <a:rPr lang="en-US" sz="1150" dirty="0">
                <a:solidFill>
                  <a:srgbClr val="1E1E1E"/>
                </a:solidFill>
              </a:rPr>
              <a:t>Pretrained on demos → jointly optimized with online RL across all tasks</a:t>
            </a:r>
            <a:endParaRPr lang="en-US" sz="1150" dirty="0"/>
          </a:p>
        </p:txBody>
      </p:sp>
      <p:sp>
        <p:nvSpPr>
          <p:cNvPr id="18" name="Shape 16"/>
          <p:cNvSpPr/>
          <p:nvPr/>
        </p:nvSpPr>
        <p:spPr>
          <a:xfrm>
            <a:off x="347472" y="2971800"/>
            <a:ext cx="4160520" cy="1481328"/>
          </a:xfrm>
          <a:prstGeom prst="rect">
            <a:avLst/>
          </a:prstGeom>
          <a:solidFill>
            <a:srgbClr val="F4F4F4"/>
          </a:solidFill>
          <a:ln w="12700">
            <a:solidFill>
              <a:srgbClr val="DDDDDD"/>
            </a:solidFill>
            <a:prstDash val="solid"/>
          </a:ln>
        </p:spPr>
        <p:txBody>
          <a:bodyPr/>
          <a:lstStyle/>
          <a:p>
            <a:endParaRPr lang="en-CA"/>
          </a:p>
        </p:txBody>
      </p:sp>
      <p:sp>
        <p:nvSpPr>
          <p:cNvPr id="19" name="Shape 17"/>
          <p:cNvSpPr/>
          <p:nvPr/>
        </p:nvSpPr>
        <p:spPr>
          <a:xfrm>
            <a:off x="347472" y="2971800"/>
            <a:ext cx="502920" cy="1481328"/>
          </a:xfrm>
          <a:prstGeom prst="rect">
            <a:avLst/>
          </a:prstGeom>
          <a:solidFill>
            <a:srgbClr val="8F0024"/>
          </a:solidFill>
          <a:ln w="12700">
            <a:solidFill>
              <a:srgbClr val="8F0024"/>
            </a:solidFill>
            <a:prstDash val="solid"/>
          </a:ln>
        </p:spPr>
        <p:txBody>
          <a:bodyPr/>
          <a:lstStyle/>
          <a:p>
            <a:endParaRPr lang="en-CA"/>
          </a:p>
        </p:txBody>
      </p:sp>
      <p:sp>
        <p:nvSpPr>
          <p:cNvPr id="20" name="Text 18"/>
          <p:cNvSpPr/>
          <p:nvPr/>
        </p:nvSpPr>
        <p:spPr>
          <a:xfrm>
            <a:off x="347472" y="2971800"/>
            <a:ext cx="502920" cy="1481328"/>
          </a:xfrm>
          <a:prstGeom prst="rect">
            <a:avLst/>
          </a:prstGeom>
          <a:noFill/>
          <a:ln/>
        </p:spPr>
        <p:txBody>
          <a:bodyPr wrap="square" rtlCol="0" anchor="ctr"/>
          <a:lstStyle/>
          <a:p>
            <a:pPr marL="0" indent="0" algn="ctr">
              <a:buNone/>
            </a:pPr>
            <a:r>
              <a:rPr lang="en-US" sz="2000" b="1" dirty="0">
                <a:solidFill>
                  <a:srgbClr val="FFFFFF"/>
                </a:solidFill>
              </a:rPr>
              <a:t>③</a:t>
            </a:r>
            <a:endParaRPr lang="en-US" sz="2000" dirty="0"/>
          </a:p>
        </p:txBody>
      </p:sp>
      <p:sp>
        <p:nvSpPr>
          <p:cNvPr id="21" name="Text 19"/>
          <p:cNvSpPr/>
          <p:nvPr/>
        </p:nvSpPr>
        <p:spPr>
          <a:xfrm>
            <a:off x="941832" y="3063240"/>
            <a:ext cx="3429000" cy="347472"/>
          </a:xfrm>
          <a:prstGeom prst="rect">
            <a:avLst/>
          </a:prstGeom>
          <a:noFill/>
          <a:ln/>
        </p:spPr>
        <p:txBody>
          <a:bodyPr wrap="square" lIns="0" tIns="0" rIns="0" bIns="0" rtlCol="0" anchor="ctr"/>
          <a:lstStyle/>
          <a:p>
            <a:pPr marL="0" indent="0">
              <a:buNone/>
            </a:pPr>
            <a:r>
              <a:rPr lang="en-US" sz="1400" b="1" dirty="0">
                <a:solidFill>
                  <a:srgbClr val="8F0024"/>
                </a:solidFill>
              </a:rPr>
              <a:t>Scalable Online RL</a:t>
            </a:r>
            <a:endParaRPr lang="en-US" sz="1400" dirty="0"/>
          </a:p>
        </p:txBody>
      </p:sp>
      <p:sp>
        <p:nvSpPr>
          <p:cNvPr id="22" name="Text 20"/>
          <p:cNvSpPr/>
          <p:nvPr/>
        </p:nvSpPr>
        <p:spPr>
          <a:xfrm>
            <a:off x="941832" y="3410712"/>
            <a:ext cx="3429000" cy="960120"/>
          </a:xfrm>
          <a:prstGeom prst="rect">
            <a:avLst/>
          </a:prstGeom>
          <a:noFill/>
          <a:ln/>
        </p:spPr>
        <p:txBody>
          <a:bodyPr wrap="square" rtlCol="0" anchor="ctr"/>
          <a:lstStyle/>
          <a:p>
            <a:pPr marL="0" indent="0">
              <a:lnSpc>
                <a:spcPct val="130000"/>
              </a:lnSpc>
              <a:buNone/>
            </a:pPr>
            <a:r>
              <a:rPr lang="en-US" sz="1150" dirty="0">
                <a:solidFill>
                  <a:srgbClr val="1E1E1E"/>
                </a:solidFill>
              </a:rPr>
              <a:t>Demonstrates online RL can scale to continuous control</a:t>
            </a:r>
            <a:endParaRPr lang="en-US" sz="1150" dirty="0"/>
          </a:p>
          <a:p>
            <a:pPr marL="0" indent="0">
              <a:lnSpc>
                <a:spcPct val="130000"/>
              </a:lnSpc>
              <a:buNone/>
            </a:pPr>
            <a:r>
              <a:rPr lang="en-US" sz="1150" dirty="0">
                <a:solidFill>
                  <a:srgbClr val="1E1E1E"/>
                </a:solidFill>
              </a:rPr>
              <a:t>Outperforms BC, PPO, FastTD3 — enables few-shot adaptation to new tasks</a:t>
            </a:r>
            <a:endParaRPr lang="en-US" sz="1150" dirty="0"/>
          </a:p>
        </p:txBody>
      </p:sp>
      <p:sp>
        <p:nvSpPr>
          <p:cNvPr id="23" name="Shape 21"/>
          <p:cNvSpPr/>
          <p:nvPr/>
        </p:nvSpPr>
        <p:spPr>
          <a:xfrm>
            <a:off x="4782312" y="2971800"/>
            <a:ext cx="4160520" cy="1481328"/>
          </a:xfrm>
          <a:prstGeom prst="rect">
            <a:avLst/>
          </a:prstGeom>
          <a:solidFill>
            <a:srgbClr val="F4F4F4"/>
          </a:solidFill>
          <a:ln w="12700">
            <a:solidFill>
              <a:srgbClr val="DDDDDD"/>
            </a:solidFill>
            <a:prstDash val="solid"/>
          </a:ln>
        </p:spPr>
        <p:txBody>
          <a:bodyPr/>
          <a:lstStyle/>
          <a:p>
            <a:endParaRPr lang="en-CA"/>
          </a:p>
        </p:txBody>
      </p:sp>
      <p:sp>
        <p:nvSpPr>
          <p:cNvPr id="24" name="Shape 22"/>
          <p:cNvSpPr/>
          <p:nvPr/>
        </p:nvSpPr>
        <p:spPr>
          <a:xfrm>
            <a:off x="4782312" y="2971800"/>
            <a:ext cx="502920" cy="1481328"/>
          </a:xfrm>
          <a:prstGeom prst="rect">
            <a:avLst/>
          </a:prstGeom>
          <a:solidFill>
            <a:srgbClr val="8F0024"/>
          </a:solidFill>
          <a:ln w="12700">
            <a:solidFill>
              <a:srgbClr val="8F0024"/>
            </a:solidFill>
            <a:prstDash val="solid"/>
          </a:ln>
        </p:spPr>
        <p:txBody>
          <a:bodyPr/>
          <a:lstStyle/>
          <a:p>
            <a:endParaRPr lang="en-CA"/>
          </a:p>
        </p:txBody>
      </p:sp>
      <p:sp>
        <p:nvSpPr>
          <p:cNvPr id="25" name="Text 23"/>
          <p:cNvSpPr/>
          <p:nvPr/>
        </p:nvSpPr>
        <p:spPr>
          <a:xfrm>
            <a:off x="4782312" y="2971800"/>
            <a:ext cx="502920" cy="1481328"/>
          </a:xfrm>
          <a:prstGeom prst="rect">
            <a:avLst/>
          </a:prstGeom>
          <a:noFill/>
          <a:ln/>
        </p:spPr>
        <p:txBody>
          <a:bodyPr wrap="square" rtlCol="0" anchor="ctr"/>
          <a:lstStyle/>
          <a:p>
            <a:pPr marL="0" indent="0" algn="ctr">
              <a:buNone/>
            </a:pPr>
            <a:r>
              <a:rPr lang="en-US" sz="2000" b="1" dirty="0">
                <a:solidFill>
                  <a:srgbClr val="FFFFFF"/>
                </a:solidFill>
              </a:rPr>
              <a:t>④</a:t>
            </a:r>
            <a:endParaRPr lang="en-US" sz="2000" dirty="0"/>
          </a:p>
        </p:txBody>
      </p:sp>
      <p:sp>
        <p:nvSpPr>
          <p:cNvPr id="26" name="Text 24"/>
          <p:cNvSpPr/>
          <p:nvPr/>
        </p:nvSpPr>
        <p:spPr>
          <a:xfrm>
            <a:off x="5376672" y="3063240"/>
            <a:ext cx="3429000" cy="347472"/>
          </a:xfrm>
          <a:prstGeom prst="rect">
            <a:avLst/>
          </a:prstGeom>
          <a:noFill/>
          <a:ln/>
        </p:spPr>
        <p:txBody>
          <a:bodyPr wrap="square" lIns="0" tIns="0" rIns="0" bIns="0" rtlCol="0" anchor="ctr"/>
          <a:lstStyle/>
          <a:p>
            <a:pPr marL="0" indent="0">
              <a:buNone/>
            </a:pPr>
            <a:r>
              <a:rPr lang="en-US" sz="1400" b="1" dirty="0">
                <a:solidFill>
                  <a:srgbClr val="8F0024"/>
                </a:solidFill>
              </a:rPr>
              <a:t>Open Release</a:t>
            </a:r>
            <a:endParaRPr lang="en-US" sz="1400" dirty="0"/>
          </a:p>
        </p:txBody>
      </p:sp>
      <p:sp>
        <p:nvSpPr>
          <p:cNvPr id="27" name="Text 25"/>
          <p:cNvSpPr/>
          <p:nvPr/>
        </p:nvSpPr>
        <p:spPr>
          <a:xfrm>
            <a:off x="5376672" y="3410712"/>
            <a:ext cx="3429000" cy="960120"/>
          </a:xfrm>
          <a:prstGeom prst="rect">
            <a:avLst/>
          </a:prstGeom>
          <a:noFill/>
          <a:ln/>
        </p:spPr>
        <p:txBody>
          <a:bodyPr wrap="square" rtlCol="0" anchor="ctr"/>
          <a:lstStyle/>
          <a:p>
            <a:pPr marL="0" indent="0">
              <a:lnSpc>
                <a:spcPct val="130000"/>
              </a:lnSpc>
              <a:buNone/>
            </a:pPr>
            <a:r>
              <a:rPr lang="en-US" sz="1150" dirty="0">
                <a:solidFill>
                  <a:srgbClr val="1E1E1E"/>
                </a:solidFill>
              </a:rPr>
              <a:t>200+ model checkpoints · environments · demonstrations · training code</a:t>
            </a:r>
            <a:endParaRPr lang="en-US" sz="1150" dirty="0"/>
          </a:p>
          <a:p>
            <a:pPr marL="0" indent="0">
              <a:lnSpc>
                <a:spcPct val="130000"/>
              </a:lnSpc>
              <a:buNone/>
            </a:pPr>
            <a:r>
              <a:rPr lang="en-US" sz="1150" dirty="0">
                <a:solidFill>
                  <a:srgbClr val="1E1E1E"/>
                </a:solidFill>
              </a:rPr>
              <a:t>All released publicly for community benchmarking</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FFFFFF"/>
          </a:solidFill>
          <a:ln w="12700">
            <a:solidFill>
              <a:srgbClr val="FFFFFF"/>
            </a:solidFill>
            <a:prstDash val="solid"/>
          </a:ln>
        </p:spPr>
        <p:txBody>
          <a:bodyPr/>
          <a:lstStyle/>
          <a:p>
            <a:endParaRPr lang="en-CA"/>
          </a:p>
        </p:txBody>
      </p:sp>
      <p:sp>
        <p:nvSpPr>
          <p:cNvPr id="3" name="Text 1"/>
          <p:cNvSpPr/>
          <p:nvPr/>
        </p:nvSpPr>
        <p:spPr>
          <a:xfrm>
            <a:off x="164592" y="0"/>
            <a:ext cx="5486400" cy="411480"/>
          </a:xfrm>
          <a:prstGeom prst="rect">
            <a:avLst/>
          </a:prstGeom>
          <a:noFill/>
          <a:ln/>
        </p:spPr>
        <p:txBody>
          <a:bodyPr wrap="square" lIns="0" tIns="0" rIns="0" bIns="0" rtlCol="0" anchor="ctr"/>
          <a:lstStyle/>
          <a:p>
            <a:pPr marL="0" indent="0">
              <a:buNone/>
            </a:pPr>
            <a:r>
              <a:rPr lang="en-US" sz="900" dirty="0">
                <a:solidFill>
                  <a:srgbClr val="1E1E1E"/>
                </a:solidFill>
              </a:rPr>
              <a:t>Université d'Ottawa   |   University of Ottawa</a:t>
            </a:r>
            <a:endParaRPr lang="en-US" sz="900" dirty="0"/>
          </a:p>
        </p:txBody>
      </p:sp>
      <p:sp>
        <p:nvSpPr>
          <p:cNvPr id="4" name="Text 2"/>
          <p:cNvSpPr/>
          <p:nvPr/>
        </p:nvSpPr>
        <p:spPr>
          <a:xfrm>
            <a:off x="347472" y="566928"/>
            <a:ext cx="7589520" cy="502920"/>
          </a:xfrm>
          <a:prstGeom prst="rect">
            <a:avLst/>
          </a:prstGeom>
          <a:noFill/>
          <a:ln/>
        </p:spPr>
        <p:txBody>
          <a:bodyPr wrap="square" lIns="0" tIns="0" rIns="0" bIns="0" rtlCol="0" anchor="ctr"/>
          <a:lstStyle/>
          <a:p>
            <a:pPr marL="0" indent="0">
              <a:buNone/>
            </a:pPr>
            <a:r>
              <a:rPr lang="en-US" sz="2600" b="1" dirty="0">
                <a:solidFill>
                  <a:srgbClr val="8F0024"/>
                </a:solidFill>
              </a:rPr>
              <a:t>MMBench: A New Benchmark for Massively Multitask RL</a:t>
            </a:r>
            <a:endParaRPr lang="en-US" sz="2600" dirty="0"/>
          </a:p>
        </p:txBody>
      </p:sp>
      <p:sp>
        <p:nvSpPr>
          <p:cNvPr id="5" name="Shape 3"/>
          <p:cNvSpPr/>
          <p:nvPr/>
        </p:nvSpPr>
        <p:spPr>
          <a:xfrm>
            <a:off x="347472" y="1115568"/>
            <a:ext cx="8229600" cy="0"/>
          </a:xfrm>
          <a:prstGeom prst="line">
            <a:avLst/>
          </a:prstGeom>
          <a:noFill/>
          <a:ln w="8890">
            <a:solidFill>
              <a:srgbClr val="CCCCCC"/>
            </a:solidFill>
            <a:prstDash val="solid"/>
          </a:ln>
        </p:spPr>
        <p:txBody>
          <a:bodyPr/>
          <a:lstStyle/>
          <a:p>
            <a:endParaRPr lang="en-CA"/>
          </a:p>
        </p:txBody>
      </p:sp>
      <p:sp>
        <p:nvSpPr>
          <p:cNvPr id="6" name="Text 4"/>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rPr>
              <a:t>uOttawa</a:t>
            </a:r>
            <a:endParaRPr lang="en-US" sz="1300" dirty="0"/>
          </a:p>
        </p:txBody>
      </p:sp>
      <p:sp>
        <p:nvSpPr>
          <p:cNvPr id="7" name="Text 5"/>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B6B6B"/>
                </a:solidFill>
              </a:rPr>
              <a:t>7</a:t>
            </a:r>
            <a:endParaRPr lang="en-US" sz="900" dirty="0"/>
          </a:p>
        </p:txBody>
      </p:sp>
      <p:sp>
        <p:nvSpPr>
          <p:cNvPr id="8" name="Shape 6"/>
          <p:cNvSpPr/>
          <p:nvPr/>
        </p:nvSpPr>
        <p:spPr>
          <a:xfrm>
            <a:off x="347472" y="1234440"/>
            <a:ext cx="1920240" cy="1005840"/>
          </a:xfrm>
          <a:prstGeom prst="rect">
            <a:avLst/>
          </a:prstGeom>
          <a:solidFill>
            <a:srgbClr val="8F0024"/>
          </a:solidFill>
          <a:ln w="12700">
            <a:solidFill>
              <a:srgbClr val="8F0024"/>
            </a:solidFill>
            <a:prstDash val="solid"/>
          </a:ln>
        </p:spPr>
        <p:txBody>
          <a:bodyPr/>
          <a:lstStyle/>
          <a:p>
            <a:endParaRPr lang="en-CA"/>
          </a:p>
        </p:txBody>
      </p:sp>
      <p:sp>
        <p:nvSpPr>
          <p:cNvPr id="9" name="Text 7"/>
          <p:cNvSpPr/>
          <p:nvPr/>
        </p:nvSpPr>
        <p:spPr>
          <a:xfrm>
            <a:off x="347472" y="1234440"/>
            <a:ext cx="1920240" cy="594360"/>
          </a:xfrm>
          <a:prstGeom prst="rect">
            <a:avLst/>
          </a:prstGeom>
          <a:noFill/>
          <a:ln/>
        </p:spPr>
        <p:txBody>
          <a:bodyPr wrap="square" rtlCol="0" anchor="b"/>
          <a:lstStyle/>
          <a:p>
            <a:pPr marL="0" indent="0" algn="ctr">
              <a:buNone/>
            </a:pPr>
            <a:r>
              <a:rPr lang="en-US" sz="3000" b="1" dirty="0">
                <a:solidFill>
                  <a:srgbClr val="FFFFFF"/>
                </a:solidFill>
              </a:rPr>
              <a:t>200</a:t>
            </a:r>
            <a:endParaRPr lang="en-US" sz="3000" dirty="0"/>
          </a:p>
        </p:txBody>
      </p:sp>
      <p:sp>
        <p:nvSpPr>
          <p:cNvPr id="10" name="Text 8"/>
          <p:cNvSpPr/>
          <p:nvPr/>
        </p:nvSpPr>
        <p:spPr>
          <a:xfrm>
            <a:off x="347472" y="1828800"/>
            <a:ext cx="1920240" cy="411480"/>
          </a:xfrm>
          <a:prstGeom prst="rect">
            <a:avLst/>
          </a:prstGeom>
          <a:noFill/>
          <a:ln/>
        </p:spPr>
        <p:txBody>
          <a:bodyPr wrap="square" rtlCol="0" anchor="t"/>
          <a:lstStyle/>
          <a:p>
            <a:pPr marL="0" indent="0" algn="ctr">
              <a:buNone/>
            </a:pPr>
            <a:r>
              <a:rPr lang="en-US" sz="1100" dirty="0">
                <a:solidFill>
                  <a:srgbClr val="FFFFFF"/>
                </a:solidFill>
              </a:rPr>
              <a:t>Diverse Tasks</a:t>
            </a:r>
            <a:endParaRPr lang="en-US" sz="1100" dirty="0"/>
          </a:p>
        </p:txBody>
      </p:sp>
      <p:sp>
        <p:nvSpPr>
          <p:cNvPr id="11" name="Shape 9"/>
          <p:cNvSpPr/>
          <p:nvPr/>
        </p:nvSpPr>
        <p:spPr>
          <a:xfrm>
            <a:off x="2496312" y="1234440"/>
            <a:ext cx="1920240" cy="1005840"/>
          </a:xfrm>
          <a:prstGeom prst="rect">
            <a:avLst/>
          </a:prstGeom>
          <a:solidFill>
            <a:srgbClr val="8F0024"/>
          </a:solidFill>
          <a:ln w="12700">
            <a:solidFill>
              <a:srgbClr val="8F0024"/>
            </a:solidFill>
            <a:prstDash val="solid"/>
          </a:ln>
        </p:spPr>
        <p:txBody>
          <a:bodyPr/>
          <a:lstStyle/>
          <a:p>
            <a:endParaRPr lang="en-CA"/>
          </a:p>
        </p:txBody>
      </p:sp>
      <p:sp>
        <p:nvSpPr>
          <p:cNvPr id="12" name="Text 10"/>
          <p:cNvSpPr/>
          <p:nvPr/>
        </p:nvSpPr>
        <p:spPr>
          <a:xfrm>
            <a:off x="2496312" y="1234440"/>
            <a:ext cx="1920240" cy="594360"/>
          </a:xfrm>
          <a:prstGeom prst="rect">
            <a:avLst/>
          </a:prstGeom>
          <a:noFill/>
          <a:ln/>
        </p:spPr>
        <p:txBody>
          <a:bodyPr wrap="square" rtlCol="0" anchor="b"/>
          <a:lstStyle/>
          <a:p>
            <a:pPr marL="0" indent="0" algn="ctr">
              <a:buNone/>
            </a:pPr>
            <a:r>
              <a:rPr lang="en-US" sz="3000" b="1" dirty="0">
                <a:solidFill>
                  <a:srgbClr val="FFFFFF"/>
                </a:solidFill>
              </a:rPr>
              <a:t>10</a:t>
            </a:r>
            <a:endParaRPr lang="en-US" sz="3000" dirty="0"/>
          </a:p>
        </p:txBody>
      </p:sp>
      <p:sp>
        <p:nvSpPr>
          <p:cNvPr id="13" name="Text 11"/>
          <p:cNvSpPr/>
          <p:nvPr/>
        </p:nvSpPr>
        <p:spPr>
          <a:xfrm>
            <a:off x="2496312" y="1828800"/>
            <a:ext cx="1920240" cy="411480"/>
          </a:xfrm>
          <a:prstGeom prst="rect">
            <a:avLst/>
          </a:prstGeom>
          <a:noFill/>
          <a:ln/>
        </p:spPr>
        <p:txBody>
          <a:bodyPr wrap="square" rtlCol="0" anchor="t"/>
          <a:lstStyle/>
          <a:p>
            <a:pPr marL="0" indent="0" algn="ctr">
              <a:buNone/>
            </a:pPr>
            <a:r>
              <a:rPr lang="en-US" sz="1100" dirty="0">
                <a:solidFill>
                  <a:srgbClr val="FFFFFF"/>
                </a:solidFill>
              </a:rPr>
              <a:t>Task Domains</a:t>
            </a:r>
            <a:endParaRPr lang="en-US" sz="1100" dirty="0"/>
          </a:p>
        </p:txBody>
      </p:sp>
      <p:sp>
        <p:nvSpPr>
          <p:cNvPr id="14" name="Shape 12"/>
          <p:cNvSpPr/>
          <p:nvPr/>
        </p:nvSpPr>
        <p:spPr>
          <a:xfrm>
            <a:off x="4645152" y="1234440"/>
            <a:ext cx="1920240" cy="1005840"/>
          </a:xfrm>
          <a:prstGeom prst="rect">
            <a:avLst/>
          </a:prstGeom>
          <a:solidFill>
            <a:srgbClr val="8F0024"/>
          </a:solidFill>
          <a:ln w="12700">
            <a:solidFill>
              <a:srgbClr val="8F0024"/>
            </a:solidFill>
            <a:prstDash val="solid"/>
          </a:ln>
        </p:spPr>
        <p:txBody>
          <a:bodyPr/>
          <a:lstStyle/>
          <a:p>
            <a:endParaRPr lang="en-CA"/>
          </a:p>
        </p:txBody>
      </p:sp>
      <p:sp>
        <p:nvSpPr>
          <p:cNvPr id="15" name="Text 13"/>
          <p:cNvSpPr/>
          <p:nvPr/>
        </p:nvSpPr>
        <p:spPr>
          <a:xfrm>
            <a:off x="4645152" y="1234440"/>
            <a:ext cx="1920240" cy="594360"/>
          </a:xfrm>
          <a:prstGeom prst="rect">
            <a:avLst/>
          </a:prstGeom>
          <a:noFill/>
          <a:ln/>
        </p:spPr>
        <p:txBody>
          <a:bodyPr wrap="square" rtlCol="0" anchor="b"/>
          <a:lstStyle/>
          <a:p>
            <a:pPr marL="0" indent="0" algn="ctr">
              <a:buNone/>
            </a:pPr>
            <a:r>
              <a:rPr lang="en-US" sz="3000" b="1" dirty="0">
                <a:solidFill>
                  <a:srgbClr val="FFFFFF"/>
                </a:solidFill>
              </a:rPr>
              <a:t>41</a:t>
            </a:r>
            <a:endParaRPr lang="en-US" sz="3000" dirty="0"/>
          </a:p>
        </p:txBody>
      </p:sp>
      <p:sp>
        <p:nvSpPr>
          <p:cNvPr id="16" name="Text 14"/>
          <p:cNvSpPr/>
          <p:nvPr/>
        </p:nvSpPr>
        <p:spPr>
          <a:xfrm>
            <a:off x="4645152" y="1828800"/>
            <a:ext cx="1920240" cy="411480"/>
          </a:xfrm>
          <a:prstGeom prst="rect">
            <a:avLst/>
          </a:prstGeom>
          <a:noFill/>
          <a:ln/>
        </p:spPr>
        <p:txBody>
          <a:bodyPr wrap="square" rtlCol="0" anchor="t"/>
          <a:lstStyle/>
          <a:p>
            <a:pPr marL="0" indent="0" algn="ctr">
              <a:buNone/>
            </a:pPr>
            <a:r>
              <a:rPr lang="en-US" sz="1100" dirty="0">
                <a:solidFill>
                  <a:srgbClr val="FFFFFF"/>
                </a:solidFill>
              </a:rPr>
              <a:t>New Tasks</a:t>
            </a:r>
            <a:endParaRPr lang="en-US" sz="1100" dirty="0"/>
          </a:p>
        </p:txBody>
      </p:sp>
      <p:sp>
        <p:nvSpPr>
          <p:cNvPr id="17" name="Shape 15"/>
          <p:cNvSpPr/>
          <p:nvPr/>
        </p:nvSpPr>
        <p:spPr>
          <a:xfrm>
            <a:off x="6793992" y="1234440"/>
            <a:ext cx="1920240" cy="1005840"/>
          </a:xfrm>
          <a:prstGeom prst="rect">
            <a:avLst/>
          </a:prstGeom>
          <a:solidFill>
            <a:srgbClr val="8F0024"/>
          </a:solidFill>
          <a:ln w="12700">
            <a:solidFill>
              <a:srgbClr val="8F0024"/>
            </a:solidFill>
            <a:prstDash val="solid"/>
          </a:ln>
        </p:spPr>
        <p:txBody>
          <a:bodyPr/>
          <a:lstStyle/>
          <a:p>
            <a:endParaRPr lang="en-CA"/>
          </a:p>
        </p:txBody>
      </p:sp>
      <p:sp>
        <p:nvSpPr>
          <p:cNvPr id="18" name="Text 16"/>
          <p:cNvSpPr/>
          <p:nvPr/>
        </p:nvSpPr>
        <p:spPr>
          <a:xfrm>
            <a:off x="6793992" y="1234440"/>
            <a:ext cx="1920240" cy="594360"/>
          </a:xfrm>
          <a:prstGeom prst="rect">
            <a:avLst/>
          </a:prstGeom>
          <a:noFill/>
          <a:ln/>
        </p:spPr>
        <p:txBody>
          <a:bodyPr wrap="square" rtlCol="0" anchor="b"/>
          <a:lstStyle/>
          <a:p>
            <a:pPr marL="0" indent="0" algn="ctr">
              <a:buNone/>
            </a:pPr>
            <a:r>
              <a:rPr lang="en-US" sz="3000" b="1" dirty="0">
                <a:solidFill>
                  <a:srgbClr val="FFFFFF"/>
                </a:solidFill>
              </a:rPr>
              <a:t>∞</a:t>
            </a:r>
            <a:endParaRPr lang="en-US" sz="3000" dirty="0"/>
          </a:p>
        </p:txBody>
      </p:sp>
      <p:sp>
        <p:nvSpPr>
          <p:cNvPr id="19" name="Text 17"/>
          <p:cNvSpPr/>
          <p:nvPr/>
        </p:nvSpPr>
        <p:spPr>
          <a:xfrm>
            <a:off x="6793992" y="1828800"/>
            <a:ext cx="1920240" cy="411480"/>
          </a:xfrm>
          <a:prstGeom prst="rect">
            <a:avLst/>
          </a:prstGeom>
          <a:noFill/>
          <a:ln/>
        </p:spPr>
        <p:txBody>
          <a:bodyPr wrap="square" rtlCol="0" anchor="t"/>
          <a:lstStyle/>
          <a:p>
            <a:pPr marL="0" indent="0" algn="ctr">
              <a:buNone/>
            </a:pPr>
            <a:r>
              <a:rPr lang="en-US" sz="1100" dirty="0">
                <a:solidFill>
                  <a:srgbClr val="FFFFFF"/>
                </a:solidFill>
              </a:rPr>
              <a:t>Online RL</a:t>
            </a:r>
            <a:endParaRPr lang="en-US" sz="1100" dirty="0"/>
          </a:p>
        </p:txBody>
      </p:sp>
      <p:sp>
        <p:nvSpPr>
          <p:cNvPr id="20" name="Text 18"/>
          <p:cNvSpPr/>
          <p:nvPr/>
        </p:nvSpPr>
        <p:spPr>
          <a:xfrm>
            <a:off x="347472" y="2423160"/>
            <a:ext cx="4114800" cy="320040"/>
          </a:xfrm>
          <a:prstGeom prst="rect">
            <a:avLst/>
          </a:prstGeom>
          <a:noFill/>
          <a:ln/>
        </p:spPr>
        <p:txBody>
          <a:bodyPr wrap="square" lIns="0" tIns="0" rIns="0" bIns="0" rtlCol="0" anchor="ctr"/>
          <a:lstStyle/>
          <a:p>
            <a:pPr marL="0" indent="0">
              <a:buNone/>
            </a:pPr>
            <a:r>
              <a:rPr lang="en-US" sz="1300" b="1" dirty="0">
                <a:solidFill>
                  <a:srgbClr val="8F0024"/>
                </a:solidFill>
              </a:rPr>
              <a:t>Task Domains Include:</a:t>
            </a:r>
            <a:endParaRPr lang="en-US" sz="1300" dirty="0"/>
          </a:p>
        </p:txBody>
      </p:sp>
      <p:sp>
        <p:nvSpPr>
          <p:cNvPr id="21" name="Text 19"/>
          <p:cNvSpPr/>
          <p:nvPr/>
        </p:nvSpPr>
        <p:spPr>
          <a:xfrm>
            <a:off x="457200" y="2788920"/>
            <a:ext cx="3931920" cy="2011680"/>
          </a:xfrm>
          <a:prstGeom prst="rect">
            <a:avLst/>
          </a:prstGeom>
          <a:noFill/>
          <a:ln/>
        </p:spPr>
        <p:txBody>
          <a:bodyPr wrap="square" rtlCol="0" anchor="ctr"/>
          <a:lstStyle/>
          <a:p>
            <a:pPr marL="342900" indent="-342900">
              <a:spcAft>
                <a:spcPts val="400"/>
              </a:spcAft>
              <a:buSzPct val="100000"/>
              <a:buChar char="•"/>
            </a:pPr>
            <a:r>
              <a:rPr lang="en-US" sz="1300" dirty="0">
                <a:solidFill>
                  <a:srgbClr val="1E1E1E"/>
                </a:solidFill>
              </a:rPr>
              <a:t>DMControl (locomotion)</a:t>
            </a:r>
            <a:endParaRPr lang="en-US" sz="1300" dirty="0"/>
          </a:p>
          <a:p>
            <a:pPr marL="342900" indent="-342900">
              <a:spcAft>
                <a:spcPts val="400"/>
              </a:spcAft>
              <a:buSzPct val="100000"/>
              <a:buChar char="•"/>
            </a:pPr>
            <a:r>
              <a:rPr lang="en-US" sz="1300" dirty="0">
                <a:solidFill>
                  <a:srgbClr val="1E1E1E"/>
                </a:solidFill>
              </a:rPr>
              <a:t>Meta-World (manipulation)</a:t>
            </a:r>
            <a:endParaRPr lang="en-US" sz="1300" dirty="0"/>
          </a:p>
          <a:p>
            <a:pPr marL="342900" indent="-342900">
              <a:spcAft>
                <a:spcPts val="400"/>
              </a:spcAft>
              <a:buSzPct val="100000"/>
              <a:buChar char="•"/>
            </a:pPr>
            <a:r>
              <a:rPr lang="en-US" sz="1300" dirty="0">
                <a:solidFill>
                  <a:srgbClr val="1E1E1E"/>
                </a:solidFill>
              </a:rPr>
              <a:t>ManiSkill2 (dexterous manipulation)</a:t>
            </a:r>
            <a:endParaRPr lang="en-US" sz="1300" dirty="0"/>
          </a:p>
          <a:p>
            <a:pPr marL="342900" indent="-342900">
              <a:spcAft>
                <a:spcPts val="400"/>
              </a:spcAft>
              <a:buSzPct val="100000"/>
              <a:buChar char="•"/>
            </a:pPr>
            <a:r>
              <a:rPr lang="en-US" sz="1300" dirty="0">
                <a:solidFill>
                  <a:srgbClr val="1E1E1E"/>
                </a:solidFill>
              </a:rPr>
              <a:t>MyoSuite (musculoskeletal control)</a:t>
            </a:r>
            <a:endParaRPr lang="en-US" sz="1300" dirty="0"/>
          </a:p>
          <a:p>
            <a:pPr marL="342900" indent="-342900">
              <a:spcAft>
                <a:spcPts val="400"/>
              </a:spcAft>
              <a:buSzPct val="100000"/>
              <a:buChar char="•"/>
            </a:pPr>
            <a:r>
              <a:rPr lang="en-US" sz="1300" dirty="0">
                <a:solidFill>
                  <a:srgbClr val="1E1E1E"/>
                </a:solidFill>
              </a:rPr>
              <a:t>MiniArcade (19 new arcade-style tasks)</a:t>
            </a:r>
            <a:endParaRPr lang="en-US" sz="1300" dirty="0"/>
          </a:p>
        </p:txBody>
      </p:sp>
      <p:sp>
        <p:nvSpPr>
          <p:cNvPr id="22" name="Shape 20"/>
          <p:cNvSpPr/>
          <p:nvPr/>
        </p:nvSpPr>
        <p:spPr>
          <a:xfrm>
            <a:off x="4709160" y="2423160"/>
            <a:ext cx="4114800" cy="2377440"/>
          </a:xfrm>
          <a:prstGeom prst="rect">
            <a:avLst/>
          </a:prstGeom>
          <a:solidFill>
            <a:srgbClr val="F4F4F4"/>
          </a:solidFill>
          <a:ln w="12700">
            <a:solidFill>
              <a:srgbClr val="DDDDDD"/>
            </a:solidFill>
            <a:prstDash val="solid"/>
          </a:ln>
        </p:spPr>
        <p:txBody>
          <a:bodyPr/>
          <a:lstStyle/>
          <a:p>
            <a:endParaRPr lang="en-CA"/>
          </a:p>
        </p:txBody>
      </p:sp>
      <p:sp>
        <p:nvSpPr>
          <p:cNvPr id="23" name="Shape 21"/>
          <p:cNvSpPr/>
          <p:nvPr/>
        </p:nvSpPr>
        <p:spPr>
          <a:xfrm>
            <a:off x="4709160" y="2423160"/>
            <a:ext cx="4114800" cy="347472"/>
          </a:xfrm>
          <a:prstGeom prst="rect">
            <a:avLst/>
          </a:prstGeom>
          <a:solidFill>
            <a:srgbClr val="3D3D3D"/>
          </a:solidFill>
          <a:ln w="12700">
            <a:solidFill>
              <a:srgbClr val="3D3D3D"/>
            </a:solidFill>
            <a:prstDash val="solid"/>
          </a:ln>
        </p:spPr>
        <p:txBody>
          <a:bodyPr/>
          <a:lstStyle/>
          <a:p>
            <a:endParaRPr lang="en-CA"/>
          </a:p>
        </p:txBody>
      </p:sp>
      <p:sp>
        <p:nvSpPr>
          <p:cNvPr id="24" name="Text 22"/>
          <p:cNvSpPr/>
          <p:nvPr/>
        </p:nvSpPr>
        <p:spPr>
          <a:xfrm>
            <a:off x="4800600" y="2423160"/>
            <a:ext cx="3931920" cy="347472"/>
          </a:xfrm>
          <a:prstGeom prst="rect">
            <a:avLst/>
          </a:prstGeom>
          <a:noFill/>
          <a:ln/>
        </p:spPr>
        <p:txBody>
          <a:bodyPr wrap="square" lIns="0" tIns="0" rIns="0" bIns="0" rtlCol="0" anchor="ctr"/>
          <a:lstStyle/>
          <a:p>
            <a:pPr marL="0" indent="0">
              <a:buNone/>
            </a:pPr>
            <a:r>
              <a:rPr lang="en-US" sz="1200" b="1" dirty="0">
                <a:solidFill>
                  <a:srgbClr val="FFFFFF"/>
                </a:solidFill>
              </a:rPr>
              <a:t>Each task includes:</a:t>
            </a:r>
            <a:endParaRPr lang="en-US" sz="1200" dirty="0"/>
          </a:p>
        </p:txBody>
      </p:sp>
      <p:sp>
        <p:nvSpPr>
          <p:cNvPr id="25" name="Text 23"/>
          <p:cNvSpPr/>
          <p:nvPr/>
        </p:nvSpPr>
        <p:spPr>
          <a:xfrm>
            <a:off x="4846320" y="2852928"/>
            <a:ext cx="3840480" cy="1828800"/>
          </a:xfrm>
          <a:prstGeom prst="rect">
            <a:avLst/>
          </a:prstGeom>
          <a:noFill/>
          <a:ln/>
        </p:spPr>
        <p:txBody>
          <a:bodyPr wrap="square" rtlCol="0" anchor="ctr"/>
          <a:lstStyle/>
          <a:p>
            <a:pPr marL="342900" indent="-342900">
              <a:spcAft>
                <a:spcPts val="500"/>
              </a:spcAft>
              <a:buSzPct val="100000"/>
              <a:buChar char="•"/>
            </a:pPr>
            <a:r>
              <a:rPr lang="en-US" sz="1300" dirty="0">
                <a:solidFill>
                  <a:srgbClr val="1E1E1E"/>
                </a:solidFill>
              </a:rPr>
              <a:t>Language instruction describing the task</a:t>
            </a:r>
            <a:endParaRPr lang="en-US" sz="1300" dirty="0"/>
          </a:p>
          <a:p>
            <a:pPr marL="342900" indent="-342900">
              <a:spcAft>
                <a:spcPts val="500"/>
              </a:spcAft>
              <a:buSzPct val="100000"/>
              <a:buChar char="•"/>
            </a:pPr>
            <a:r>
              <a:rPr lang="en-US" sz="1300" dirty="0">
                <a:solidFill>
                  <a:srgbClr val="1E1E1E"/>
                </a:solidFill>
              </a:rPr>
              <a:t>Expert demonstrations for pretraining</a:t>
            </a:r>
            <a:endParaRPr lang="en-US" sz="1300" dirty="0"/>
          </a:p>
          <a:p>
            <a:pPr marL="342900" indent="-342900">
              <a:spcAft>
                <a:spcPts val="500"/>
              </a:spcAft>
              <a:buSzPct val="100000"/>
              <a:buChar char="•"/>
            </a:pPr>
            <a:r>
              <a:rPr lang="en-US" sz="1300" dirty="0">
                <a:solidFill>
                  <a:srgbClr val="1E1E1E"/>
                </a:solidFill>
              </a:rPr>
              <a:t>Optional RGB image observations</a:t>
            </a:r>
            <a:endParaRPr lang="en-US" sz="1300" dirty="0"/>
          </a:p>
          <a:p>
            <a:pPr marL="342900" indent="-342900">
              <a:spcAft>
                <a:spcPts val="500"/>
              </a:spcAft>
              <a:buSzPct val="100000"/>
              <a:buChar char="•"/>
            </a:pPr>
            <a:r>
              <a:rPr lang="en-US" sz="1300" dirty="0">
                <a:solidFill>
                  <a:srgbClr val="1E1E1E"/>
                </a:solidFill>
              </a:rPr>
              <a:t>Normalized [0,1] reward signal</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FFFFFF"/>
          </a:solidFill>
          <a:ln w="12700">
            <a:solidFill>
              <a:srgbClr val="FFFFFF"/>
            </a:solidFill>
            <a:prstDash val="solid"/>
          </a:ln>
        </p:spPr>
        <p:txBody>
          <a:bodyPr/>
          <a:lstStyle/>
          <a:p>
            <a:endParaRPr lang="en-CA"/>
          </a:p>
        </p:txBody>
      </p:sp>
      <p:sp>
        <p:nvSpPr>
          <p:cNvPr id="3" name="Text 1"/>
          <p:cNvSpPr/>
          <p:nvPr/>
        </p:nvSpPr>
        <p:spPr>
          <a:xfrm>
            <a:off x="164592" y="0"/>
            <a:ext cx="5486400" cy="411480"/>
          </a:xfrm>
          <a:prstGeom prst="rect">
            <a:avLst/>
          </a:prstGeom>
          <a:noFill/>
          <a:ln/>
        </p:spPr>
        <p:txBody>
          <a:bodyPr wrap="square" lIns="0" tIns="0" rIns="0" bIns="0" rtlCol="0" anchor="ctr"/>
          <a:lstStyle/>
          <a:p>
            <a:pPr marL="0" indent="0">
              <a:buNone/>
            </a:pPr>
            <a:r>
              <a:rPr lang="en-US" sz="900" dirty="0">
                <a:solidFill>
                  <a:srgbClr val="1E1E1E"/>
                </a:solidFill>
              </a:rPr>
              <a:t>Université d'Ottawa   |   University of Ottawa</a:t>
            </a:r>
            <a:endParaRPr lang="en-US" sz="900" dirty="0"/>
          </a:p>
        </p:txBody>
      </p:sp>
      <p:sp>
        <p:nvSpPr>
          <p:cNvPr id="4" name="Text 2"/>
          <p:cNvSpPr/>
          <p:nvPr/>
        </p:nvSpPr>
        <p:spPr>
          <a:xfrm>
            <a:off x="347472" y="566928"/>
            <a:ext cx="7589520" cy="502920"/>
          </a:xfrm>
          <a:prstGeom prst="rect">
            <a:avLst/>
          </a:prstGeom>
          <a:noFill/>
          <a:ln/>
        </p:spPr>
        <p:txBody>
          <a:bodyPr wrap="square" lIns="0" tIns="0" rIns="0" bIns="0" rtlCol="0" anchor="ctr"/>
          <a:lstStyle/>
          <a:p>
            <a:pPr marL="0" indent="0">
              <a:buNone/>
            </a:pPr>
            <a:r>
              <a:rPr lang="en-US" sz="2600" b="1" dirty="0">
                <a:solidFill>
                  <a:srgbClr val="8F0024"/>
                </a:solidFill>
              </a:rPr>
              <a:t>Newt: Architecture Overview</a:t>
            </a:r>
            <a:endParaRPr lang="en-US" sz="2600" dirty="0"/>
          </a:p>
        </p:txBody>
      </p:sp>
      <p:sp>
        <p:nvSpPr>
          <p:cNvPr id="5" name="Shape 3"/>
          <p:cNvSpPr/>
          <p:nvPr/>
        </p:nvSpPr>
        <p:spPr>
          <a:xfrm>
            <a:off x="347472" y="1115568"/>
            <a:ext cx="8229600" cy="0"/>
          </a:xfrm>
          <a:prstGeom prst="line">
            <a:avLst/>
          </a:prstGeom>
          <a:noFill/>
          <a:ln w="8890">
            <a:solidFill>
              <a:srgbClr val="CCCCCC"/>
            </a:solidFill>
            <a:prstDash val="solid"/>
          </a:ln>
        </p:spPr>
        <p:txBody>
          <a:bodyPr/>
          <a:lstStyle/>
          <a:p>
            <a:endParaRPr lang="en-CA"/>
          </a:p>
        </p:txBody>
      </p:sp>
      <p:sp>
        <p:nvSpPr>
          <p:cNvPr id="6" name="Text 4"/>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rPr>
              <a:t>uOttawa</a:t>
            </a:r>
            <a:endParaRPr lang="en-US" sz="1300" dirty="0"/>
          </a:p>
        </p:txBody>
      </p:sp>
      <p:sp>
        <p:nvSpPr>
          <p:cNvPr id="7" name="Text 5"/>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B6B6B"/>
                </a:solidFill>
              </a:rPr>
              <a:t>8</a:t>
            </a:r>
            <a:endParaRPr lang="en-US" sz="900" dirty="0"/>
          </a:p>
        </p:txBody>
      </p:sp>
      <p:sp>
        <p:nvSpPr>
          <p:cNvPr id="8" name="Shape 6"/>
          <p:cNvSpPr/>
          <p:nvPr/>
        </p:nvSpPr>
        <p:spPr>
          <a:xfrm>
            <a:off x="274320" y="1280160"/>
            <a:ext cx="1737360" cy="3429000"/>
          </a:xfrm>
          <a:prstGeom prst="rect">
            <a:avLst/>
          </a:prstGeom>
          <a:solidFill>
            <a:srgbClr val="F4F4F4"/>
          </a:solidFill>
          <a:ln w="12700">
            <a:solidFill>
              <a:srgbClr val="DDDDDD"/>
            </a:solidFill>
            <a:prstDash val="solid"/>
          </a:ln>
        </p:spPr>
        <p:txBody>
          <a:bodyPr/>
          <a:lstStyle/>
          <a:p>
            <a:endParaRPr lang="en-CA"/>
          </a:p>
        </p:txBody>
      </p:sp>
      <p:sp>
        <p:nvSpPr>
          <p:cNvPr id="9" name="Shape 7"/>
          <p:cNvSpPr/>
          <p:nvPr/>
        </p:nvSpPr>
        <p:spPr>
          <a:xfrm>
            <a:off x="274320" y="1280160"/>
            <a:ext cx="1737360" cy="347472"/>
          </a:xfrm>
          <a:prstGeom prst="rect">
            <a:avLst/>
          </a:prstGeom>
          <a:solidFill>
            <a:srgbClr val="3D3D3D"/>
          </a:solidFill>
          <a:ln w="12700">
            <a:solidFill>
              <a:srgbClr val="3D3D3D"/>
            </a:solidFill>
            <a:prstDash val="solid"/>
          </a:ln>
        </p:spPr>
        <p:txBody>
          <a:bodyPr/>
          <a:lstStyle/>
          <a:p>
            <a:endParaRPr lang="en-CA"/>
          </a:p>
        </p:txBody>
      </p:sp>
      <p:sp>
        <p:nvSpPr>
          <p:cNvPr id="10" name="Text 8"/>
          <p:cNvSpPr/>
          <p:nvPr/>
        </p:nvSpPr>
        <p:spPr>
          <a:xfrm>
            <a:off x="274320" y="1280160"/>
            <a:ext cx="1737360" cy="347472"/>
          </a:xfrm>
          <a:prstGeom prst="rect">
            <a:avLst/>
          </a:prstGeom>
          <a:noFill/>
          <a:ln/>
        </p:spPr>
        <p:txBody>
          <a:bodyPr wrap="square" rtlCol="0" anchor="ctr"/>
          <a:lstStyle/>
          <a:p>
            <a:pPr marL="0" indent="0" algn="ctr">
              <a:buNone/>
            </a:pPr>
            <a:r>
              <a:rPr lang="en-US" sz="1100" b="1" dirty="0">
                <a:solidFill>
                  <a:srgbClr val="FFFFFF"/>
                </a:solidFill>
              </a:rPr>
              <a:t>INPUTS</a:t>
            </a:r>
            <a:endParaRPr lang="en-US" sz="1100" dirty="0"/>
          </a:p>
        </p:txBody>
      </p:sp>
      <p:sp>
        <p:nvSpPr>
          <p:cNvPr id="11" name="Shape 9"/>
          <p:cNvSpPr/>
          <p:nvPr/>
        </p:nvSpPr>
        <p:spPr>
          <a:xfrm>
            <a:off x="411480" y="1828800"/>
            <a:ext cx="1463040" cy="566928"/>
          </a:xfrm>
          <a:prstGeom prst="rect">
            <a:avLst/>
          </a:prstGeom>
          <a:solidFill>
            <a:srgbClr val="E0E0E0"/>
          </a:solidFill>
          <a:ln w="12700">
            <a:solidFill>
              <a:srgbClr val="BBBBBB"/>
            </a:solidFill>
            <a:prstDash val="solid"/>
          </a:ln>
        </p:spPr>
        <p:txBody>
          <a:bodyPr/>
          <a:lstStyle/>
          <a:p>
            <a:endParaRPr lang="en-CA"/>
          </a:p>
        </p:txBody>
      </p:sp>
      <p:sp>
        <p:nvSpPr>
          <p:cNvPr id="12" name="Text 10"/>
          <p:cNvSpPr/>
          <p:nvPr/>
        </p:nvSpPr>
        <p:spPr>
          <a:xfrm>
            <a:off x="411480" y="1828800"/>
            <a:ext cx="1463040" cy="566928"/>
          </a:xfrm>
          <a:prstGeom prst="rect">
            <a:avLst/>
          </a:prstGeom>
          <a:noFill/>
          <a:ln/>
        </p:spPr>
        <p:txBody>
          <a:bodyPr wrap="square" rtlCol="0" anchor="ctr"/>
          <a:lstStyle/>
          <a:p>
            <a:pPr marL="0" indent="0" algn="ctr">
              <a:buNone/>
            </a:pPr>
            <a:r>
              <a:rPr lang="en-US" sz="1100" dirty="0">
                <a:solidFill>
                  <a:srgbClr val="1E1E1E"/>
                </a:solidFill>
              </a:rPr>
              <a:t>State s</a:t>
            </a:r>
            <a:endParaRPr lang="en-US" sz="1100" dirty="0"/>
          </a:p>
          <a:p>
            <a:pPr marL="0" indent="0" algn="ctr">
              <a:buNone/>
            </a:pPr>
            <a:r>
              <a:rPr lang="en-US" sz="1100" dirty="0">
                <a:solidFill>
                  <a:srgbClr val="1E1E1E"/>
                </a:solidFill>
              </a:rPr>
              <a:t>(proprioception)</a:t>
            </a:r>
            <a:endParaRPr lang="en-US" sz="1100" dirty="0"/>
          </a:p>
        </p:txBody>
      </p:sp>
      <p:sp>
        <p:nvSpPr>
          <p:cNvPr id="13" name="Shape 11"/>
          <p:cNvSpPr/>
          <p:nvPr/>
        </p:nvSpPr>
        <p:spPr>
          <a:xfrm>
            <a:off x="411480" y="2514600"/>
            <a:ext cx="1463040" cy="566928"/>
          </a:xfrm>
          <a:prstGeom prst="rect">
            <a:avLst/>
          </a:prstGeom>
          <a:solidFill>
            <a:srgbClr val="E0E0E0"/>
          </a:solidFill>
          <a:ln w="12700">
            <a:solidFill>
              <a:srgbClr val="BBBBBB"/>
            </a:solidFill>
            <a:prstDash val="solid"/>
          </a:ln>
        </p:spPr>
        <p:txBody>
          <a:bodyPr/>
          <a:lstStyle/>
          <a:p>
            <a:endParaRPr lang="en-CA"/>
          </a:p>
        </p:txBody>
      </p:sp>
      <p:sp>
        <p:nvSpPr>
          <p:cNvPr id="14" name="Text 12"/>
          <p:cNvSpPr/>
          <p:nvPr/>
        </p:nvSpPr>
        <p:spPr>
          <a:xfrm>
            <a:off x="411480" y="2514600"/>
            <a:ext cx="1463040" cy="566928"/>
          </a:xfrm>
          <a:prstGeom prst="rect">
            <a:avLst/>
          </a:prstGeom>
          <a:noFill/>
          <a:ln/>
        </p:spPr>
        <p:txBody>
          <a:bodyPr wrap="square" rtlCol="0" anchor="ctr"/>
          <a:lstStyle/>
          <a:p>
            <a:pPr marL="0" indent="0" algn="ctr">
              <a:buNone/>
            </a:pPr>
            <a:r>
              <a:rPr lang="en-US" sz="1100" dirty="0">
                <a:solidFill>
                  <a:srgbClr val="1E1E1E"/>
                </a:solidFill>
              </a:rPr>
              <a:t>Language g</a:t>
            </a:r>
            <a:endParaRPr lang="en-US" sz="1100" dirty="0"/>
          </a:p>
          <a:p>
            <a:pPr marL="0" indent="0" algn="ctr">
              <a:buNone/>
            </a:pPr>
            <a:r>
              <a:rPr lang="en-US" sz="1100" dirty="0">
                <a:solidFill>
                  <a:srgbClr val="1E1E1E"/>
                </a:solidFill>
              </a:rPr>
              <a:t>(CLIP-ViT/B)</a:t>
            </a:r>
            <a:endParaRPr lang="en-US" sz="1100" dirty="0"/>
          </a:p>
        </p:txBody>
      </p:sp>
      <p:sp>
        <p:nvSpPr>
          <p:cNvPr id="15" name="Shape 13"/>
          <p:cNvSpPr/>
          <p:nvPr/>
        </p:nvSpPr>
        <p:spPr>
          <a:xfrm>
            <a:off x="411480" y="3200400"/>
            <a:ext cx="1463040" cy="566928"/>
          </a:xfrm>
          <a:prstGeom prst="rect">
            <a:avLst/>
          </a:prstGeom>
          <a:solidFill>
            <a:srgbClr val="E0E0E0"/>
          </a:solidFill>
          <a:ln w="12700">
            <a:solidFill>
              <a:srgbClr val="BBBBBB"/>
            </a:solidFill>
            <a:prstDash val="solid"/>
          </a:ln>
        </p:spPr>
        <p:txBody>
          <a:bodyPr/>
          <a:lstStyle/>
          <a:p>
            <a:endParaRPr lang="en-CA"/>
          </a:p>
        </p:txBody>
      </p:sp>
      <p:sp>
        <p:nvSpPr>
          <p:cNvPr id="16" name="Text 14"/>
          <p:cNvSpPr/>
          <p:nvPr/>
        </p:nvSpPr>
        <p:spPr>
          <a:xfrm>
            <a:off x="411480" y="3200400"/>
            <a:ext cx="1463040" cy="566928"/>
          </a:xfrm>
          <a:prstGeom prst="rect">
            <a:avLst/>
          </a:prstGeom>
          <a:noFill/>
          <a:ln/>
        </p:spPr>
        <p:txBody>
          <a:bodyPr wrap="square" rtlCol="0" anchor="ctr"/>
          <a:lstStyle/>
          <a:p>
            <a:pPr marL="0" indent="0" algn="ctr">
              <a:buNone/>
            </a:pPr>
            <a:r>
              <a:rPr lang="en-US" sz="1100" dirty="0">
                <a:solidFill>
                  <a:srgbClr val="1E1E1E"/>
                </a:solidFill>
              </a:rPr>
              <a:t>Image x</a:t>
            </a:r>
            <a:endParaRPr lang="en-US" sz="1100" dirty="0"/>
          </a:p>
          <a:p>
            <a:pPr marL="0" indent="0" algn="ctr">
              <a:buNone/>
            </a:pPr>
            <a:r>
              <a:rPr lang="en-US" sz="1100" dirty="0">
                <a:solidFill>
                  <a:srgbClr val="1E1E1E"/>
                </a:solidFill>
              </a:rPr>
              <a:t>(DINOv2/B, opt.)</a:t>
            </a:r>
            <a:endParaRPr lang="en-US" sz="1100" dirty="0"/>
          </a:p>
        </p:txBody>
      </p:sp>
      <p:sp>
        <p:nvSpPr>
          <p:cNvPr id="17" name="Shape 15"/>
          <p:cNvSpPr/>
          <p:nvPr/>
        </p:nvSpPr>
        <p:spPr>
          <a:xfrm>
            <a:off x="2011680" y="3017520"/>
            <a:ext cx="457200" cy="0"/>
          </a:xfrm>
          <a:prstGeom prst="line">
            <a:avLst/>
          </a:prstGeom>
          <a:noFill/>
          <a:ln w="25400">
            <a:solidFill>
              <a:srgbClr val="8F0024"/>
            </a:solidFill>
            <a:prstDash val="solid"/>
          </a:ln>
        </p:spPr>
        <p:txBody>
          <a:bodyPr/>
          <a:lstStyle/>
          <a:p>
            <a:endParaRPr lang="en-CA"/>
          </a:p>
        </p:txBody>
      </p:sp>
      <p:sp>
        <p:nvSpPr>
          <p:cNvPr id="18" name="Text 16"/>
          <p:cNvSpPr/>
          <p:nvPr/>
        </p:nvSpPr>
        <p:spPr>
          <a:xfrm>
            <a:off x="2331720" y="2788920"/>
            <a:ext cx="274320" cy="457200"/>
          </a:xfrm>
          <a:prstGeom prst="rect">
            <a:avLst/>
          </a:prstGeom>
          <a:noFill/>
          <a:ln/>
        </p:spPr>
        <p:txBody>
          <a:bodyPr wrap="square" rtlCol="0" anchor="ctr"/>
          <a:lstStyle/>
          <a:p>
            <a:pPr marL="0" indent="0" algn="ctr">
              <a:buNone/>
            </a:pPr>
            <a:r>
              <a:rPr lang="en-US" sz="1800" dirty="0">
                <a:solidFill>
                  <a:srgbClr val="8F0024"/>
                </a:solidFill>
              </a:rPr>
              <a:t>→</a:t>
            </a:r>
            <a:endParaRPr lang="en-US" sz="1800" dirty="0"/>
          </a:p>
        </p:txBody>
      </p:sp>
      <p:sp>
        <p:nvSpPr>
          <p:cNvPr id="19" name="Shape 17"/>
          <p:cNvSpPr/>
          <p:nvPr/>
        </p:nvSpPr>
        <p:spPr>
          <a:xfrm>
            <a:off x="2606040" y="1280160"/>
            <a:ext cx="3931920" cy="3429000"/>
          </a:xfrm>
          <a:prstGeom prst="rect">
            <a:avLst/>
          </a:prstGeom>
          <a:solidFill>
            <a:srgbClr val="FFF8F8"/>
          </a:solidFill>
          <a:ln w="12700">
            <a:solidFill>
              <a:srgbClr val="B5003E"/>
            </a:solidFill>
            <a:prstDash val="solid"/>
          </a:ln>
        </p:spPr>
        <p:txBody>
          <a:bodyPr/>
          <a:lstStyle/>
          <a:p>
            <a:endParaRPr lang="en-CA"/>
          </a:p>
        </p:txBody>
      </p:sp>
      <p:sp>
        <p:nvSpPr>
          <p:cNvPr id="20" name="Shape 18"/>
          <p:cNvSpPr/>
          <p:nvPr/>
        </p:nvSpPr>
        <p:spPr>
          <a:xfrm>
            <a:off x="2606040" y="1280160"/>
            <a:ext cx="3931920" cy="347472"/>
          </a:xfrm>
          <a:prstGeom prst="rect">
            <a:avLst/>
          </a:prstGeom>
          <a:solidFill>
            <a:srgbClr val="8F0024"/>
          </a:solidFill>
          <a:ln w="12700">
            <a:solidFill>
              <a:srgbClr val="8F0024"/>
            </a:solidFill>
            <a:prstDash val="solid"/>
          </a:ln>
        </p:spPr>
        <p:txBody>
          <a:bodyPr/>
          <a:lstStyle/>
          <a:p>
            <a:endParaRPr lang="en-CA"/>
          </a:p>
        </p:txBody>
      </p:sp>
      <p:sp>
        <p:nvSpPr>
          <p:cNvPr id="21" name="Text 19"/>
          <p:cNvSpPr/>
          <p:nvPr/>
        </p:nvSpPr>
        <p:spPr>
          <a:xfrm>
            <a:off x="2606040" y="1280160"/>
            <a:ext cx="3931920" cy="347472"/>
          </a:xfrm>
          <a:prstGeom prst="rect">
            <a:avLst/>
          </a:prstGeom>
          <a:noFill/>
          <a:ln/>
        </p:spPr>
        <p:txBody>
          <a:bodyPr wrap="square" rtlCol="0" anchor="ctr"/>
          <a:lstStyle/>
          <a:p>
            <a:pPr marL="0" indent="0" algn="ctr">
              <a:buNone/>
            </a:pPr>
            <a:r>
              <a:rPr lang="en-US" sz="1100" b="1" dirty="0">
                <a:solidFill>
                  <a:srgbClr val="FFFFFF"/>
                </a:solidFill>
              </a:rPr>
              <a:t>WORLD MODEL (Newt)</a:t>
            </a:r>
            <a:endParaRPr lang="en-US" sz="1100" dirty="0"/>
          </a:p>
        </p:txBody>
      </p:sp>
      <p:sp>
        <p:nvSpPr>
          <p:cNvPr id="22" name="Shape 20"/>
          <p:cNvSpPr/>
          <p:nvPr/>
        </p:nvSpPr>
        <p:spPr>
          <a:xfrm>
            <a:off x="2743200" y="1783080"/>
            <a:ext cx="3611880" cy="457200"/>
          </a:xfrm>
          <a:prstGeom prst="rect">
            <a:avLst/>
          </a:prstGeom>
          <a:solidFill>
            <a:srgbClr val="F5DFDF"/>
          </a:solidFill>
          <a:ln w="12700">
            <a:solidFill>
              <a:srgbClr val="E0BBBB"/>
            </a:solidFill>
            <a:prstDash val="solid"/>
          </a:ln>
        </p:spPr>
        <p:txBody>
          <a:bodyPr/>
          <a:lstStyle/>
          <a:p>
            <a:endParaRPr lang="en-CA"/>
          </a:p>
        </p:txBody>
      </p:sp>
      <p:sp>
        <p:nvSpPr>
          <p:cNvPr id="23" name="Text 21"/>
          <p:cNvSpPr/>
          <p:nvPr/>
        </p:nvSpPr>
        <p:spPr>
          <a:xfrm>
            <a:off x="2816352" y="1783080"/>
            <a:ext cx="3465576" cy="457200"/>
          </a:xfrm>
          <a:prstGeom prst="rect">
            <a:avLst/>
          </a:prstGeom>
          <a:noFill/>
          <a:ln/>
        </p:spPr>
        <p:txBody>
          <a:bodyPr wrap="square" rtlCol="0" anchor="ctr"/>
          <a:lstStyle/>
          <a:p>
            <a:pPr marL="0" indent="0">
              <a:buNone/>
            </a:pPr>
            <a:r>
              <a:rPr lang="en-US" sz="1200" dirty="0">
                <a:solidFill>
                  <a:srgbClr val="1E1E1E"/>
                </a:solidFill>
              </a:rPr>
              <a:t>Encoder   z = h(s, x, g)</a:t>
            </a:r>
            <a:endParaRPr lang="en-US" sz="1200" dirty="0"/>
          </a:p>
        </p:txBody>
      </p:sp>
      <p:sp>
        <p:nvSpPr>
          <p:cNvPr id="24" name="Shape 22"/>
          <p:cNvSpPr/>
          <p:nvPr/>
        </p:nvSpPr>
        <p:spPr>
          <a:xfrm>
            <a:off x="2743200" y="2331720"/>
            <a:ext cx="3611880" cy="457200"/>
          </a:xfrm>
          <a:prstGeom prst="rect">
            <a:avLst/>
          </a:prstGeom>
          <a:solidFill>
            <a:srgbClr val="F5DFDF"/>
          </a:solidFill>
          <a:ln w="12700">
            <a:solidFill>
              <a:srgbClr val="E0BBBB"/>
            </a:solidFill>
            <a:prstDash val="solid"/>
          </a:ln>
        </p:spPr>
        <p:txBody>
          <a:bodyPr/>
          <a:lstStyle/>
          <a:p>
            <a:endParaRPr lang="en-CA"/>
          </a:p>
        </p:txBody>
      </p:sp>
      <p:sp>
        <p:nvSpPr>
          <p:cNvPr id="25" name="Text 23"/>
          <p:cNvSpPr/>
          <p:nvPr/>
        </p:nvSpPr>
        <p:spPr>
          <a:xfrm>
            <a:off x="2816352" y="2331720"/>
            <a:ext cx="3465576" cy="457200"/>
          </a:xfrm>
          <a:prstGeom prst="rect">
            <a:avLst/>
          </a:prstGeom>
          <a:noFill/>
          <a:ln/>
        </p:spPr>
        <p:txBody>
          <a:bodyPr wrap="square" rtlCol="0" anchor="ctr"/>
          <a:lstStyle/>
          <a:p>
            <a:pPr marL="0" indent="0">
              <a:buNone/>
            </a:pPr>
            <a:r>
              <a:rPr lang="en-US" sz="1200" i="1" dirty="0">
                <a:solidFill>
                  <a:srgbClr val="1E1E1E"/>
                </a:solidFill>
              </a:rPr>
              <a:t>Dynamics  z' = d(z, a, g)</a:t>
            </a:r>
            <a:endParaRPr lang="en-US" sz="1200" dirty="0"/>
          </a:p>
        </p:txBody>
      </p:sp>
      <p:sp>
        <p:nvSpPr>
          <p:cNvPr id="26" name="Shape 24"/>
          <p:cNvSpPr/>
          <p:nvPr/>
        </p:nvSpPr>
        <p:spPr>
          <a:xfrm>
            <a:off x="2743200" y="2880360"/>
            <a:ext cx="3611880" cy="457200"/>
          </a:xfrm>
          <a:prstGeom prst="rect">
            <a:avLst/>
          </a:prstGeom>
          <a:solidFill>
            <a:srgbClr val="F5DFDF"/>
          </a:solidFill>
          <a:ln w="12700">
            <a:solidFill>
              <a:srgbClr val="E0BBBB"/>
            </a:solidFill>
            <a:prstDash val="solid"/>
          </a:ln>
        </p:spPr>
        <p:txBody>
          <a:bodyPr/>
          <a:lstStyle/>
          <a:p>
            <a:endParaRPr lang="en-CA"/>
          </a:p>
        </p:txBody>
      </p:sp>
      <p:sp>
        <p:nvSpPr>
          <p:cNvPr id="27" name="Text 25"/>
          <p:cNvSpPr/>
          <p:nvPr/>
        </p:nvSpPr>
        <p:spPr>
          <a:xfrm>
            <a:off x="2816352" y="2880360"/>
            <a:ext cx="3465576" cy="457200"/>
          </a:xfrm>
          <a:prstGeom prst="rect">
            <a:avLst/>
          </a:prstGeom>
          <a:noFill/>
          <a:ln/>
        </p:spPr>
        <p:txBody>
          <a:bodyPr wrap="square" rtlCol="0" anchor="ctr"/>
          <a:lstStyle/>
          <a:p>
            <a:pPr marL="0" indent="0">
              <a:buNone/>
            </a:pPr>
            <a:r>
              <a:rPr lang="en-US" sz="1200" i="1" dirty="0">
                <a:solidFill>
                  <a:srgbClr val="1E1E1E"/>
                </a:solidFill>
              </a:rPr>
              <a:t>Reward    r̂ = R(z, a, g)</a:t>
            </a:r>
            <a:endParaRPr lang="en-US" sz="1200" dirty="0"/>
          </a:p>
        </p:txBody>
      </p:sp>
      <p:sp>
        <p:nvSpPr>
          <p:cNvPr id="28" name="Shape 26"/>
          <p:cNvSpPr/>
          <p:nvPr/>
        </p:nvSpPr>
        <p:spPr>
          <a:xfrm>
            <a:off x="2743200" y="3429000"/>
            <a:ext cx="3611880" cy="457200"/>
          </a:xfrm>
          <a:prstGeom prst="rect">
            <a:avLst/>
          </a:prstGeom>
          <a:solidFill>
            <a:srgbClr val="F5DFDF"/>
          </a:solidFill>
          <a:ln w="12700">
            <a:solidFill>
              <a:srgbClr val="E0BBBB"/>
            </a:solidFill>
            <a:prstDash val="solid"/>
          </a:ln>
        </p:spPr>
        <p:txBody>
          <a:bodyPr/>
          <a:lstStyle/>
          <a:p>
            <a:endParaRPr lang="en-CA"/>
          </a:p>
        </p:txBody>
      </p:sp>
      <p:sp>
        <p:nvSpPr>
          <p:cNvPr id="29" name="Text 27"/>
          <p:cNvSpPr/>
          <p:nvPr/>
        </p:nvSpPr>
        <p:spPr>
          <a:xfrm>
            <a:off x="2816352" y="3429000"/>
            <a:ext cx="3465576" cy="457200"/>
          </a:xfrm>
          <a:prstGeom prst="rect">
            <a:avLst/>
          </a:prstGeom>
          <a:noFill/>
          <a:ln/>
        </p:spPr>
        <p:txBody>
          <a:bodyPr wrap="square" rtlCol="0" anchor="ctr"/>
          <a:lstStyle/>
          <a:p>
            <a:pPr marL="0" indent="0">
              <a:buNone/>
            </a:pPr>
            <a:r>
              <a:rPr lang="en-US" sz="1200" i="1" dirty="0">
                <a:solidFill>
                  <a:srgbClr val="1E1E1E"/>
                </a:solidFill>
              </a:rPr>
              <a:t>Value     Q̂ = Q(z, a, g)</a:t>
            </a:r>
            <a:endParaRPr lang="en-US" sz="1200" dirty="0"/>
          </a:p>
        </p:txBody>
      </p:sp>
      <p:sp>
        <p:nvSpPr>
          <p:cNvPr id="30" name="Shape 28"/>
          <p:cNvSpPr/>
          <p:nvPr/>
        </p:nvSpPr>
        <p:spPr>
          <a:xfrm>
            <a:off x="2743200" y="3977640"/>
            <a:ext cx="3611880" cy="457200"/>
          </a:xfrm>
          <a:prstGeom prst="rect">
            <a:avLst/>
          </a:prstGeom>
          <a:solidFill>
            <a:srgbClr val="F5DFDF"/>
          </a:solidFill>
          <a:ln w="12700">
            <a:solidFill>
              <a:srgbClr val="E0BBBB"/>
            </a:solidFill>
            <a:prstDash val="solid"/>
          </a:ln>
        </p:spPr>
        <p:txBody>
          <a:bodyPr/>
          <a:lstStyle/>
          <a:p>
            <a:endParaRPr lang="en-CA"/>
          </a:p>
        </p:txBody>
      </p:sp>
      <p:sp>
        <p:nvSpPr>
          <p:cNvPr id="31" name="Text 29"/>
          <p:cNvSpPr/>
          <p:nvPr/>
        </p:nvSpPr>
        <p:spPr>
          <a:xfrm>
            <a:off x="2816352" y="3977640"/>
            <a:ext cx="3465576" cy="457200"/>
          </a:xfrm>
          <a:prstGeom prst="rect">
            <a:avLst/>
          </a:prstGeom>
          <a:noFill/>
          <a:ln/>
        </p:spPr>
        <p:txBody>
          <a:bodyPr wrap="square" rtlCol="0" anchor="ctr"/>
          <a:lstStyle/>
          <a:p>
            <a:pPr marL="0" indent="0">
              <a:buNone/>
            </a:pPr>
            <a:r>
              <a:rPr lang="en-US" sz="1200" i="1" dirty="0">
                <a:solidFill>
                  <a:srgbClr val="1E1E1E"/>
                </a:solidFill>
              </a:rPr>
              <a:t>Policy Prior  π(a|z, g)</a:t>
            </a:r>
            <a:endParaRPr lang="en-US" sz="1200" dirty="0"/>
          </a:p>
        </p:txBody>
      </p:sp>
      <p:sp>
        <p:nvSpPr>
          <p:cNvPr id="32" name="Text 30"/>
          <p:cNvSpPr/>
          <p:nvPr/>
        </p:nvSpPr>
        <p:spPr>
          <a:xfrm>
            <a:off x="6537960" y="2788920"/>
            <a:ext cx="274320" cy="457200"/>
          </a:xfrm>
          <a:prstGeom prst="rect">
            <a:avLst/>
          </a:prstGeom>
          <a:noFill/>
          <a:ln/>
        </p:spPr>
        <p:txBody>
          <a:bodyPr wrap="square" rtlCol="0" anchor="ctr"/>
          <a:lstStyle/>
          <a:p>
            <a:pPr marL="0" indent="0" algn="ctr">
              <a:buNone/>
            </a:pPr>
            <a:r>
              <a:rPr lang="en-US" sz="1800" dirty="0">
                <a:solidFill>
                  <a:srgbClr val="8F0024"/>
                </a:solidFill>
              </a:rPr>
              <a:t>→</a:t>
            </a:r>
            <a:endParaRPr lang="en-US" sz="1800" dirty="0"/>
          </a:p>
        </p:txBody>
      </p:sp>
      <p:sp>
        <p:nvSpPr>
          <p:cNvPr id="33" name="Shape 31"/>
          <p:cNvSpPr/>
          <p:nvPr/>
        </p:nvSpPr>
        <p:spPr>
          <a:xfrm>
            <a:off x="6812280" y="1280160"/>
            <a:ext cx="2011680" cy="3429000"/>
          </a:xfrm>
          <a:prstGeom prst="rect">
            <a:avLst/>
          </a:prstGeom>
          <a:solidFill>
            <a:srgbClr val="F4F4F4"/>
          </a:solidFill>
          <a:ln w="12700">
            <a:solidFill>
              <a:srgbClr val="DDDDDD"/>
            </a:solidFill>
            <a:prstDash val="solid"/>
          </a:ln>
        </p:spPr>
        <p:txBody>
          <a:bodyPr/>
          <a:lstStyle/>
          <a:p>
            <a:endParaRPr lang="en-CA"/>
          </a:p>
        </p:txBody>
      </p:sp>
      <p:sp>
        <p:nvSpPr>
          <p:cNvPr id="34" name="Shape 32"/>
          <p:cNvSpPr/>
          <p:nvPr/>
        </p:nvSpPr>
        <p:spPr>
          <a:xfrm>
            <a:off x="6812280" y="1280160"/>
            <a:ext cx="2011680" cy="347472"/>
          </a:xfrm>
          <a:prstGeom prst="rect">
            <a:avLst/>
          </a:prstGeom>
          <a:solidFill>
            <a:srgbClr val="3D3D3D"/>
          </a:solidFill>
          <a:ln w="12700">
            <a:solidFill>
              <a:srgbClr val="3D3D3D"/>
            </a:solidFill>
            <a:prstDash val="solid"/>
          </a:ln>
        </p:spPr>
        <p:txBody>
          <a:bodyPr/>
          <a:lstStyle/>
          <a:p>
            <a:endParaRPr lang="en-CA"/>
          </a:p>
        </p:txBody>
      </p:sp>
      <p:sp>
        <p:nvSpPr>
          <p:cNvPr id="35" name="Text 33"/>
          <p:cNvSpPr/>
          <p:nvPr/>
        </p:nvSpPr>
        <p:spPr>
          <a:xfrm>
            <a:off x="6812280" y="1280160"/>
            <a:ext cx="2011680" cy="347472"/>
          </a:xfrm>
          <a:prstGeom prst="rect">
            <a:avLst/>
          </a:prstGeom>
          <a:noFill/>
          <a:ln/>
        </p:spPr>
        <p:txBody>
          <a:bodyPr wrap="square" rtlCol="0" anchor="ctr"/>
          <a:lstStyle/>
          <a:p>
            <a:pPr marL="0" indent="0" algn="ctr">
              <a:buNone/>
            </a:pPr>
            <a:r>
              <a:rPr lang="en-US" sz="1100" b="1" dirty="0">
                <a:solidFill>
                  <a:srgbClr val="FFFFFF"/>
                </a:solidFill>
              </a:rPr>
              <a:t>PLANNING</a:t>
            </a:r>
            <a:endParaRPr lang="en-US" sz="1100" dirty="0"/>
          </a:p>
        </p:txBody>
      </p:sp>
      <p:sp>
        <p:nvSpPr>
          <p:cNvPr id="36" name="Text 34"/>
          <p:cNvSpPr/>
          <p:nvPr/>
        </p:nvSpPr>
        <p:spPr>
          <a:xfrm>
            <a:off x="6903720" y="1737360"/>
            <a:ext cx="1828800" cy="2834640"/>
          </a:xfrm>
          <a:prstGeom prst="rect">
            <a:avLst/>
          </a:prstGeom>
          <a:noFill/>
          <a:ln/>
        </p:spPr>
        <p:txBody>
          <a:bodyPr wrap="square" rtlCol="0" anchor="ctr"/>
          <a:lstStyle/>
          <a:p>
            <a:pPr marL="0" indent="0" algn="ctr">
              <a:lnSpc>
                <a:spcPct val="135000"/>
              </a:lnSpc>
              <a:buNone/>
            </a:pPr>
            <a:r>
              <a:rPr lang="en-US" sz="1150" dirty="0">
                <a:solidFill>
                  <a:srgbClr val="1E1E1E"/>
                </a:solidFill>
              </a:rPr>
              <a:t>Latent-space</a:t>
            </a:r>
            <a:endParaRPr lang="en-US" sz="1150" dirty="0"/>
          </a:p>
          <a:p>
            <a:pPr marL="0" indent="0" algn="ctr">
              <a:lnSpc>
                <a:spcPct val="135000"/>
              </a:lnSpc>
              <a:buNone/>
            </a:pPr>
            <a:r>
              <a:rPr lang="en-US" sz="1150" dirty="0">
                <a:solidFill>
                  <a:srgbClr val="1E1E1E"/>
                </a:solidFill>
              </a:rPr>
              <a:t>trajectory</a:t>
            </a:r>
            <a:endParaRPr lang="en-US" sz="1150" dirty="0"/>
          </a:p>
          <a:p>
            <a:pPr marL="0" indent="0" algn="ctr">
              <a:lnSpc>
                <a:spcPct val="135000"/>
              </a:lnSpc>
              <a:buNone/>
            </a:pPr>
            <a:r>
              <a:rPr lang="en-US" sz="1150" dirty="0">
                <a:solidFill>
                  <a:srgbClr val="1E1E1E"/>
                </a:solidFill>
              </a:rPr>
              <a:t>optimization</a:t>
            </a:r>
            <a:endParaRPr lang="en-US" sz="1150" dirty="0"/>
          </a:p>
          <a:p>
            <a:pPr marL="0" indent="0" algn="ctr">
              <a:lnSpc>
                <a:spcPct val="135000"/>
              </a:lnSpc>
              <a:buNone/>
            </a:pPr>
            <a:endParaRPr lang="en-US" sz="1150" dirty="0"/>
          </a:p>
          <a:p>
            <a:pPr marL="0" indent="0" algn="ctr">
              <a:lnSpc>
                <a:spcPct val="135000"/>
              </a:lnSpc>
              <a:buNone/>
            </a:pPr>
            <a:r>
              <a:rPr lang="en-US" sz="1150" dirty="0">
                <a:solidFill>
                  <a:srgbClr val="1E1E1E"/>
                </a:solidFill>
              </a:rPr>
              <a:t>Samples → simulate</a:t>
            </a:r>
            <a:endParaRPr lang="en-US" sz="1150" dirty="0"/>
          </a:p>
          <a:p>
            <a:pPr marL="0" indent="0" algn="ctr">
              <a:lnSpc>
                <a:spcPct val="135000"/>
              </a:lnSpc>
              <a:buNone/>
            </a:pPr>
            <a:r>
              <a:rPr lang="en-US" sz="1150" dirty="0">
                <a:solidFill>
                  <a:srgbClr val="1E1E1E"/>
                </a:solidFill>
              </a:rPr>
              <a:t>→ evaluate</a:t>
            </a:r>
            <a:endParaRPr lang="en-US" sz="1150" dirty="0"/>
          </a:p>
          <a:p>
            <a:pPr marL="0" indent="0" algn="ctr">
              <a:lnSpc>
                <a:spcPct val="135000"/>
              </a:lnSpc>
              <a:buNone/>
            </a:pPr>
            <a:r>
              <a:rPr lang="en-US" sz="1150" dirty="0">
                <a:solidFill>
                  <a:srgbClr val="1E1E1E"/>
                </a:solidFill>
              </a:rPr>
              <a:t>→ best action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10E00EE-85A6-CDB7-77A3-04DA5135783B}"/>
            </a:ext>
          </a:extLst>
        </p:cNvPr>
        <p:cNvGrpSpPr/>
        <p:nvPr/>
      </p:nvGrpSpPr>
      <p:grpSpPr>
        <a:xfrm>
          <a:off x="0" y="0"/>
          <a:ext cx="0" cy="0"/>
          <a:chOff x="0" y="0"/>
          <a:chExt cx="0" cy="0"/>
        </a:xfrm>
      </p:grpSpPr>
    </p:spTree>
    <p:extLst>
      <p:ext uri="{BB962C8B-B14F-4D97-AF65-F5344CB8AC3E}">
        <p14:creationId xmlns:p14="http://schemas.microsoft.com/office/powerpoint/2010/main" val="3808255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2"/>
          <p:cNvSpPr/>
          <p:nvPr/>
        </p:nvSpPr>
        <p:spPr>
          <a:xfrm>
            <a:off x="347472" y="566928"/>
            <a:ext cx="7589520" cy="502920"/>
          </a:xfrm>
          <a:prstGeom prst="rect">
            <a:avLst/>
          </a:prstGeom>
          <a:noFill/>
          <a:ln/>
        </p:spPr>
        <p:txBody>
          <a:bodyPr wrap="square" lIns="0" tIns="0" rIns="0" bIns="0" rtlCol="0" anchor="ctr"/>
          <a:lstStyle/>
          <a:p>
            <a:pPr marL="0" indent="0">
              <a:buNone/>
            </a:pPr>
            <a:r>
              <a:rPr lang="en-US" sz="2600" b="1" dirty="0">
                <a:solidFill>
                  <a:srgbClr val="8F0024"/>
                </a:solidFill>
                <a:latin typeface="Avenir Next LT Pro" panose="020B0504020202020204" pitchFamily="34" charset="0"/>
              </a:rPr>
              <a:t>Training Strategy: Two-Phase Learning</a:t>
            </a:r>
            <a:endParaRPr lang="en-US" sz="2600" dirty="0">
              <a:latin typeface="Avenir Next LT Pro" panose="020B0504020202020204" pitchFamily="34" charset="0"/>
            </a:endParaRPr>
          </a:p>
        </p:txBody>
      </p:sp>
      <p:sp>
        <p:nvSpPr>
          <p:cNvPr id="5" name="Shape 3"/>
          <p:cNvSpPr/>
          <p:nvPr/>
        </p:nvSpPr>
        <p:spPr>
          <a:xfrm>
            <a:off x="347472" y="1115568"/>
            <a:ext cx="8229600" cy="0"/>
          </a:xfrm>
          <a:prstGeom prst="line">
            <a:avLst/>
          </a:prstGeom>
          <a:noFill/>
          <a:ln w="8890">
            <a:solidFill>
              <a:srgbClr val="CCCCCC"/>
            </a:solidFill>
            <a:prstDash val="solid"/>
          </a:ln>
        </p:spPr>
        <p:txBody>
          <a:bodyPr/>
          <a:lstStyle/>
          <a:p>
            <a:endParaRPr lang="en-CA">
              <a:latin typeface="Avenir Next LT Pro" panose="020B0504020202020204" pitchFamily="34" charset="0"/>
            </a:endParaRPr>
          </a:p>
        </p:txBody>
      </p:sp>
      <p:sp>
        <p:nvSpPr>
          <p:cNvPr id="6" name="Text 4"/>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latin typeface="Avenir Next LT Pro" panose="020B0504020202020204" pitchFamily="34" charset="0"/>
              </a:rPr>
              <a:t>uOttawa</a:t>
            </a:r>
            <a:endParaRPr lang="en-US" sz="1300" dirty="0">
              <a:latin typeface="Avenir Next LT Pro" panose="020B0504020202020204" pitchFamily="34" charset="0"/>
            </a:endParaRPr>
          </a:p>
        </p:txBody>
      </p:sp>
      <p:sp>
        <p:nvSpPr>
          <p:cNvPr id="7" name="Text 5"/>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B6B6B"/>
                </a:solidFill>
                <a:latin typeface="Avenir Next LT Pro" panose="020B0504020202020204" pitchFamily="34" charset="0"/>
              </a:rPr>
              <a:t>9</a:t>
            </a:r>
            <a:endParaRPr lang="en-US" sz="900" dirty="0">
              <a:latin typeface="Avenir Next LT Pro" panose="020B0504020202020204" pitchFamily="34" charset="0"/>
            </a:endParaRPr>
          </a:p>
        </p:txBody>
      </p:sp>
      <p:sp>
        <p:nvSpPr>
          <p:cNvPr id="8" name="Shape 6"/>
          <p:cNvSpPr/>
          <p:nvPr/>
        </p:nvSpPr>
        <p:spPr>
          <a:xfrm>
            <a:off x="347472" y="1261872"/>
            <a:ext cx="4160520" cy="3474720"/>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9" name="Shape 7"/>
          <p:cNvSpPr/>
          <p:nvPr/>
        </p:nvSpPr>
        <p:spPr>
          <a:xfrm>
            <a:off x="347472" y="1261872"/>
            <a:ext cx="4160520" cy="411480"/>
          </a:xfrm>
          <a:prstGeom prst="rect">
            <a:avLst/>
          </a:prstGeom>
          <a:solidFill>
            <a:srgbClr val="B5003E"/>
          </a:solidFill>
          <a:ln w="12700">
            <a:solidFill>
              <a:srgbClr val="B5003E"/>
            </a:solidFill>
            <a:prstDash val="solid"/>
          </a:ln>
        </p:spPr>
        <p:txBody>
          <a:bodyPr/>
          <a:lstStyle/>
          <a:p>
            <a:endParaRPr lang="en-CA">
              <a:latin typeface="Avenir Next LT Pro" panose="020B0504020202020204" pitchFamily="34" charset="0"/>
            </a:endParaRPr>
          </a:p>
        </p:txBody>
      </p:sp>
      <p:sp>
        <p:nvSpPr>
          <p:cNvPr id="10" name="Text 8"/>
          <p:cNvSpPr/>
          <p:nvPr/>
        </p:nvSpPr>
        <p:spPr>
          <a:xfrm>
            <a:off x="438912" y="1261872"/>
            <a:ext cx="3977640" cy="411480"/>
          </a:xfrm>
          <a:prstGeom prst="rect">
            <a:avLst/>
          </a:prstGeom>
          <a:noFill/>
          <a:ln/>
        </p:spPr>
        <p:txBody>
          <a:bodyPr wrap="square" lIns="0" tIns="0" rIns="0" bIns="0" rtlCol="0" anchor="ctr"/>
          <a:lstStyle/>
          <a:p>
            <a:pPr marL="0" indent="0">
              <a:buNone/>
            </a:pPr>
            <a:r>
              <a:rPr lang="en-US" sz="1200" b="1" dirty="0">
                <a:solidFill>
                  <a:srgbClr val="FFFFFF"/>
                </a:solidFill>
                <a:latin typeface="Avenir Next LT Pro" panose="020B0504020202020204" pitchFamily="34" charset="0"/>
              </a:rPr>
              <a:t>Phase 1: Pretraining on Demonstrations</a:t>
            </a:r>
            <a:endParaRPr lang="en-US" sz="1200" dirty="0">
              <a:latin typeface="Avenir Next LT Pro" panose="020B0504020202020204" pitchFamily="34" charset="0"/>
            </a:endParaRPr>
          </a:p>
        </p:txBody>
      </p:sp>
      <p:sp>
        <p:nvSpPr>
          <p:cNvPr id="11" name="Text 9"/>
          <p:cNvSpPr/>
          <p:nvPr/>
        </p:nvSpPr>
        <p:spPr>
          <a:xfrm>
            <a:off x="438912" y="1755648"/>
            <a:ext cx="3931920" cy="2834640"/>
          </a:xfrm>
          <a:prstGeom prst="rect">
            <a:avLst/>
          </a:prstGeom>
          <a:noFill/>
          <a:ln/>
        </p:spPr>
        <p:txBody>
          <a:bodyPr wrap="square" rtlCol="0" anchor="ctr"/>
          <a:lstStyle/>
          <a:p>
            <a:pPr marL="342900" indent="-342900">
              <a:spcAft>
                <a:spcPts val="500"/>
              </a:spcAft>
              <a:buSzPct val="100000"/>
              <a:buChar char="•"/>
            </a:pPr>
            <a:r>
              <a:rPr lang="en-US" sz="1300" dirty="0">
                <a:solidFill>
                  <a:srgbClr val="1E1E1E"/>
                </a:solidFill>
                <a:latin typeface="Avenir Next LT Pro" panose="020B0504020202020204" pitchFamily="34" charset="0"/>
              </a:rPr>
              <a:t>200 expert demo datasets (collected by specialist TD-MPC2 agents)</a:t>
            </a:r>
            <a:endParaRPr lang="en-US" sz="1300" dirty="0">
              <a:latin typeface="Avenir Next LT Pro" panose="020B0504020202020204" pitchFamily="34" charset="0"/>
            </a:endParaRPr>
          </a:p>
          <a:p>
            <a:pPr marL="342900" indent="-342900">
              <a:spcAft>
                <a:spcPts val="500"/>
              </a:spcAft>
              <a:buSzPct val="100000"/>
              <a:buChar char="•"/>
            </a:pPr>
            <a:r>
              <a:rPr lang="en-US" sz="1300" dirty="0">
                <a:solidFill>
                  <a:srgbClr val="1E1E1E"/>
                </a:solidFill>
                <a:latin typeface="Avenir Next LT Pro" panose="020B0504020202020204" pitchFamily="34" charset="0"/>
              </a:rPr>
              <a:t>Optimizes world model: dynamics, reward, value, policy prior</a:t>
            </a:r>
            <a:endParaRPr lang="en-US" sz="1300" dirty="0">
              <a:latin typeface="Avenir Next LT Pro" panose="020B0504020202020204" pitchFamily="34" charset="0"/>
            </a:endParaRPr>
          </a:p>
          <a:p>
            <a:pPr marL="342900" indent="-342900">
              <a:spcAft>
                <a:spcPts val="500"/>
              </a:spcAft>
              <a:buSzPct val="100000"/>
              <a:buChar char="•"/>
            </a:pPr>
            <a:r>
              <a:rPr lang="en-US" sz="1300" dirty="0">
                <a:solidFill>
                  <a:srgbClr val="1E1E1E"/>
                </a:solidFill>
                <a:latin typeface="Avenir Next LT Pro" panose="020B0504020202020204" pitchFamily="34" charset="0"/>
              </a:rPr>
              <a:t>Agent learns task-aware representations &amp; action priors</a:t>
            </a:r>
            <a:endParaRPr lang="en-US" sz="1300" dirty="0">
              <a:latin typeface="Avenir Next LT Pro" panose="020B0504020202020204" pitchFamily="34" charset="0"/>
            </a:endParaRPr>
          </a:p>
          <a:p>
            <a:pPr marL="342900" indent="-342900">
              <a:spcAft>
                <a:spcPts val="500"/>
              </a:spcAft>
              <a:buSzPct val="100000"/>
              <a:buChar char="•"/>
            </a:pPr>
            <a:r>
              <a:rPr lang="en-US" sz="1300" dirty="0">
                <a:solidFill>
                  <a:srgbClr val="1E1E1E"/>
                </a:solidFill>
                <a:latin typeface="Avenir Next LT Pro" panose="020B0504020202020204" pitchFamily="34" charset="0"/>
              </a:rPr>
              <a:t>No environment interaction — offline only</a:t>
            </a:r>
            <a:endParaRPr lang="en-US" sz="1300" dirty="0">
              <a:latin typeface="Avenir Next LT Pro" panose="020B0504020202020204" pitchFamily="34" charset="0"/>
            </a:endParaRPr>
          </a:p>
        </p:txBody>
      </p:sp>
      <p:sp>
        <p:nvSpPr>
          <p:cNvPr id="12" name="Shape 10"/>
          <p:cNvSpPr/>
          <p:nvPr/>
        </p:nvSpPr>
        <p:spPr>
          <a:xfrm>
            <a:off x="4782312" y="1261872"/>
            <a:ext cx="4160520" cy="3474720"/>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13" name="Shape 11"/>
          <p:cNvSpPr/>
          <p:nvPr/>
        </p:nvSpPr>
        <p:spPr>
          <a:xfrm>
            <a:off x="4782312" y="1261872"/>
            <a:ext cx="4160520" cy="411480"/>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14" name="Text 12"/>
          <p:cNvSpPr/>
          <p:nvPr/>
        </p:nvSpPr>
        <p:spPr>
          <a:xfrm>
            <a:off x="4873752" y="1261872"/>
            <a:ext cx="3977640" cy="411480"/>
          </a:xfrm>
          <a:prstGeom prst="rect">
            <a:avLst/>
          </a:prstGeom>
          <a:noFill/>
          <a:ln/>
        </p:spPr>
        <p:txBody>
          <a:bodyPr wrap="square" lIns="0" tIns="0" rIns="0" bIns="0" rtlCol="0" anchor="ctr"/>
          <a:lstStyle/>
          <a:p>
            <a:pPr marL="0" indent="0">
              <a:buNone/>
            </a:pPr>
            <a:r>
              <a:rPr lang="en-US" sz="1200" b="1" dirty="0">
                <a:solidFill>
                  <a:srgbClr val="FFFFFF"/>
                </a:solidFill>
                <a:latin typeface="Avenir Next LT Pro" panose="020B0504020202020204" pitchFamily="34" charset="0"/>
              </a:rPr>
              <a:t>Phase 2: Online RL Across All 200 Tasks</a:t>
            </a:r>
            <a:endParaRPr lang="en-US" sz="1200" dirty="0">
              <a:latin typeface="Avenir Next LT Pro" panose="020B0504020202020204" pitchFamily="34" charset="0"/>
            </a:endParaRPr>
          </a:p>
        </p:txBody>
      </p:sp>
      <p:sp>
        <p:nvSpPr>
          <p:cNvPr id="15" name="Text 13"/>
          <p:cNvSpPr/>
          <p:nvPr/>
        </p:nvSpPr>
        <p:spPr>
          <a:xfrm>
            <a:off x="4873752" y="1755648"/>
            <a:ext cx="3931920" cy="2834640"/>
          </a:xfrm>
          <a:prstGeom prst="rect">
            <a:avLst/>
          </a:prstGeom>
          <a:noFill/>
          <a:ln/>
        </p:spPr>
        <p:txBody>
          <a:bodyPr wrap="square" rtlCol="0" anchor="ctr"/>
          <a:lstStyle/>
          <a:p>
            <a:pPr marL="342900" indent="-342900">
              <a:spcAft>
                <a:spcPts val="500"/>
              </a:spcAft>
              <a:buSzPct val="100000"/>
              <a:buChar char="•"/>
            </a:pPr>
            <a:r>
              <a:rPr lang="en-US" sz="1300" dirty="0">
                <a:solidFill>
                  <a:srgbClr val="1E1E1E"/>
                </a:solidFill>
                <a:latin typeface="Avenir Next LT Pro" panose="020B0504020202020204" pitchFamily="34" charset="0"/>
              </a:rPr>
              <a:t>Agent interacts with all 200 environments simultaneously</a:t>
            </a:r>
            <a:endParaRPr lang="en-US" sz="1300" dirty="0">
              <a:latin typeface="Avenir Next LT Pro" panose="020B0504020202020204" pitchFamily="34" charset="0"/>
            </a:endParaRPr>
          </a:p>
          <a:p>
            <a:pPr marL="342900" indent="-342900">
              <a:spcAft>
                <a:spcPts val="500"/>
              </a:spcAft>
              <a:buSzPct val="100000"/>
              <a:buChar char="•"/>
            </a:pPr>
            <a:r>
              <a:rPr lang="en-US" sz="1300" dirty="0">
                <a:solidFill>
                  <a:srgbClr val="1E1E1E"/>
                </a:solidFill>
                <a:latin typeface="Avenir Next LT Pro" panose="020B0504020202020204" pitchFamily="34" charset="0"/>
              </a:rPr>
              <a:t>Joint optimization: world model + actor + critic</a:t>
            </a:r>
            <a:endParaRPr lang="en-US" sz="1300" dirty="0">
              <a:latin typeface="Avenir Next LT Pro" panose="020B0504020202020204" pitchFamily="34" charset="0"/>
            </a:endParaRPr>
          </a:p>
          <a:p>
            <a:pPr marL="342900" indent="-342900">
              <a:spcAft>
                <a:spcPts val="500"/>
              </a:spcAft>
              <a:buSzPct val="100000"/>
              <a:buChar char="•"/>
            </a:pPr>
            <a:r>
              <a:rPr lang="en-US" sz="1300" dirty="0">
                <a:solidFill>
                  <a:srgbClr val="1E1E1E"/>
                </a:solidFill>
                <a:latin typeface="Avenir Next LT Pro" panose="020B0504020202020204" pitchFamily="34" charset="0"/>
              </a:rPr>
              <a:t>Additional action supervision during RL policy updates</a:t>
            </a:r>
            <a:endParaRPr lang="en-US" sz="1300" dirty="0">
              <a:latin typeface="Avenir Next LT Pro" panose="020B0504020202020204" pitchFamily="34" charset="0"/>
            </a:endParaRPr>
          </a:p>
          <a:p>
            <a:pPr marL="342900" indent="-342900">
              <a:spcAft>
                <a:spcPts val="500"/>
              </a:spcAft>
              <a:buSzPct val="100000"/>
              <a:buChar char="•"/>
            </a:pPr>
            <a:r>
              <a:rPr lang="en-US" sz="1300" dirty="0">
                <a:solidFill>
                  <a:srgbClr val="1E1E1E"/>
                </a:solidFill>
                <a:latin typeface="Avenir Next LT Pro" panose="020B0504020202020204" pitchFamily="34" charset="0"/>
              </a:rPr>
              <a:t>Drastically accelerated training pipeline</a:t>
            </a:r>
            <a:endParaRPr lang="en-US" sz="1300" dirty="0">
              <a:latin typeface="Avenir Next LT Pro" panose="020B0504020202020204" pitchFamily="34" charset="0"/>
            </a:endParaRPr>
          </a:p>
        </p:txBody>
      </p:sp>
      <p:sp>
        <p:nvSpPr>
          <p:cNvPr id="16" name="Text 14"/>
          <p:cNvSpPr/>
          <p:nvPr/>
        </p:nvSpPr>
        <p:spPr>
          <a:xfrm>
            <a:off x="4361688" y="2651760"/>
            <a:ext cx="329184" cy="457200"/>
          </a:xfrm>
          <a:prstGeom prst="rect">
            <a:avLst/>
          </a:prstGeom>
          <a:noFill/>
          <a:ln/>
        </p:spPr>
        <p:txBody>
          <a:bodyPr wrap="square" rtlCol="0" anchor="ctr"/>
          <a:lstStyle/>
          <a:p>
            <a:pPr marL="0" indent="0" algn="ctr">
              <a:buNone/>
            </a:pPr>
            <a:r>
              <a:rPr lang="en-US" sz="2200" b="1" dirty="0">
                <a:solidFill>
                  <a:srgbClr val="8F0024"/>
                </a:solidFill>
                <a:latin typeface="Avenir Next LT Pro" panose="020B0504020202020204" pitchFamily="34" charset="0"/>
              </a:rPr>
              <a:t>→</a:t>
            </a:r>
            <a:endParaRPr lang="en-US" sz="2200" dirty="0">
              <a:latin typeface="Avenir Next LT Pro" panose="020B0504020202020204" pitchFamily="34" charset="0"/>
            </a:endParaRPr>
          </a:p>
        </p:txBody>
      </p:sp>
      <p:sp>
        <p:nvSpPr>
          <p:cNvPr id="17" name="Text 15"/>
          <p:cNvSpPr/>
          <p:nvPr/>
        </p:nvSpPr>
        <p:spPr>
          <a:xfrm>
            <a:off x="457200" y="4663440"/>
            <a:ext cx="8229600" cy="274320"/>
          </a:xfrm>
          <a:prstGeom prst="rect">
            <a:avLst/>
          </a:prstGeom>
          <a:noFill/>
          <a:ln/>
        </p:spPr>
        <p:txBody>
          <a:bodyPr wrap="square" rtlCol="0" anchor="ctr"/>
          <a:lstStyle/>
          <a:p>
            <a:pPr marL="0" indent="0" algn="ctr">
              <a:buNone/>
            </a:pPr>
            <a:r>
              <a:rPr lang="en-US" sz="1100" i="1" dirty="0">
                <a:solidFill>
                  <a:srgbClr val="6B6B6B"/>
                </a:solidFill>
                <a:latin typeface="Avenir Next LT Pro" panose="020B0504020202020204" pitchFamily="34" charset="0"/>
              </a:rPr>
              <a:t>Inspired by LLM recipe: large pretraining → fine-tune with RL</a:t>
            </a:r>
            <a:endParaRPr lang="en-US" sz="1100" dirty="0">
              <a:latin typeface="Avenir Next LT Pro" panose="020B05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CCBA18-58E0-DCEB-6BE3-2649AD066803}"/>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1867D146-A36B-68C8-F5B4-1C5DBA41C052}"/>
              </a:ext>
            </a:extLst>
          </p:cNvPr>
          <p:cNvSpPr/>
          <p:nvPr/>
        </p:nvSpPr>
        <p:spPr>
          <a:xfrm>
            <a:off x="347472" y="566928"/>
            <a:ext cx="7589520" cy="502920"/>
          </a:xfrm>
          <a:prstGeom prst="rect">
            <a:avLst/>
          </a:prstGeom>
          <a:noFill/>
          <a:ln/>
        </p:spPr>
        <p:txBody>
          <a:bodyPr wrap="square" lIns="0" tIns="0" rIns="0" bIns="0" rtlCol="0" anchor="ctr"/>
          <a:lstStyle/>
          <a:p>
            <a:pPr marL="0" indent="0">
              <a:buNone/>
            </a:pPr>
            <a:r>
              <a:rPr lang="en-US" sz="2600" b="1" dirty="0">
                <a:solidFill>
                  <a:srgbClr val="8F0024"/>
                </a:solidFill>
                <a:latin typeface="Avenir Next LT Pro" panose="020B0504020202020204" pitchFamily="34" charset="0"/>
              </a:rPr>
              <a:t>Experimental Setup </a:t>
            </a:r>
            <a:endParaRPr lang="en-US" sz="2600" dirty="0">
              <a:latin typeface="Avenir Next LT Pro" panose="020B0504020202020204" pitchFamily="34" charset="0"/>
            </a:endParaRPr>
          </a:p>
        </p:txBody>
      </p:sp>
      <p:sp>
        <p:nvSpPr>
          <p:cNvPr id="5" name="Shape 3">
            <a:extLst>
              <a:ext uri="{FF2B5EF4-FFF2-40B4-BE49-F238E27FC236}">
                <a16:creationId xmlns:a16="http://schemas.microsoft.com/office/drawing/2014/main" id="{1A163907-66A6-E244-F801-4029828F9F22}"/>
              </a:ext>
            </a:extLst>
          </p:cNvPr>
          <p:cNvSpPr/>
          <p:nvPr/>
        </p:nvSpPr>
        <p:spPr>
          <a:xfrm>
            <a:off x="347472" y="1115568"/>
            <a:ext cx="8229600" cy="0"/>
          </a:xfrm>
          <a:prstGeom prst="line">
            <a:avLst/>
          </a:prstGeom>
          <a:noFill/>
          <a:ln w="8890">
            <a:solidFill>
              <a:srgbClr val="CCCCCC"/>
            </a:solidFill>
            <a:prstDash val="solid"/>
          </a:ln>
        </p:spPr>
        <p:txBody>
          <a:bodyPr/>
          <a:lstStyle/>
          <a:p>
            <a:endParaRPr lang="en-CA">
              <a:latin typeface="Avenir Next LT Pro" panose="020B0504020202020204" pitchFamily="34" charset="0"/>
            </a:endParaRPr>
          </a:p>
        </p:txBody>
      </p:sp>
      <p:sp>
        <p:nvSpPr>
          <p:cNvPr id="6" name="Text 4">
            <a:extLst>
              <a:ext uri="{FF2B5EF4-FFF2-40B4-BE49-F238E27FC236}">
                <a16:creationId xmlns:a16="http://schemas.microsoft.com/office/drawing/2014/main" id="{39FD521D-2D91-717E-7753-63D566C6691F}"/>
              </a:ext>
            </a:extLst>
          </p:cNvPr>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latin typeface="Avenir Next LT Pro" panose="020B0504020202020204" pitchFamily="34" charset="0"/>
              </a:rPr>
              <a:t>uOttawa</a:t>
            </a:r>
            <a:endParaRPr lang="en-US" sz="1300" dirty="0">
              <a:latin typeface="Avenir Next LT Pro" panose="020B0504020202020204" pitchFamily="34" charset="0"/>
            </a:endParaRPr>
          </a:p>
        </p:txBody>
      </p:sp>
      <p:sp>
        <p:nvSpPr>
          <p:cNvPr id="7" name="Text 5">
            <a:extLst>
              <a:ext uri="{FF2B5EF4-FFF2-40B4-BE49-F238E27FC236}">
                <a16:creationId xmlns:a16="http://schemas.microsoft.com/office/drawing/2014/main" id="{5A24A8C6-CE6D-F2BC-87DB-F69975B3EAD8}"/>
              </a:ext>
            </a:extLst>
          </p:cNvPr>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B6B6B"/>
                </a:solidFill>
                <a:latin typeface="Avenir Next LT Pro" panose="020B0504020202020204" pitchFamily="34" charset="0"/>
              </a:rPr>
              <a:t>9</a:t>
            </a:r>
            <a:endParaRPr lang="en-US" sz="900" dirty="0">
              <a:latin typeface="Avenir Next LT Pro" panose="020B0504020202020204" pitchFamily="34" charset="0"/>
            </a:endParaRPr>
          </a:p>
        </p:txBody>
      </p:sp>
      <p:sp>
        <p:nvSpPr>
          <p:cNvPr id="8" name="Shape 6">
            <a:extLst>
              <a:ext uri="{FF2B5EF4-FFF2-40B4-BE49-F238E27FC236}">
                <a16:creationId xmlns:a16="http://schemas.microsoft.com/office/drawing/2014/main" id="{CBE8EF51-6CC4-30DF-465C-D66BA0675CE3}"/>
              </a:ext>
            </a:extLst>
          </p:cNvPr>
          <p:cNvSpPr/>
          <p:nvPr/>
        </p:nvSpPr>
        <p:spPr>
          <a:xfrm>
            <a:off x="347472" y="1261872"/>
            <a:ext cx="4160520" cy="3474720"/>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9" name="Shape 7">
            <a:extLst>
              <a:ext uri="{FF2B5EF4-FFF2-40B4-BE49-F238E27FC236}">
                <a16:creationId xmlns:a16="http://schemas.microsoft.com/office/drawing/2014/main" id="{7435771E-4BE9-401C-DD67-62081BC80692}"/>
              </a:ext>
            </a:extLst>
          </p:cNvPr>
          <p:cNvSpPr/>
          <p:nvPr/>
        </p:nvSpPr>
        <p:spPr>
          <a:xfrm>
            <a:off x="347472" y="1261872"/>
            <a:ext cx="4160520" cy="411480"/>
          </a:xfrm>
          <a:prstGeom prst="rect">
            <a:avLst/>
          </a:prstGeom>
          <a:solidFill>
            <a:srgbClr val="B5003E"/>
          </a:solidFill>
          <a:ln w="12700">
            <a:solidFill>
              <a:srgbClr val="B5003E"/>
            </a:solidFill>
            <a:prstDash val="solid"/>
          </a:ln>
        </p:spPr>
        <p:txBody>
          <a:bodyPr/>
          <a:lstStyle/>
          <a:p>
            <a:endParaRPr lang="en-CA">
              <a:latin typeface="Avenir Next LT Pro" panose="020B0504020202020204" pitchFamily="34" charset="0"/>
            </a:endParaRPr>
          </a:p>
        </p:txBody>
      </p:sp>
      <p:sp>
        <p:nvSpPr>
          <p:cNvPr id="10" name="Text 8">
            <a:extLst>
              <a:ext uri="{FF2B5EF4-FFF2-40B4-BE49-F238E27FC236}">
                <a16:creationId xmlns:a16="http://schemas.microsoft.com/office/drawing/2014/main" id="{8337BD40-7F1B-8A5D-EC64-4D84ED629E0D}"/>
              </a:ext>
            </a:extLst>
          </p:cNvPr>
          <p:cNvSpPr/>
          <p:nvPr/>
        </p:nvSpPr>
        <p:spPr>
          <a:xfrm>
            <a:off x="438912" y="1261872"/>
            <a:ext cx="3977640" cy="411480"/>
          </a:xfrm>
          <a:prstGeom prst="rect">
            <a:avLst/>
          </a:prstGeom>
          <a:noFill/>
          <a:ln/>
        </p:spPr>
        <p:txBody>
          <a:bodyPr wrap="square" lIns="0" tIns="0" rIns="0" bIns="0" rtlCol="0" anchor="ctr"/>
          <a:lstStyle/>
          <a:p>
            <a:pPr marL="0" indent="0">
              <a:buNone/>
            </a:pPr>
            <a:r>
              <a:rPr lang="en-US" sz="1200" b="1" dirty="0">
                <a:solidFill>
                  <a:srgbClr val="FFFFFF"/>
                </a:solidFill>
                <a:latin typeface="Avenir Next LT Pro" panose="020B0504020202020204" pitchFamily="34" charset="0"/>
              </a:rPr>
              <a:t>Tools:   </a:t>
            </a:r>
            <a:r>
              <a:rPr lang="en-US" sz="1200" b="1" dirty="0" err="1">
                <a:solidFill>
                  <a:srgbClr val="FFFFFF"/>
                </a:solidFill>
                <a:latin typeface="Avenir Next LT Pro" panose="020B0504020202020204" pitchFamily="34" charset="0"/>
              </a:rPr>
              <a:t>MMBench</a:t>
            </a:r>
            <a:endParaRPr lang="en-US" sz="1200" dirty="0">
              <a:latin typeface="Avenir Next LT Pro" panose="020B0504020202020204" pitchFamily="34" charset="0"/>
            </a:endParaRPr>
          </a:p>
        </p:txBody>
      </p:sp>
      <p:sp>
        <p:nvSpPr>
          <p:cNvPr id="11" name="Text 9">
            <a:extLst>
              <a:ext uri="{FF2B5EF4-FFF2-40B4-BE49-F238E27FC236}">
                <a16:creationId xmlns:a16="http://schemas.microsoft.com/office/drawing/2014/main" id="{F13F9B9B-9963-0DA1-D6D4-0D1F5EDD211A}"/>
              </a:ext>
            </a:extLst>
          </p:cNvPr>
          <p:cNvSpPr/>
          <p:nvPr/>
        </p:nvSpPr>
        <p:spPr>
          <a:xfrm>
            <a:off x="438912" y="1755648"/>
            <a:ext cx="3931920" cy="2834640"/>
          </a:xfrm>
          <a:prstGeom prst="rect">
            <a:avLst/>
          </a:prstGeom>
          <a:noFill/>
          <a:ln/>
        </p:spPr>
        <p:txBody>
          <a:bodyPr wrap="square" rtlCol="0" anchor="ctr"/>
          <a:lstStyle/>
          <a:p>
            <a:pPr marL="342900" indent="-342900">
              <a:spcAft>
                <a:spcPts val="400"/>
              </a:spcAft>
              <a:buSzPct val="100000"/>
              <a:buChar char="•"/>
            </a:pPr>
            <a:r>
              <a:rPr lang="en-US" sz="1400" dirty="0">
                <a:solidFill>
                  <a:srgbClr val="1E293B"/>
                </a:solidFill>
                <a:latin typeface="Avenir Next LT Pro" panose="020B0504020202020204" pitchFamily="34" charset="0"/>
                <a:ea typeface="Calibri" pitchFamily="34" charset="-122"/>
                <a:cs typeface="Calibri" pitchFamily="34" charset="-120"/>
              </a:rPr>
              <a:t>200 tasks, 10 domains, 100M total env steps</a:t>
            </a:r>
            <a:endParaRPr lang="en-US" sz="1400" dirty="0">
              <a:latin typeface="Avenir Next LT Pro" panose="020B0504020202020204" pitchFamily="34" charset="0"/>
            </a:endParaRPr>
          </a:p>
          <a:p>
            <a:pPr marL="342900" indent="-342900">
              <a:spcAft>
                <a:spcPts val="400"/>
              </a:spcAft>
              <a:buSzPct val="100000"/>
              <a:buChar char="•"/>
            </a:pPr>
            <a:r>
              <a:rPr lang="en-US" sz="1400" dirty="0">
                <a:solidFill>
                  <a:srgbClr val="1E293B"/>
                </a:solidFill>
                <a:latin typeface="Avenir Next LT Pro" panose="020B0504020202020204" pitchFamily="34" charset="0"/>
                <a:ea typeface="Calibri" pitchFamily="34" charset="-122"/>
                <a:cs typeface="Calibri" pitchFamily="34" charset="-120"/>
              </a:rPr>
              <a:t>20M parameter agents (default)</a:t>
            </a:r>
            <a:endParaRPr lang="en-US" sz="1400" dirty="0">
              <a:latin typeface="Avenir Next LT Pro" panose="020B0504020202020204" pitchFamily="34" charset="0"/>
            </a:endParaRPr>
          </a:p>
          <a:p>
            <a:pPr marL="342900" indent="-342900">
              <a:spcAft>
                <a:spcPts val="400"/>
              </a:spcAft>
              <a:buSzPct val="100000"/>
              <a:buChar char="•"/>
            </a:pPr>
            <a:r>
              <a:rPr lang="en-US" sz="1400" dirty="0">
                <a:solidFill>
                  <a:srgbClr val="1E293B"/>
                </a:solidFill>
                <a:latin typeface="Avenir Next LT Pro" panose="020B0504020202020204" pitchFamily="34" charset="0"/>
                <a:ea typeface="Calibri" pitchFamily="34" charset="-122"/>
                <a:cs typeface="Calibri" pitchFamily="34" charset="-120"/>
              </a:rPr>
              <a:t>State observations: 128-d vectors</a:t>
            </a:r>
            <a:endParaRPr lang="en-US" sz="1400" dirty="0">
              <a:latin typeface="Avenir Next LT Pro" panose="020B0504020202020204" pitchFamily="34" charset="0"/>
            </a:endParaRPr>
          </a:p>
          <a:p>
            <a:pPr marL="342900" indent="-342900">
              <a:spcAft>
                <a:spcPts val="400"/>
              </a:spcAft>
              <a:buSzPct val="100000"/>
              <a:buChar char="•"/>
            </a:pPr>
            <a:r>
              <a:rPr lang="en-US" sz="1400" dirty="0">
                <a:solidFill>
                  <a:srgbClr val="1E293B"/>
                </a:solidFill>
                <a:latin typeface="Avenir Next LT Pro" panose="020B0504020202020204" pitchFamily="34" charset="0"/>
                <a:ea typeface="Calibri" pitchFamily="34" charset="-122"/>
                <a:cs typeface="Calibri" pitchFamily="34" charset="-120"/>
              </a:rPr>
              <a:t>Actions: 16-d vectors (masked for invalid dims)</a:t>
            </a:r>
            <a:endParaRPr lang="en-US" sz="1400" dirty="0">
              <a:latin typeface="Avenir Next LT Pro" panose="020B0504020202020204" pitchFamily="34" charset="0"/>
            </a:endParaRPr>
          </a:p>
          <a:p>
            <a:pPr marL="342900" indent="-342900">
              <a:spcAft>
                <a:spcPts val="400"/>
              </a:spcAft>
              <a:buSzPct val="100000"/>
              <a:buChar char="•"/>
            </a:pPr>
            <a:r>
              <a:rPr lang="en-US" sz="1400" dirty="0">
                <a:solidFill>
                  <a:srgbClr val="1E293B"/>
                </a:solidFill>
                <a:latin typeface="Avenir Next LT Pro" panose="020B0504020202020204" pitchFamily="34" charset="0"/>
                <a:ea typeface="Calibri" pitchFamily="34" charset="-122"/>
                <a:cs typeface="Calibri" pitchFamily="34" charset="-120"/>
              </a:rPr>
              <a:t>Language: CLIP-</a:t>
            </a:r>
            <a:r>
              <a:rPr lang="en-US" sz="1400" dirty="0" err="1">
                <a:solidFill>
                  <a:srgbClr val="1E293B"/>
                </a:solidFill>
                <a:latin typeface="Avenir Next LT Pro" panose="020B0504020202020204" pitchFamily="34" charset="0"/>
                <a:ea typeface="Calibri" pitchFamily="34" charset="-122"/>
                <a:cs typeface="Calibri" pitchFamily="34" charset="-120"/>
              </a:rPr>
              <a:t>ViT</a:t>
            </a:r>
            <a:r>
              <a:rPr lang="en-US" sz="1400" dirty="0">
                <a:solidFill>
                  <a:srgbClr val="1E293B"/>
                </a:solidFill>
                <a:latin typeface="Avenir Next LT Pro" panose="020B0504020202020204" pitchFamily="34" charset="0"/>
                <a:ea typeface="Calibri" pitchFamily="34" charset="-122"/>
                <a:cs typeface="Calibri" pitchFamily="34" charset="-120"/>
              </a:rPr>
              <a:t>/B (512-d)</a:t>
            </a:r>
            <a:endParaRPr lang="en-US" sz="1400" dirty="0">
              <a:latin typeface="Avenir Next LT Pro" panose="020B0504020202020204" pitchFamily="34" charset="0"/>
            </a:endParaRPr>
          </a:p>
          <a:p>
            <a:pPr marL="342900" indent="-342900">
              <a:spcAft>
                <a:spcPts val="400"/>
              </a:spcAft>
              <a:buSzPct val="100000"/>
              <a:buChar char="•"/>
            </a:pPr>
            <a:r>
              <a:rPr lang="en-US" sz="1400" dirty="0">
                <a:solidFill>
                  <a:srgbClr val="1E293B"/>
                </a:solidFill>
                <a:latin typeface="Avenir Next LT Pro" panose="020B0504020202020204" pitchFamily="34" charset="0"/>
                <a:ea typeface="Calibri" pitchFamily="34" charset="-122"/>
                <a:cs typeface="Calibri" pitchFamily="34" charset="-120"/>
              </a:rPr>
              <a:t>Images: DINOv2/B (768-d, optional)</a:t>
            </a:r>
            <a:endParaRPr lang="en-US" sz="1400" dirty="0">
              <a:latin typeface="Avenir Next LT Pro" panose="020B0504020202020204" pitchFamily="34" charset="0"/>
            </a:endParaRPr>
          </a:p>
          <a:p>
            <a:pPr marL="342900" indent="-342900">
              <a:spcAft>
                <a:spcPts val="400"/>
              </a:spcAft>
              <a:buSzPct val="100000"/>
              <a:buChar char="•"/>
            </a:pPr>
            <a:r>
              <a:rPr lang="en-US" sz="1400" dirty="0">
                <a:solidFill>
                  <a:srgbClr val="1E293B"/>
                </a:solidFill>
                <a:latin typeface="Avenir Next LT Pro" panose="020B0504020202020204" pitchFamily="34" charset="0"/>
                <a:ea typeface="Calibri" pitchFamily="34" charset="-122"/>
                <a:cs typeface="Calibri" pitchFamily="34" charset="-120"/>
              </a:rPr>
              <a:t>Replay buffer: 10M capacity</a:t>
            </a:r>
            <a:endParaRPr lang="en-US" sz="1400" dirty="0">
              <a:latin typeface="Avenir Next LT Pro" panose="020B0504020202020204" pitchFamily="34" charset="0"/>
            </a:endParaRPr>
          </a:p>
          <a:p>
            <a:pPr marL="342900" indent="-342900">
              <a:spcAft>
                <a:spcPts val="400"/>
              </a:spcAft>
              <a:buSzPct val="100000"/>
              <a:buChar char="•"/>
            </a:pPr>
            <a:r>
              <a:rPr lang="en-US" sz="1400" dirty="0">
                <a:solidFill>
                  <a:srgbClr val="1E293B"/>
                </a:solidFill>
                <a:latin typeface="Avenir Next LT Pro" panose="020B0504020202020204" pitchFamily="34" charset="0"/>
                <a:ea typeface="Calibri" pitchFamily="34" charset="-122"/>
                <a:cs typeface="Calibri" pitchFamily="34" charset="-120"/>
              </a:rPr>
              <a:t>Training: ~4.6 days on 2× RTX 5090</a:t>
            </a:r>
            <a:endParaRPr lang="en-US" sz="1300" dirty="0">
              <a:latin typeface="Avenir Next LT Pro" panose="020B0504020202020204" pitchFamily="34" charset="0"/>
            </a:endParaRPr>
          </a:p>
        </p:txBody>
      </p:sp>
      <p:sp>
        <p:nvSpPr>
          <p:cNvPr id="12" name="Shape 10">
            <a:extLst>
              <a:ext uri="{FF2B5EF4-FFF2-40B4-BE49-F238E27FC236}">
                <a16:creationId xmlns:a16="http://schemas.microsoft.com/office/drawing/2014/main" id="{8F248CD1-0C1A-2D17-F546-17956CB2605D}"/>
              </a:ext>
            </a:extLst>
          </p:cNvPr>
          <p:cNvSpPr/>
          <p:nvPr/>
        </p:nvSpPr>
        <p:spPr>
          <a:xfrm>
            <a:off x="4782312" y="1261872"/>
            <a:ext cx="4160520" cy="3474720"/>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13" name="Shape 11">
            <a:extLst>
              <a:ext uri="{FF2B5EF4-FFF2-40B4-BE49-F238E27FC236}">
                <a16:creationId xmlns:a16="http://schemas.microsoft.com/office/drawing/2014/main" id="{F2016F1F-F7EA-B4A4-85D9-8D88D7A5A00A}"/>
              </a:ext>
            </a:extLst>
          </p:cNvPr>
          <p:cNvSpPr/>
          <p:nvPr/>
        </p:nvSpPr>
        <p:spPr>
          <a:xfrm>
            <a:off x="4782312" y="1261872"/>
            <a:ext cx="4160520" cy="411480"/>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14" name="Text 12">
            <a:extLst>
              <a:ext uri="{FF2B5EF4-FFF2-40B4-BE49-F238E27FC236}">
                <a16:creationId xmlns:a16="http://schemas.microsoft.com/office/drawing/2014/main" id="{704E36E3-6E44-EFE8-CEAB-3BC85DECEE29}"/>
              </a:ext>
            </a:extLst>
          </p:cNvPr>
          <p:cNvSpPr/>
          <p:nvPr/>
        </p:nvSpPr>
        <p:spPr>
          <a:xfrm>
            <a:off x="4873752" y="1261872"/>
            <a:ext cx="3977640" cy="411480"/>
          </a:xfrm>
          <a:prstGeom prst="rect">
            <a:avLst/>
          </a:prstGeom>
          <a:noFill/>
          <a:ln/>
        </p:spPr>
        <p:txBody>
          <a:bodyPr wrap="square" lIns="0" tIns="0" rIns="0" bIns="0" rtlCol="0" anchor="ctr"/>
          <a:lstStyle/>
          <a:p>
            <a:pPr marL="0" indent="0">
              <a:buNone/>
            </a:pPr>
            <a:r>
              <a:rPr lang="en-US" sz="1200" b="1" dirty="0">
                <a:solidFill>
                  <a:srgbClr val="FFFFFF"/>
                </a:solidFill>
                <a:latin typeface="Avenir Next LT Pro" panose="020B0504020202020204" pitchFamily="34" charset="0"/>
              </a:rPr>
              <a:t>Evaluations Structure: The experiments are organized around this questions</a:t>
            </a:r>
            <a:endParaRPr lang="en-US" sz="1200" dirty="0">
              <a:latin typeface="Avenir Next LT Pro" panose="020B0504020202020204" pitchFamily="34" charset="0"/>
            </a:endParaRPr>
          </a:p>
        </p:txBody>
      </p:sp>
      <p:sp>
        <p:nvSpPr>
          <p:cNvPr id="15" name="Text 13">
            <a:extLst>
              <a:ext uri="{FF2B5EF4-FFF2-40B4-BE49-F238E27FC236}">
                <a16:creationId xmlns:a16="http://schemas.microsoft.com/office/drawing/2014/main" id="{317654FF-E415-F2BB-1AE9-B810F25C5F3A}"/>
              </a:ext>
            </a:extLst>
          </p:cNvPr>
          <p:cNvSpPr/>
          <p:nvPr/>
        </p:nvSpPr>
        <p:spPr>
          <a:xfrm>
            <a:off x="4873752" y="1755648"/>
            <a:ext cx="3931920" cy="2834640"/>
          </a:xfrm>
          <a:prstGeom prst="rect">
            <a:avLst/>
          </a:prstGeom>
          <a:noFill/>
          <a:ln/>
        </p:spPr>
        <p:txBody>
          <a:bodyPr wrap="square" rtlCol="0" anchor="ctr"/>
          <a:lstStyle/>
          <a:p>
            <a:pPr marL="342900" indent="-342900">
              <a:spcAft>
                <a:spcPts val="500"/>
              </a:spcAft>
              <a:buSzPct val="100000"/>
              <a:buChar char="•"/>
            </a:pPr>
            <a:r>
              <a:rPr lang="en-US" sz="1300" dirty="0">
                <a:latin typeface="Avenir Next LT Pro" panose="020B0504020202020204" pitchFamily="34" charset="0"/>
              </a:rPr>
              <a:t>Q1: Performance : Can a single agent train on hundreds of unique task</a:t>
            </a:r>
          </a:p>
          <a:p>
            <a:pPr marL="342900" indent="-342900">
              <a:spcAft>
                <a:spcPts val="500"/>
              </a:spcAft>
              <a:buSzPct val="100000"/>
              <a:buChar char="•"/>
            </a:pPr>
            <a:r>
              <a:rPr lang="en-US" sz="1300" dirty="0">
                <a:latin typeface="Avenir Next LT Pro" panose="020B0504020202020204" pitchFamily="34" charset="0"/>
              </a:rPr>
              <a:t>Q2: Learning from demonstrations: Do they alleviate the difficulty of exploration.</a:t>
            </a:r>
          </a:p>
          <a:p>
            <a:pPr marL="342900" indent="-342900">
              <a:spcAft>
                <a:spcPts val="500"/>
              </a:spcAft>
              <a:buSzPct val="100000"/>
              <a:buChar char="•"/>
            </a:pPr>
            <a:r>
              <a:rPr lang="en-US" sz="1300" dirty="0">
                <a:latin typeface="Avenir Next LT Pro" panose="020B0504020202020204" pitchFamily="34" charset="0"/>
              </a:rPr>
              <a:t>Q3: Model Capabilities: Downstream capabilities of NEWT and can we leverage it for zero-shot transfer.</a:t>
            </a:r>
          </a:p>
          <a:p>
            <a:pPr marL="342900" indent="-342900">
              <a:spcAft>
                <a:spcPts val="500"/>
              </a:spcAft>
              <a:buSzPct val="100000"/>
              <a:buChar char="•"/>
            </a:pPr>
            <a:r>
              <a:rPr lang="en-US" sz="1300" dirty="0">
                <a:latin typeface="Avenir Next LT Pro" panose="020B0504020202020204" pitchFamily="34" charset="0"/>
              </a:rPr>
              <a:t>Q4: Analysis and Ablation: what is a good multitask world model.</a:t>
            </a:r>
          </a:p>
        </p:txBody>
      </p:sp>
      <p:sp>
        <p:nvSpPr>
          <p:cNvPr id="16" name="Text 14">
            <a:extLst>
              <a:ext uri="{FF2B5EF4-FFF2-40B4-BE49-F238E27FC236}">
                <a16:creationId xmlns:a16="http://schemas.microsoft.com/office/drawing/2014/main" id="{CF2D35D6-6D13-DE21-9B26-F02934C36E1D}"/>
              </a:ext>
            </a:extLst>
          </p:cNvPr>
          <p:cNvSpPr/>
          <p:nvPr/>
        </p:nvSpPr>
        <p:spPr>
          <a:xfrm>
            <a:off x="4361688" y="2651760"/>
            <a:ext cx="329184" cy="457200"/>
          </a:xfrm>
          <a:prstGeom prst="rect">
            <a:avLst/>
          </a:prstGeom>
          <a:noFill/>
          <a:ln/>
        </p:spPr>
        <p:txBody>
          <a:bodyPr wrap="square" rtlCol="0" anchor="ctr"/>
          <a:lstStyle/>
          <a:p>
            <a:pPr marL="0" indent="0" algn="ctr">
              <a:buNone/>
            </a:pPr>
            <a:r>
              <a:rPr lang="en-US" sz="2200" b="1" dirty="0">
                <a:solidFill>
                  <a:srgbClr val="8F0024"/>
                </a:solidFill>
                <a:latin typeface="Avenir Next LT Pro" panose="020B0504020202020204" pitchFamily="34" charset="0"/>
              </a:rPr>
              <a:t>→</a:t>
            </a:r>
            <a:endParaRPr lang="en-US" sz="2200" dirty="0">
              <a:latin typeface="Avenir Next LT Pro" panose="020B0504020202020204" pitchFamily="34" charset="0"/>
            </a:endParaRPr>
          </a:p>
        </p:txBody>
      </p:sp>
      <p:sp>
        <p:nvSpPr>
          <p:cNvPr id="17" name="Text 15">
            <a:extLst>
              <a:ext uri="{FF2B5EF4-FFF2-40B4-BE49-F238E27FC236}">
                <a16:creationId xmlns:a16="http://schemas.microsoft.com/office/drawing/2014/main" id="{F8AEB5A4-A5EA-5BDD-7637-2E2D8029B979}"/>
              </a:ext>
            </a:extLst>
          </p:cNvPr>
          <p:cNvSpPr/>
          <p:nvPr/>
        </p:nvSpPr>
        <p:spPr>
          <a:xfrm>
            <a:off x="457200" y="4663440"/>
            <a:ext cx="8229600" cy="274320"/>
          </a:xfrm>
          <a:prstGeom prst="rect">
            <a:avLst/>
          </a:prstGeom>
          <a:noFill/>
          <a:ln/>
        </p:spPr>
        <p:txBody>
          <a:bodyPr wrap="square" rtlCol="0" anchor="ctr"/>
          <a:lstStyle/>
          <a:p>
            <a:pPr marL="0" indent="0" algn="ctr">
              <a:buNone/>
            </a:pPr>
            <a:r>
              <a:rPr lang="en-US" sz="1100" i="1" dirty="0">
                <a:solidFill>
                  <a:srgbClr val="6B6B6B"/>
                </a:solidFill>
                <a:latin typeface="Avenir Next LT Pro" panose="020B0504020202020204" pitchFamily="34" charset="0"/>
              </a:rPr>
              <a:t>Inspired by LLM recipe: large pretraining → fine-tune with RL</a:t>
            </a:r>
            <a:endParaRPr lang="en-US" sz="1100" dirty="0">
              <a:latin typeface="Avenir Next LT Pro" panose="020B0504020202020204" pitchFamily="34" charset="0"/>
            </a:endParaRPr>
          </a:p>
        </p:txBody>
      </p:sp>
    </p:spTree>
    <p:extLst>
      <p:ext uri="{BB962C8B-B14F-4D97-AF65-F5344CB8AC3E}">
        <p14:creationId xmlns:p14="http://schemas.microsoft.com/office/powerpoint/2010/main" val="474030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2"/>
          <p:cNvSpPr/>
          <p:nvPr/>
        </p:nvSpPr>
        <p:spPr>
          <a:xfrm>
            <a:off x="347472" y="566928"/>
            <a:ext cx="7589520" cy="502920"/>
          </a:xfrm>
          <a:prstGeom prst="rect">
            <a:avLst/>
          </a:prstGeom>
          <a:noFill/>
          <a:ln/>
        </p:spPr>
        <p:txBody>
          <a:bodyPr wrap="square" lIns="0" tIns="0" rIns="0" bIns="0" rtlCol="0" anchor="ctr"/>
          <a:lstStyle/>
          <a:p>
            <a:pPr marL="0" indent="0">
              <a:buNone/>
            </a:pPr>
            <a:r>
              <a:rPr lang="en-US" sz="2600" b="1" dirty="0">
                <a:solidFill>
                  <a:srgbClr val="8F0024"/>
                </a:solidFill>
                <a:latin typeface="Avenir Next LT Pro" panose="020B0504020202020204" pitchFamily="34" charset="0"/>
              </a:rPr>
              <a:t>Experimental Setup</a:t>
            </a:r>
            <a:endParaRPr lang="en-US" sz="2600" dirty="0">
              <a:latin typeface="Avenir Next LT Pro" panose="020B0504020202020204" pitchFamily="34" charset="0"/>
            </a:endParaRPr>
          </a:p>
        </p:txBody>
      </p:sp>
      <p:sp>
        <p:nvSpPr>
          <p:cNvPr id="5" name="Shape 3"/>
          <p:cNvSpPr/>
          <p:nvPr/>
        </p:nvSpPr>
        <p:spPr>
          <a:xfrm>
            <a:off x="347472" y="1115568"/>
            <a:ext cx="8229600" cy="0"/>
          </a:xfrm>
          <a:prstGeom prst="line">
            <a:avLst/>
          </a:prstGeom>
          <a:noFill/>
          <a:ln w="8890">
            <a:solidFill>
              <a:srgbClr val="CCCCCC"/>
            </a:solidFill>
            <a:prstDash val="solid"/>
          </a:ln>
        </p:spPr>
        <p:txBody>
          <a:bodyPr/>
          <a:lstStyle/>
          <a:p>
            <a:endParaRPr lang="en-CA">
              <a:latin typeface="Avenir Next LT Pro" panose="020B0504020202020204" pitchFamily="34" charset="0"/>
            </a:endParaRPr>
          </a:p>
        </p:txBody>
      </p:sp>
      <p:sp>
        <p:nvSpPr>
          <p:cNvPr id="6" name="Text 4"/>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latin typeface="Avenir Next LT Pro" panose="020B0504020202020204" pitchFamily="34" charset="0"/>
              </a:rPr>
              <a:t>uOttawa</a:t>
            </a:r>
            <a:endParaRPr lang="en-US" sz="1300" dirty="0">
              <a:latin typeface="Avenir Next LT Pro" panose="020B0504020202020204" pitchFamily="34" charset="0"/>
            </a:endParaRPr>
          </a:p>
        </p:txBody>
      </p:sp>
      <p:sp>
        <p:nvSpPr>
          <p:cNvPr id="7" name="Text 5"/>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B6B6B"/>
                </a:solidFill>
                <a:latin typeface="Avenir Next LT Pro" panose="020B0504020202020204" pitchFamily="34" charset="0"/>
              </a:rPr>
              <a:t>10</a:t>
            </a:r>
            <a:endParaRPr lang="en-US" sz="900" dirty="0">
              <a:latin typeface="Avenir Next LT Pro" panose="020B0504020202020204" pitchFamily="34" charset="0"/>
            </a:endParaRPr>
          </a:p>
        </p:txBody>
      </p:sp>
      <p:sp>
        <p:nvSpPr>
          <p:cNvPr id="8" name="Text 6"/>
          <p:cNvSpPr/>
          <p:nvPr/>
        </p:nvSpPr>
        <p:spPr>
          <a:xfrm>
            <a:off x="347472" y="1261872"/>
            <a:ext cx="8229600" cy="320040"/>
          </a:xfrm>
          <a:prstGeom prst="rect">
            <a:avLst/>
          </a:prstGeom>
          <a:noFill/>
          <a:ln/>
        </p:spPr>
        <p:txBody>
          <a:bodyPr wrap="square" lIns="0" tIns="0" rIns="0" bIns="0" rtlCol="0" anchor="ctr"/>
          <a:lstStyle/>
          <a:p>
            <a:pPr marL="0" indent="0">
              <a:buNone/>
            </a:pPr>
            <a:r>
              <a:rPr lang="en-US" sz="1300" b="1" dirty="0">
                <a:solidFill>
                  <a:srgbClr val="8F0024"/>
                </a:solidFill>
                <a:latin typeface="Avenir Next LT Pro" panose="020B0504020202020204" pitchFamily="34" charset="0"/>
              </a:rPr>
              <a:t>Baselines compared against Newt:</a:t>
            </a:r>
            <a:endParaRPr lang="en-US" sz="1300" dirty="0">
              <a:latin typeface="Avenir Next LT Pro" panose="020B0504020202020204" pitchFamily="34" charset="0"/>
            </a:endParaRPr>
          </a:p>
        </p:txBody>
      </p:sp>
      <p:sp>
        <p:nvSpPr>
          <p:cNvPr id="9" name="Shape 7"/>
          <p:cNvSpPr/>
          <p:nvPr/>
        </p:nvSpPr>
        <p:spPr>
          <a:xfrm>
            <a:off x="347472" y="1691640"/>
            <a:ext cx="4160520" cy="1024128"/>
          </a:xfrm>
          <a:prstGeom prst="rect">
            <a:avLst/>
          </a:prstGeom>
          <a:solidFill>
            <a:srgbClr val="E8E8E8"/>
          </a:solidFill>
          <a:ln w="12700">
            <a:solidFill>
              <a:srgbClr val="DDDDDD"/>
            </a:solidFill>
            <a:prstDash val="solid"/>
          </a:ln>
        </p:spPr>
        <p:txBody>
          <a:bodyPr/>
          <a:lstStyle/>
          <a:p>
            <a:endParaRPr lang="en-CA">
              <a:latin typeface="Avenir Next LT Pro" panose="020B0504020202020204" pitchFamily="34" charset="0"/>
            </a:endParaRPr>
          </a:p>
        </p:txBody>
      </p:sp>
      <p:sp>
        <p:nvSpPr>
          <p:cNvPr id="10" name="Text 8"/>
          <p:cNvSpPr/>
          <p:nvPr/>
        </p:nvSpPr>
        <p:spPr>
          <a:xfrm>
            <a:off x="438912" y="1746504"/>
            <a:ext cx="3931920" cy="292608"/>
          </a:xfrm>
          <a:prstGeom prst="rect">
            <a:avLst/>
          </a:prstGeom>
          <a:noFill/>
          <a:ln/>
        </p:spPr>
        <p:txBody>
          <a:bodyPr wrap="square" lIns="0" tIns="0" rIns="0" bIns="0" rtlCol="0" anchor="ctr"/>
          <a:lstStyle/>
          <a:p>
            <a:pPr marL="0" indent="0">
              <a:buNone/>
            </a:pPr>
            <a:r>
              <a:rPr lang="en-US" sz="1300" b="1" dirty="0">
                <a:solidFill>
                  <a:srgbClr val="1E1E1E"/>
                </a:solidFill>
                <a:latin typeface="Avenir Next LT Pro" panose="020B0504020202020204" pitchFamily="34" charset="0"/>
              </a:rPr>
              <a:t>Behavior Cloning (BC)</a:t>
            </a:r>
            <a:endParaRPr lang="en-US" sz="1300" dirty="0">
              <a:latin typeface="Avenir Next LT Pro" panose="020B0504020202020204" pitchFamily="34" charset="0"/>
            </a:endParaRPr>
          </a:p>
        </p:txBody>
      </p:sp>
      <p:sp>
        <p:nvSpPr>
          <p:cNvPr id="11" name="Text 9"/>
          <p:cNvSpPr/>
          <p:nvPr/>
        </p:nvSpPr>
        <p:spPr>
          <a:xfrm>
            <a:off x="438912" y="2039112"/>
            <a:ext cx="3931920" cy="621792"/>
          </a:xfrm>
          <a:prstGeom prst="rect">
            <a:avLst/>
          </a:prstGeom>
          <a:noFill/>
          <a:ln/>
        </p:spPr>
        <p:txBody>
          <a:bodyPr wrap="square" rtlCol="0" anchor="ctr"/>
          <a:lstStyle/>
          <a:p>
            <a:pPr marL="0" indent="0">
              <a:buNone/>
            </a:pPr>
            <a:r>
              <a:rPr lang="en-US" sz="1200" dirty="0">
                <a:solidFill>
                  <a:srgbClr val="3D3D3D"/>
                </a:solidFill>
                <a:latin typeface="Avenir Next LT Pro" panose="020B0504020202020204" pitchFamily="34" charset="0"/>
              </a:rPr>
              <a:t>Imitation learning only — no RL. Upper bound of demo quality.</a:t>
            </a:r>
            <a:endParaRPr lang="en-US" sz="1200" dirty="0">
              <a:latin typeface="Avenir Next LT Pro" panose="020B0504020202020204" pitchFamily="34" charset="0"/>
            </a:endParaRPr>
          </a:p>
        </p:txBody>
      </p:sp>
      <p:sp>
        <p:nvSpPr>
          <p:cNvPr id="12" name="Shape 10"/>
          <p:cNvSpPr/>
          <p:nvPr/>
        </p:nvSpPr>
        <p:spPr>
          <a:xfrm>
            <a:off x="4782312" y="1691640"/>
            <a:ext cx="4160520" cy="1024128"/>
          </a:xfrm>
          <a:prstGeom prst="rect">
            <a:avLst/>
          </a:prstGeom>
          <a:solidFill>
            <a:srgbClr val="E8E8E8"/>
          </a:solidFill>
          <a:ln w="12700">
            <a:solidFill>
              <a:srgbClr val="DDDDDD"/>
            </a:solidFill>
            <a:prstDash val="solid"/>
          </a:ln>
        </p:spPr>
        <p:txBody>
          <a:bodyPr/>
          <a:lstStyle/>
          <a:p>
            <a:endParaRPr lang="en-CA">
              <a:latin typeface="Avenir Next LT Pro" panose="020B0504020202020204" pitchFamily="34" charset="0"/>
            </a:endParaRPr>
          </a:p>
        </p:txBody>
      </p:sp>
      <p:sp>
        <p:nvSpPr>
          <p:cNvPr id="13" name="Text 11"/>
          <p:cNvSpPr/>
          <p:nvPr/>
        </p:nvSpPr>
        <p:spPr>
          <a:xfrm>
            <a:off x="4873752" y="1746504"/>
            <a:ext cx="3931920" cy="292608"/>
          </a:xfrm>
          <a:prstGeom prst="rect">
            <a:avLst/>
          </a:prstGeom>
          <a:noFill/>
          <a:ln/>
        </p:spPr>
        <p:txBody>
          <a:bodyPr wrap="square" lIns="0" tIns="0" rIns="0" bIns="0" rtlCol="0" anchor="ctr"/>
          <a:lstStyle/>
          <a:p>
            <a:pPr marL="0" indent="0">
              <a:buNone/>
            </a:pPr>
            <a:r>
              <a:rPr lang="en-US" sz="1300" b="1" dirty="0">
                <a:solidFill>
                  <a:srgbClr val="1E1E1E"/>
                </a:solidFill>
                <a:latin typeface="Avenir Next LT Pro" panose="020B0504020202020204" pitchFamily="34" charset="0"/>
              </a:rPr>
              <a:t>PPO</a:t>
            </a:r>
            <a:endParaRPr lang="en-US" sz="1300" dirty="0">
              <a:latin typeface="Avenir Next LT Pro" panose="020B0504020202020204" pitchFamily="34" charset="0"/>
            </a:endParaRPr>
          </a:p>
        </p:txBody>
      </p:sp>
      <p:sp>
        <p:nvSpPr>
          <p:cNvPr id="14" name="Text 12"/>
          <p:cNvSpPr/>
          <p:nvPr/>
        </p:nvSpPr>
        <p:spPr>
          <a:xfrm>
            <a:off x="4873752" y="2039112"/>
            <a:ext cx="3931920" cy="621792"/>
          </a:xfrm>
          <a:prstGeom prst="rect">
            <a:avLst/>
          </a:prstGeom>
          <a:noFill/>
          <a:ln/>
        </p:spPr>
        <p:txBody>
          <a:bodyPr wrap="square" rtlCol="0" anchor="ctr"/>
          <a:lstStyle/>
          <a:p>
            <a:pPr marL="0" indent="0">
              <a:buNone/>
            </a:pPr>
            <a:r>
              <a:rPr lang="en-US" sz="1200" dirty="0">
                <a:solidFill>
                  <a:srgbClr val="3D3D3D"/>
                </a:solidFill>
                <a:latin typeface="Avenir Next LT Pro" panose="020B0504020202020204" pitchFamily="34" charset="0"/>
              </a:rPr>
              <a:t>Standard model-free on-policy RL. Extended with language conditioning.</a:t>
            </a:r>
            <a:endParaRPr lang="en-US" sz="1200" dirty="0">
              <a:latin typeface="Avenir Next LT Pro" panose="020B0504020202020204" pitchFamily="34" charset="0"/>
            </a:endParaRPr>
          </a:p>
        </p:txBody>
      </p:sp>
      <p:sp>
        <p:nvSpPr>
          <p:cNvPr id="15" name="Shape 13"/>
          <p:cNvSpPr/>
          <p:nvPr/>
        </p:nvSpPr>
        <p:spPr>
          <a:xfrm>
            <a:off x="347472" y="2880360"/>
            <a:ext cx="4160520" cy="1024128"/>
          </a:xfrm>
          <a:prstGeom prst="rect">
            <a:avLst/>
          </a:prstGeom>
          <a:solidFill>
            <a:srgbClr val="E8E8E8"/>
          </a:solidFill>
          <a:ln w="12700">
            <a:solidFill>
              <a:srgbClr val="DDDDDD"/>
            </a:solidFill>
            <a:prstDash val="solid"/>
          </a:ln>
        </p:spPr>
        <p:txBody>
          <a:bodyPr/>
          <a:lstStyle/>
          <a:p>
            <a:endParaRPr lang="en-CA">
              <a:latin typeface="Avenir Next LT Pro" panose="020B0504020202020204" pitchFamily="34" charset="0"/>
            </a:endParaRPr>
          </a:p>
        </p:txBody>
      </p:sp>
      <p:sp>
        <p:nvSpPr>
          <p:cNvPr id="16" name="Text 14"/>
          <p:cNvSpPr/>
          <p:nvPr/>
        </p:nvSpPr>
        <p:spPr>
          <a:xfrm>
            <a:off x="438912" y="2935224"/>
            <a:ext cx="3931920" cy="292608"/>
          </a:xfrm>
          <a:prstGeom prst="rect">
            <a:avLst/>
          </a:prstGeom>
          <a:noFill/>
          <a:ln/>
        </p:spPr>
        <p:txBody>
          <a:bodyPr wrap="square" lIns="0" tIns="0" rIns="0" bIns="0" rtlCol="0" anchor="ctr"/>
          <a:lstStyle/>
          <a:p>
            <a:pPr marL="0" indent="0">
              <a:buNone/>
            </a:pPr>
            <a:r>
              <a:rPr lang="en-US" sz="1300" b="1" dirty="0">
                <a:solidFill>
                  <a:srgbClr val="1E1E1E"/>
                </a:solidFill>
                <a:latin typeface="Avenir Next LT Pro" panose="020B0504020202020204" pitchFamily="34" charset="0"/>
              </a:rPr>
              <a:t>FastTD3</a:t>
            </a:r>
            <a:endParaRPr lang="en-US" sz="1300" dirty="0">
              <a:latin typeface="Avenir Next LT Pro" panose="020B0504020202020204" pitchFamily="34" charset="0"/>
            </a:endParaRPr>
          </a:p>
        </p:txBody>
      </p:sp>
      <p:sp>
        <p:nvSpPr>
          <p:cNvPr id="17" name="Text 15"/>
          <p:cNvSpPr/>
          <p:nvPr/>
        </p:nvSpPr>
        <p:spPr>
          <a:xfrm>
            <a:off x="438912" y="3227832"/>
            <a:ext cx="3931920" cy="621792"/>
          </a:xfrm>
          <a:prstGeom prst="rect">
            <a:avLst/>
          </a:prstGeom>
          <a:noFill/>
          <a:ln/>
        </p:spPr>
        <p:txBody>
          <a:bodyPr wrap="square" rtlCol="0" anchor="ctr"/>
          <a:lstStyle/>
          <a:p>
            <a:pPr marL="0" indent="0">
              <a:buNone/>
            </a:pPr>
            <a:r>
              <a:rPr lang="en-US" sz="1200" dirty="0">
                <a:solidFill>
                  <a:srgbClr val="3D3D3D"/>
                </a:solidFill>
                <a:latin typeface="Avenir Next LT Pro" panose="020B0504020202020204" pitchFamily="34" charset="0"/>
              </a:rPr>
              <a:t>Modern model-free off-policy RL with parallel envs. + language conditioning.</a:t>
            </a:r>
            <a:endParaRPr lang="en-US" sz="1200" dirty="0">
              <a:latin typeface="Avenir Next LT Pro" panose="020B0504020202020204" pitchFamily="34" charset="0"/>
            </a:endParaRPr>
          </a:p>
        </p:txBody>
      </p:sp>
      <p:sp>
        <p:nvSpPr>
          <p:cNvPr id="18" name="Shape 16"/>
          <p:cNvSpPr/>
          <p:nvPr/>
        </p:nvSpPr>
        <p:spPr>
          <a:xfrm>
            <a:off x="4782312" y="2880360"/>
            <a:ext cx="4160520" cy="1024128"/>
          </a:xfrm>
          <a:prstGeom prst="rect">
            <a:avLst/>
          </a:prstGeom>
          <a:solidFill>
            <a:srgbClr val="FFE8E8"/>
          </a:solidFill>
          <a:ln w="12700">
            <a:solidFill>
              <a:srgbClr val="DDDDDD"/>
            </a:solidFill>
            <a:prstDash val="solid"/>
          </a:ln>
        </p:spPr>
        <p:txBody>
          <a:bodyPr/>
          <a:lstStyle/>
          <a:p>
            <a:endParaRPr lang="en-CA">
              <a:latin typeface="Avenir Next LT Pro" panose="020B0504020202020204" pitchFamily="34" charset="0"/>
            </a:endParaRPr>
          </a:p>
        </p:txBody>
      </p:sp>
      <p:sp>
        <p:nvSpPr>
          <p:cNvPr id="19" name="Text 17"/>
          <p:cNvSpPr/>
          <p:nvPr/>
        </p:nvSpPr>
        <p:spPr>
          <a:xfrm>
            <a:off x="4873752" y="2935224"/>
            <a:ext cx="3931920" cy="292608"/>
          </a:xfrm>
          <a:prstGeom prst="rect">
            <a:avLst/>
          </a:prstGeom>
          <a:noFill/>
          <a:ln/>
        </p:spPr>
        <p:txBody>
          <a:bodyPr wrap="square" lIns="0" tIns="0" rIns="0" bIns="0" rtlCol="0" anchor="ctr"/>
          <a:lstStyle/>
          <a:p>
            <a:pPr marL="0" indent="0">
              <a:buNone/>
            </a:pPr>
            <a:r>
              <a:rPr lang="en-US" sz="1300" b="1" dirty="0">
                <a:solidFill>
                  <a:srgbClr val="1E1E1E"/>
                </a:solidFill>
                <a:latin typeface="Avenir Next LT Pro" panose="020B0504020202020204" pitchFamily="34" charset="0"/>
              </a:rPr>
              <a:t>Single-task TD-MPC2 ×200</a:t>
            </a:r>
            <a:endParaRPr lang="en-US" sz="1300" dirty="0">
              <a:latin typeface="Avenir Next LT Pro" panose="020B0504020202020204" pitchFamily="34" charset="0"/>
            </a:endParaRPr>
          </a:p>
        </p:txBody>
      </p:sp>
      <p:sp>
        <p:nvSpPr>
          <p:cNvPr id="20" name="Text 18"/>
          <p:cNvSpPr/>
          <p:nvPr/>
        </p:nvSpPr>
        <p:spPr>
          <a:xfrm>
            <a:off x="4873752" y="3227832"/>
            <a:ext cx="3931920" cy="621792"/>
          </a:xfrm>
          <a:prstGeom prst="rect">
            <a:avLst/>
          </a:prstGeom>
          <a:noFill/>
          <a:ln/>
        </p:spPr>
        <p:txBody>
          <a:bodyPr wrap="square" rtlCol="0" anchor="ctr"/>
          <a:lstStyle/>
          <a:p>
            <a:pPr marL="0" indent="0">
              <a:buNone/>
            </a:pPr>
            <a:r>
              <a:rPr lang="en-US" sz="1200" dirty="0">
                <a:solidFill>
                  <a:srgbClr val="3D3D3D"/>
                </a:solidFill>
                <a:latin typeface="Avenir Next LT Pro" panose="020B0504020202020204" pitchFamily="34" charset="0"/>
              </a:rPr>
              <a:t>Specialist per-task agent trained for 5M steps each (~1B steps total).</a:t>
            </a:r>
            <a:endParaRPr lang="en-US" sz="1200" dirty="0">
              <a:latin typeface="Avenir Next LT Pro" panose="020B0504020202020204" pitchFamily="34" charset="0"/>
            </a:endParaRPr>
          </a:p>
        </p:txBody>
      </p:sp>
      <p:sp>
        <p:nvSpPr>
          <p:cNvPr id="21" name="Text 19"/>
          <p:cNvSpPr/>
          <p:nvPr/>
        </p:nvSpPr>
        <p:spPr>
          <a:xfrm>
            <a:off x="347472" y="4663440"/>
            <a:ext cx="8229600" cy="274320"/>
          </a:xfrm>
          <a:prstGeom prst="rect">
            <a:avLst/>
          </a:prstGeom>
          <a:noFill/>
          <a:ln/>
        </p:spPr>
        <p:txBody>
          <a:bodyPr wrap="square" rtlCol="0" anchor="ctr"/>
          <a:lstStyle/>
          <a:p>
            <a:pPr marL="0" indent="0" algn="ctr">
              <a:buNone/>
            </a:pPr>
            <a:r>
              <a:rPr lang="en-US" sz="1100" i="1" dirty="0">
                <a:solidFill>
                  <a:srgbClr val="6B6B6B"/>
                </a:solidFill>
                <a:latin typeface="Avenir Next LT Pro" panose="020B0504020202020204" pitchFamily="34" charset="0"/>
              </a:rPr>
              <a:t>Metric: Average normalized score [0,1] per task · 5 seeds per experiment</a:t>
            </a:r>
            <a:endParaRPr lang="en-US" sz="1100" dirty="0">
              <a:latin typeface="Avenir Next LT Pro" panose="020B05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2"/>
          <p:cNvSpPr/>
          <p:nvPr/>
        </p:nvSpPr>
        <p:spPr>
          <a:xfrm>
            <a:off x="347472" y="566928"/>
            <a:ext cx="7589520" cy="502920"/>
          </a:xfrm>
          <a:prstGeom prst="rect">
            <a:avLst/>
          </a:prstGeom>
          <a:noFill/>
          <a:ln/>
        </p:spPr>
        <p:txBody>
          <a:bodyPr wrap="square" lIns="0" tIns="0" rIns="0" bIns="0" rtlCol="0" anchor="ctr"/>
          <a:lstStyle/>
          <a:p>
            <a:pPr marL="0" indent="0">
              <a:buNone/>
            </a:pPr>
            <a:r>
              <a:rPr lang="en-US" sz="2600" b="1" dirty="0">
                <a:solidFill>
                  <a:srgbClr val="8F0024"/>
                </a:solidFill>
                <a:latin typeface="Avenir Next LT Pro" panose="020B0504020202020204" pitchFamily="34" charset="0"/>
              </a:rPr>
              <a:t>Key Results</a:t>
            </a:r>
            <a:endParaRPr lang="en-US" sz="2600" dirty="0">
              <a:latin typeface="Avenir Next LT Pro" panose="020B0504020202020204" pitchFamily="34" charset="0"/>
            </a:endParaRPr>
          </a:p>
        </p:txBody>
      </p:sp>
      <p:sp>
        <p:nvSpPr>
          <p:cNvPr id="5" name="Shape 3"/>
          <p:cNvSpPr/>
          <p:nvPr/>
        </p:nvSpPr>
        <p:spPr>
          <a:xfrm>
            <a:off x="347472" y="1115568"/>
            <a:ext cx="8229600" cy="0"/>
          </a:xfrm>
          <a:prstGeom prst="line">
            <a:avLst/>
          </a:prstGeom>
          <a:noFill/>
          <a:ln w="8890">
            <a:solidFill>
              <a:srgbClr val="CCCCCC"/>
            </a:solidFill>
            <a:prstDash val="solid"/>
          </a:ln>
        </p:spPr>
        <p:txBody>
          <a:bodyPr/>
          <a:lstStyle/>
          <a:p>
            <a:endParaRPr lang="en-CA">
              <a:latin typeface="Avenir Next LT Pro" panose="020B0504020202020204" pitchFamily="34" charset="0"/>
            </a:endParaRPr>
          </a:p>
        </p:txBody>
      </p:sp>
      <p:sp>
        <p:nvSpPr>
          <p:cNvPr id="6" name="Text 4"/>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latin typeface="Avenir Next LT Pro" panose="020B0504020202020204" pitchFamily="34" charset="0"/>
              </a:rPr>
              <a:t>uOttawa</a:t>
            </a:r>
            <a:endParaRPr lang="en-US" sz="1300" dirty="0">
              <a:latin typeface="Avenir Next LT Pro" panose="020B0504020202020204" pitchFamily="34" charset="0"/>
            </a:endParaRPr>
          </a:p>
        </p:txBody>
      </p:sp>
      <p:sp>
        <p:nvSpPr>
          <p:cNvPr id="7" name="Text 5"/>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B6B6B"/>
                </a:solidFill>
                <a:latin typeface="Avenir Next LT Pro" panose="020B0504020202020204" pitchFamily="34" charset="0"/>
              </a:rPr>
              <a:t>11</a:t>
            </a:r>
            <a:endParaRPr lang="en-US" sz="900" dirty="0">
              <a:latin typeface="Avenir Next LT Pro" panose="020B0504020202020204" pitchFamily="34" charset="0"/>
            </a:endParaRPr>
          </a:p>
        </p:txBody>
      </p:sp>
      <p:sp>
        <p:nvSpPr>
          <p:cNvPr id="8" name="Shape 6"/>
          <p:cNvSpPr/>
          <p:nvPr/>
        </p:nvSpPr>
        <p:spPr>
          <a:xfrm>
            <a:off x="347472" y="1261872"/>
            <a:ext cx="4160520" cy="1508760"/>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9" name="Shape 7"/>
          <p:cNvSpPr/>
          <p:nvPr/>
        </p:nvSpPr>
        <p:spPr>
          <a:xfrm>
            <a:off x="347472" y="1261872"/>
            <a:ext cx="457200" cy="1508760"/>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10" name="Text 8"/>
          <p:cNvSpPr/>
          <p:nvPr/>
        </p:nvSpPr>
        <p:spPr>
          <a:xfrm>
            <a:off x="347472" y="1261872"/>
            <a:ext cx="457200" cy="1508760"/>
          </a:xfrm>
          <a:prstGeom prst="rect">
            <a:avLst/>
          </a:prstGeom>
          <a:noFill/>
          <a:ln/>
        </p:spPr>
        <p:txBody>
          <a:bodyPr wrap="square" rtlCol="0" anchor="ctr"/>
          <a:lstStyle/>
          <a:p>
            <a:pPr marL="0" indent="0" algn="ctr">
              <a:buNone/>
            </a:pPr>
            <a:r>
              <a:rPr lang="en-US" sz="1600" b="1" dirty="0">
                <a:solidFill>
                  <a:srgbClr val="FFFFFF"/>
                </a:solidFill>
                <a:latin typeface="Avenir Next LT Pro" panose="020B0504020202020204" pitchFamily="34" charset="0"/>
              </a:rPr>
              <a:t>①</a:t>
            </a:r>
            <a:endParaRPr lang="en-US" sz="1600" dirty="0">
              <a:latin typeface="Avenir Next LT Pro" panose="020B0504020202020204" pitchFamily="34" charset="0"/>
            </a:endParaRPr>
          </a:p>
        </p:txBody>
      </p:sp>
      <p:sp>
        <p:nvSpPr>
          <p:cNvPr id="11" name="Text 9"/>
          <p:cNvSpPr/>
          <p:nvPr/>
        </p:nvSpPr>
        <p:spPr>
          <a:xfrm>
            <a:off x="896112" y="1371600"/>
            <a:ext cx="3474720" cy="347472"/>
          </a:xfrm>
          <a:prstGeom prst="rect">
            <a:avLst/>
          </a:prstGeom>
          <a:noFill/>
          <a:ln/>
        </p:spPr>
        <p:txBody>
          <a:bodyPr wrap="square" lIns="0" tIns="0" rIns="0" bIns="0" rtlCol="0" anchor="ctr"/>
          <a:lstStyle/>
          <a:p>
            <a:pPr marL="0" indent="0">
              <a:buNone/>
            </a:pPr>
            <a:r>
              <a:rPr lang="en-US" sz="1300" b="1" dirty="0">
                <a:solidFill>
                  <a:srgbClr val="8F0024"/>
                </a:solidFill>
                <a:latin typeface="Avenir Next LT Pro" panose="020B0504020202020204" pitchFamily="34" charset="0"/>
              </a:rPr>
              <a:t>Best Multitask Performance</a:t>
            </a:r>
            <a:endParaRPr lang="en-US" sz="1300" dirty="0">
              <a:latin typeface="Avenir Next LT Pro" panose="020B0504020202020204" pitchFamily="34" charset="0"/>
            </a:endParaRPr>
          </a:p>
        </p:txBody>
      </p:sp>
      <p:sp>
        <p:nvSpPr>
          <p:cNvPr id="12" name="Text 10"/>
          <p:cNvSpPr/>
          <p:nvPr/>
        </p:nvSpPr>
        <p:spPr>
          <a:xfrm>
            <a:off x="896112" y="1719072"/>
            <a:ext cx="3474720" cy="960120"/>
          </a:xfrm>
          <a:prstGeom prst="rect">
            <a:avLst/>
          </a:prstGeom>
          <a:noFill/>
          <a:ln/>
        </p:spPr>
        <p:txBody>
          <a:bodyPr wrap="square" rtlCol="0" anchor="ctr"/>
          <a:lstStyle/>
          <a:p>
            <a:pPr marL="0" indent="0">
              <a:lnSpc>
                <a:spcPct val="130000"/>
              </a:lnSpc>
              <a:buNone/>
            </a:pPr>
            <a:r>
              <a:rPr lang="en-US" sz="1250" dirty="0">
                <a:solidFill>
                  <a:srgbClr val="1E1E1E"/>
                </a:solidFill>
                <a:latin typeface="Avenir Next LT Pro" panose="020B0504020202020204" pitchFamily="34" charset="0"/>
              </a:rPr>
              <a:t>Newt outperforms BC, PPO, and FastTD3 on average normalized score across all 200 tasks</a:t>
            </a:r>
            <a:endParaRPr lang="en-US" sz="1250" dirty="0">
              <a:latin typeface="Avenir Next LT Pro" panose="020B0504020202020204" pitchFamily="34" charset="0"/>
            </a:endParaRPr>
          </a:p>
        </p:txBody>
      </p:sp>
      <p:sp>
        <p:nvSpPr>
          <p:cNvPr id="13" name="Shape 11"/>
          <p:cNvSpPr/>
          <p:nvPr/>
        </p:nvSpPr>
        <p:spPr>
          <a:xfrm>
            <a:off x="4782312" y="1261872"/>
            <a:ext cx="4160520" cy="1508760"/>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14" name="Shape 12"/>
          <p:cNvSpPr/>
          <p:nvPr/>
        </p:nvSpPr>
        <p:spPr>
          <a:xfrm>
            <a:off x="4782312" y="1261872"/>
            <a:ext cx="457200" cy="1508760"/>
          </a:xfrm>
          <a:prstGeom prst="rect">
            <a:avLst/>
          </a:prstGeom>
          <a:solidFill>
            <a:srgbClr val="B5003E"/>
          </a:solidFill>
          <a:ln w="12700">
            <a:solidFill>
              <a:srgbClr val="B5003E"/>
            </a:solidFill>
            <a:prstDash val="solid"/>
          </a:ln>
        </p:spPr>
        <p:txBody>
          <a:bodyPr/>
          <a:lstStyle/>
          <a:p>
            <a:endParaRPr lang="en-CA">
              <a:latin typeface="Avenir Next LT Pro" panose="020B0504020202020204" pitchFamily="34" charset="0"/>
            </a:endParaRPr>
          </a:p>
        </p:txBody>
      </p:sp>
      <p:sp>
        <p:nvSpPr>
          <p:cNvPr id="15" name="Text 13"/>
          <p:cNvSpPr/>
          <p:nvPr/>
        </p:nvSpPr>
        <p:spPr>
          <a:xfrm>
            <a:off x="4782312" y="1261872"/>
            <a:ext cx="457200" cy="1508760"/>
          </a:xfrm>
          <a:prstGeom prst="rect">
            <a:avLst/>
          </a:prstGeom>
          <a:noFill/>
          <a:ln/>
        </p:spPr>
        <p:txBody>
          <a:bodyPr wrap="square" rtlCol="0" anchor="ctr"/>
          <a:lstStyle/>
          <a:p>
            <a:pPr marL="0" indent="0" algn="ctr">
              <a:buNone/>
            </a:pPr>
            <a:r>
              <a:rPr lang="en-US" sz="1600" b="1" dirty="0">
                <a:solidFill>
                  <a:srgbClr val="FFFFFF"/>
                </a:solidFill>
                <a:latin typeface="Avenir Next LT Pro" panose="020B0504020202020204" pitchFamily="34" charset="0"/>
              </a:rPr>
              <a:t>②</a:t>
            </a:r>
            <a:endParaRPr lang="en-US" sz="1600" dirty="0">
              <a:latin typeface="Avenir Next LT Pro" panose="020B0504020202020204" pitchFamily="34" charset="0"/>
            </a:endParaRPr>
          </a:p>
        </p:txBody>
      </p:sp>
      <p:sp>
        <p:nvSpPr>
          <p:cNvPr id="16" name="Text 14"/>
          <p:cNvSpPr/>
          <p:nvPr/>
        </p:nvSpPr>
        <p:spPr>
          <a:xfrm>
            <a:off x="5330952" y="1371600"/>
            <a:ext cx="3474720" cy="347472"/>
          </a:xfrm>
          <a:prstGeom prst="rect">
            <a:avLst/>
          </a:prstGeom>
          <a:noFill/>
          <a:ln/>
        </p:spPr>
        <p:txBody>
          <a:bodyPr wrap="square" lIns="0" tIns="0" rIns="0" bIns="0" rtlCol="0" anchor="ctr"/>
          <a:lstStyle/>
          <a:p>
            <a:pPr marL="0" indent="0">
              <a:buNone/>
            </a:pPr>
            <a:r>
              <a:rPr lang="en-US" sz="1300" b="1" dirty="0">
                <a:solidFill>
                  <a:srgbClr val="B5003E"/>
                </a:solidFill>
                <a:latin typeface="Avenir Next LT Pro" panose="020B0504020202020204" pitchFamily="34" charset="0"/>
              </a:rPr>
              <a:t>Better Data Efficiency</a:t>
            </a:r>
            <a:endParaRPr lang="en-US" sz="1300" dirty="0">
              <a:latin typeface="Avenir Next LT Pro" panose="020B0504020202020204" pitchFamily="34" charset="0"/>
            </a:endParaRPr>
          </a:p>
        </p:txBody>
      </p:sp>
      <p:sp>
        <p:nvSpPr>
          <p:cNvPr id="17" name="Text 15"/>
          <p:cNvSpPr/>
          <p:nvPr/>
        </p:nvSpPr>
        <p:spPr>
          <a:xfrm>
            <a:off x="5330952" y="1719072"/>
            <a:ext cx="3474720" cy="960120"/>
          </a:xfrm>
          <a:prstGeom prst="rect">
            <a:avLst/>
          </a:prstGeom>
          <a:noFill/>
          <a:ln/>
        </p:spPr>
        <p:txBody>
          <a:bodyPr wrap="square" rtlCol="0" anchor="ctr"/>
          <a:lstStyle/>
          <a:p>
            <a:pPr marL="0" indent="0">
              <a:lnSpc>
                <a:spcPct val="130000"/>
              </a:lnSpc>
              <a:buNone/>
            </a:pPr>
            <a:r>
              <a:rPr lang="en-US" sz="1250" dirty="0">
                <a:solidFill>
                  <a:srgbClr val="1E1E1E"/>
                </a:solidFill>
                <a:latin typeface="Avenir Next LT Pro" panose="020B0504020202020204" pitchFamily="34" charset="0"/>
              </a:rPr>
              <a:t>Achieves higher scores with fewer environment steps than model-free baselines</a:t>
            </a:r>
            <a:endParaRPr lang="en-US" sz="1250" dirty="0">
              <a:latin typeface="Avenir Next LT Pro" panose="020B0504020202020204" pitchFamily="34" charset="0"/>
            </a:endParaRPr>
          </a:p>
        </p:txBody>
      </p:sp>
      <p:sp>
        <p:nvSpPr>
          <p:cNvPr id="18" name="Shape 16"/>
          <p:cNvSpPr/>
          <p:nvPr/>
        </p:nvSpPr>
        <p:spPr>
          <a:xfrm>
            <a:off x="347472" y="2953512"/>
            <a:ext cx="4160520" cy="1508760"/>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19" name="Shape 17"/>
          <p:cNvSpPr/>
          <p:nvPr/>
        </p:nvSpPr>
        <p:spPr>
          <a:xfrm>
            <a:off x="347472" y="2953512"/>
            <a:ext cx="457200" cy="1508760"/>
          </a:xfrm>
          <a:prstGeom prst="rect">
            <a:avLst/>
          </a:prstGeom>
          <a:solidFill>
            <a:srgbClr val="6B6B6B"/>
          </a:solidFill>
          <a:ln w="12700">
            <a:solidFill>
              <a:srgbClr val="6B6B6B"/>
            </a:solidFill>
            <a:prstDash val="solid"/>
          </a:ln>
        </p:spPr>
        <p:txBody>
          <a:bodyPr/>
          <a:lstStyle/>
          <a:p>
            <a:endParaRPr lang="en-CA">
              <a:latin typeface="Avenir Next LT Pro" panose="020B0504020202020204" pitchFamily="34" charset="0"/>
            </a:endParaRPr>
          </a:p>
        </p:txBody>
      </p:sp>
      <p:sp>
        <p:nvSpPr>
          <p:cNvPr id="20" name="Text 18"/>
          <p:cNvSpPr/>
          <p:nvPr/>
        </p:nvSpPr>
        <p:spPr>
          <a:xfrm>
            <a:off x="347472" y="2953512"/>
            <a:ext cx="457200" cy="1508760"/>
          </a:xfrm>
          <a:prstGeom prst="rect">
            <a:avLst/>
          </a:prstGeom>
          <a:noFill/>
          <a:ln/>
        </p:spPr>
        <p:txBody>
          <a:bodyPr wrap="square" rtlCol="0" anchor="ctr"/>
          <a:lstStyle/>
          <a:p>
            <a:pPr marL="0" indent="0" algn="ctr">
              <a:buNone/>
            </a:pPr>
            <a:r>
              <a:rPr lang="en-US" sz="1600" b="1" dirty="0">
                <a:solidFill>
                  <a:srgbClr val="FFFFFF"/>
                </a:solidFill>
                <a:latin typeface="Avenir Next LT Pro" panose="020B0504020202020204" pitchFamily="34" charset="0"/>
              </a:rPr>
              <a:t>③</a:t>
            </a:r>
            <a:endParaRPr lang="en-US" sz="1600" dirty="0">
              <a:latin typeface="Avenir Next LT Pro" panose="020B0504020202020204" pitchFamily="34" charset="0"/>
            </a:endParaRPr>
          </a:p>
        </p:txBody>
      </p:sp>
      <p:sp>
        <p:nvSpPr>
          <p:cNvPr id="21" name="Text 19"/>
          <p:cNvSpPr/>
          <p:nvPr/>
        </p:nvSpPr>
        <p:spPr>
          <a:xfrm>
            <a:off x="896112" y="3063240"/>
            <a:ext cx="3474720" cy="347472"/>
          </a:xfrm>
          <a:prstGeom prst="rect">
            <a:avLst/>
          </a:prstGeom>
          <a:noFill/>
          <a:ln/>
        </p:spPr>
        <p:txBody>
          <a:bodyPr wrap="square" lIns="0" tIns="0" rIns="0" bIns="0" rtlCol="0" anchor="ctr"/>
          <a:lstStyle/>
          <a:p>
            <a:pPr marL="0" indent="0">
              <a:buNone/>
            </a:pPr>
            <a:r>
              <a:rPr lang="en-US" sz="1300" b="1" dirty="0">
                <a:solidFill>
                  <a:srgbClr val="6B6B6B"/>
                </a:solidFill>
                <a:latin typeface="Avenir Next LT Pro" panose="020B0504020202020204" pitchFamily="34" charset="0"/>
              </a:rPr>
              <a:t>Scaling Helps in Multitask</a:t>
            </a:r>
            <a:endParaRPr lang="en-US" sz="1300" dirty="0">
              <a:latin typeface="Avenir Next LT Pro" panose="020B0504020202020204" pitchFamily="34" charset="0"/>
            </a:endParaRPr>
          </a:p>
        </p:txBody>
      </p:sp>
      <p:sp>
        <p:nvSpPr>
          <p:cNvPr id="22" name="Text 20"/>
          <p:cNvSpPr/>
          <p:nvPr/>
        </p:nvSpPr>
        <p:spPr>
          <a:xfrm>
            <a:off x="896112" y="3410712"/>
            <a:ext cx="3474720" cy="960120"/>
          </a:xfrm>
          <a:prstGeom prst="rect">
            <a:avLst/>
          </a:prstGeom>
          <a:noFill/>
          <a:ln/>
        </p:spPr>
        <p:txBody>
          <a:bodyPr wrap="square" rtlCol="0" anchor="ctr"/>
          <a:lstStyle/>
          <a:p>
            <a:pPr marL="0" indent="0">
              <a:lnSpc>
                <a:spcPct val="130000"/>
              </a:lnSpc>
              <a:buNone/>
            </a:pPr>
            <a:r>
              <a:rPr lang="en-US" sz="1250" dirty="0">
                <a:solidFill>
                  <a:srgbClr val="1E1E1E"/>
                </a:solidFill>
                <a:latin typeface="Avenir Next LT Pro" panose="020B0504020202020204" pitchFamily="34" charset="0"/>
              </a:rPr>
              <a:t>Unlike single-task RL, larger models improve performance — clear benefit up to 20M+ parameters</a:t>
            </a:r>
            <a:endParaRPr lang="en-US" sz="1250" dirty="0">
              <a:latin typeface="Avenir Next LT Pro" panose="020B0504020202020204" pitchFamily="34" charset="0"/>
            </a:endParaRPr>
          </a:p>
        </p:txBody>
      </p:sp>
      <p:sp>
        <p:nvSpPr>
          <p:cNvPr id="23" name="Shape 21"/>
          <p:cNvSpPr/>
          <p:nvPr/>
        </p:nvSpPr>
        <p:spPr>
          <a:xfrm>
            <a:off x="4782312" y="2953512"/>
            <a:ext cx="4160520" cy="1508760"/>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24" name="Shape 22"/>
          <p:cNvSpPr/>
          <p:nvPr/>
        </p:nvSpPr>
        <p:spPr>
          <a:xfrm>
            <a:off x="4782312" y="2953512"/>
            <a:ext cx="457200" cy="1508760"/>
          </a:xfrm>
          <a:prstGeom prst="rect">
            <a:avLst/>
          </a:prstGeom>
          <a:solidFill>
            <a:srgbClr val="3D3D3D"/>
          </a:solidFill>
          <a:ln w="12700">
            <a:solidFill>
              <a:srgbClr val="3D3D3D"/>
            </a:solidFill>
            <a:prstDash val="solid"/>
          </a:ln>
        </p:spPr>
        <p:txBody>
          <a:bodyPr/>
          <a:lstStyle/>
          <a:p>
            <a:endParaRPr lang="en-CA">
              <a:latin typeface="Avenir Next LT Pro" panose="020B0504020202020204" pitchFamily="34" charset="0"/>
            </a:endParaRPr>
          </a:p>
        </p:txBody>
      </p:sp>
      <p:sp>
        <p:nvSpPr>
          <p:cNvPr id="25" name="Text 23"/>
          <p:cNvSpPr/>
          <p:nvPr/>
        </p:nvSpPr>
        <p:spPr>
          <a:xfrm>
            <a:off x="4782312" y="2953512"/>
            <a:ext cx="457200" cy="1508760"/>
          </a:xfrm>
          <a:prstGeom prst="rect">
            <a:avLst/>
          </a:prstGeom>
          <a:noFill/>
          <a:ln/>
        </p:spPr>
        <p:txBody>
          <a:bodyPr wrap="square" rtlCol="0" anchor="ctr"/>
          <a:lstStyle/>
          <a:p>
            <a:pPr marL="0" indent="0" algn="ctr">
              <a:buNone/>
            </a:pPr>
            <a:r>
              <a:rPr lang="en-US" sz="1600" b="1" dirty="0">
                <a:solidFill>
                  <a:srgbClr val="FFFFFF"/>
                </a:solidFill>
                <a:latin typeface="Avenir Next LT Pro" panose="020B0504020202020204" pitchFamily="34" charset="0"/>
              </a:rPr>
              <a:t>④</a:t>
            </a:r>
            <a:endParaRPr lang="en-US" sz="1600" dirty="0">
              <a:latin typeface="Avenir Next LT Pro" panose="020B0504020202020204" pitchFamily="34" charset="0"/>
            </a:endParaRPr>
          </a:p>
        </p:txBody>
      </p:sp>
      <p:sp>
        <p:nvSpPr>
          <p:cNvPr id="26" name="Text 24"/>
          <p:cNvSpPr/>
          <p:nvPr/>
        </p:nvSpPr>
        <p:spPr>
          <a:xfrm>
            <a:off x="5330952" y="3063240"/>
            <a:ext cx="3474720" cy="347472"/>
          </a:xfrm>
          <a:prstGeom prst="rect">
            <a:avLst/>
          </a:prstGeom>
          <a:noFill/>
          <a:ln/>
        </p:spPr>
        <p:txBody>
          <a:bodyPr wrap="square" lIns="0" tIns="0" rIns="0" bIns="0" rtlCol="0" anchor="ctr"/>
          <a:lstStyle/>
          <a:p>
            <a:pPr marL="0" indent="0">
              <a:buNone/>
            </a:pPr>
            <a:r>
              <a:rPr lang="en-US" sz="1300" b="1" dirty="0">
                <a:solidFill>
                  <a:srgbClr val="3D3D3D"/>
                </a:solidFill>
                <a:latin typeface="Avenir Next LT Pro" panose="020B0504020202020204" pitchFamily="34" charset="0"/>
              </a:rPr>
              <a:t>Few-Shot Adaptation</a:t>
            </a:r>
            <a:endParaRPr lang="en-US" sz="1300" dirty="0">
              <a:latin typeface="Avenir Next LT Pro" panose="020B0504020202020204" pitchFamily="34" charset="0"/>
            </a:endParaRPr>
          </a:p>
        </p:txBody>
      </p:sp>
      <p:sp>
        <p:nvSpPr>
          <p:cNvPr id="27" name="Text 25"/>
          <p:cNvSpPr/>
          <p:nvPr/>
        </p:nvSpPr>
        <p:spPr>
          <a:xfrm>
            <a:off x="5330952" y="3410712"/>
            <a:ext cx="3474720" cy="960120"/>
          </a:xfrm>
          <a:prstGeom prst="rect">
            <a:avLst/>
          </a:prstGeom>
          <a:noFill/>
          <a:ln/>
        </p:spPr>
        <p:txBody>
          <a:bodyPr wrap="square" rtlCol="0" anchor="ctr"/>
          <a:lstStyle/>
          <a:p>
            <a:pPr marL="0" indent="0">
              <a:lnSpc>
                <a:spcPct val="130000"/>
              </a:lnSpc>
              <a:buNone/>
            </a:pPr>
            <a:r>
              <a:rPr lang="en-US" sz="1250" dirty="0">
                <a:solidFill>
                  <a:srgbClr val="1E1E1E"/>
                </a:solidFill>
                <a:latin typeface="Avenir Next LT Pro" panose="020B0504020202020204" pitchFamily="34" charset="0"/>
              </a:rPr>
              <a:t>Pretrained Newt adapts rapidly to unseen tasks and embodiments with minimal fine-tuning</a:t>
            </a:r>
            <a:endParaRPr lang="en-US" sz="1250" dirty="0">
              <a:latin typeface="Avenir Next LT Pro" panose="020B05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2"/>
          <p:cNvSpPr/>
          <p:nvPr/>
        </p:nvSpPr>
        <p:spPr>
          <a:xfrm>
            <a:off x="347472" y="566928"/>
            <a:ext cx="8229600" cy="502920"/>
          </a:xfrm>
          <a:prstGeom prst="rect">
            <a:avLst/>
          </a:prstGeom>
          <a:noFill/>
          <a:ln/>
        </p:spPr>
        <p:txBody>
          <a:bodyPr wrap="square" lIns="0" tIns="0" rIns="0" bIns="0" rtlCol="0" anchor="ctr"/>
          <a:lstStyle/>
          <a:p>
            <a:pPr marL="0" indent="0">
              <a:buNone/>
            </a:pPr>
            <a:r>
              <a:rPr lang="en-US" sz="2400" b="1" dirty="0">
                <a:solidFill>
                  <a:srgbClr val="8F0024"/>
                </a:solidFill>
                <a:latin typeface="Avenir Next LT Pro" panose="020B0504020202020204" pitchFamily="34" charset="0"/>
              </a:rPr>
              <a:t>Result 1: Massively Multitask RL (Figure 1)</a:t>
            </a:r>
            <a:endParaRPr lang="en-US" sz="2400" dirty="0">
              <a:latin typeface="Avenir Next LT Pro" panose="020B0504020202020204" pitchFamily="34" charset="0"/>
            </a:endParaRPr>
          </a:p>
        </p:txBody>
      </p:sp>
      <p:sp>
        <p:nvSpPr>
          <p:cNvPr id="5" name="Shape 3"/>
          <p:cNvSpPr/>
          <p:nvPr/>
        </p:nvSpPr>
        <p:spPr>
          <a:xfrm>
            <a:off x="347472" y="1115568"/>
            <a:ext cx="8229600" cy="0"/>
          </a:xfrm>
          <a:prstGeom prst="line">
            <a:avLst/>
          </a:prstGeom>
          <a:noFill/>
          <a:ln w="8890">
            <a:solidFill>
              <a:srgbClr val="CCCCCC"/>
            </a:solidFill>
            <a:prstDash val="solid"/>
          </a:ln>
        </p:spPr>
        <p:txBody>
          <a:bodyPr/>
          <a:lstStyle/>
          <a:p>
            <a:endParaRPr lang="en-CA">
              <a:latin typeface="Avenir Next LT Pro" panose="020B0504020202020204" pitchFamily="34" charset="0"/>
            </a:endParaRPr>
          </a:p>
        </p:txBody>
      </p:sp>
      <p:sp>
        <p:nvSpPr>
          <p:cNvPr id="6" name="Text 4"/>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latin typeface="Avenir Next LT Pro" panose="020B0504020202020204" pitchFamily="34" charset="0"/>
              </a:rPr>
              <a:t>uOttawa</a:t>
            </a:r>
            <a:endParaRPr lang="en-US" sz="1300" dirty="0">
              <a:latin typeface="Avenir Next LT Pro" panose="020B0504020202020204" pitchFamily="34" charset="0"/>
            </a:endParaRPr>
          </a:p>
        </p:txBody>
      </p:sp>
      <p:sp>
        <p:nvSpPr>
          <p:cNvPr id="7" name="Text 5"/>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B6B6B"/>
                </a:solidFill>
                <a:latin typeface="Avenir Next LT Pro" panose="020B0504020202020204" pitchFamily="34" charset="0"/>
              </a:rPr>
              <a:t>R1</a:t>
            </a:r>
            <a:endParaRPr lang="en-US" sz="900" dirty="0">
              <a:latin typeface="Avenir Next LT Pro" panose="020B0504020202020204" pitchFamily="34" charset="0"/>
            </a:endParaRPr>
          </a:p>
        </p:txBody>
      </p:sp>
      <p:pic>
        <p:nvPicPr>
          <p:cNvPr id="8" name="Image 0" descr="preencoded.png"/>
          <p:cNvPicPr>
            <a:picLocks noChangeAspect="1"/>
          </p:cNvPicPr>
          <p:nvPr/>
        </p:nvPicPr>
        <p:blipFill>
          <a:blip r:embed="rId4"/>
          <a:stretch>
            <a:fillRect/>
          </a:stretch>
        </p:blipFill>
        <p:spPr>
          <a:xfrm>
            <a:off x="989127" y="1170190"/>
            <a:ext cx="2553174" cy="3200400"/>
          </a:xfrm>
          <a:prstGeom prst="rect">
            <a:avLst/>
          </a:prstGeom>
        </p:spPr>
      </p:pic>
      <p:sp>
        <p:nvSpPr>
          <p:cNvPr id="9" name="Shape 6"/>
          <p:cNvSpPr/>
          <p:nvPr/>
        </p:nvSpPr>
        <p:spPr>
          <a:xfrm>
            <a:off x="4389120" y="1234440"/>
            <a:ext cx="347472" cy="685800"/>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10" name="Text 7"/>
          <p:cNvSpPr/>
          <p:nvPr/>
        </p:nvSpPr>
        <p:spPr>
          <a:xfrm>
            <a:off x="4389120" y="1234440"/>
            <a:ext cx="347472" cy="685800"/>
          </a:xfrm>
          <a:prstGeom prst="rect">
            <a:avLst/>
          </a:prstGeom>
          <a:noFill/>
          <a:ln/>
        </p:spPr>
        <p:txBody>
          <a:bodyPr wrap="square" rtlCol="0" anchor="ctr"/>
          <a:lstStyle/>
          <a:p>
            <a:pPr marL="0" indent="0" algn="ctr">
              <a:buNone/>
            </a:pPr>
            <a:r>
              <a:rPr lang="en-US" sz="1300" b="1" dirty="0">
                <a:solidFill>
                  <a:srgbClr val="FFFFFF"/>
                </a:solidFill>
                <a:latin typeface="Avenir Next LT Pro" panose="020B0504020202020204" pitchFamily="34" charset="0"/>
              </a:rPr>
              <a:t>①</a:t>
            </a:r>
            <a:endParaRPr lang="en-US" sz="1300" dirty="0">
              <a:latin typeface="Avenir Next LT Pro" panose="020B0504020202020204" pitchFamily="34" charset="0"/>
            </a:endParaRPr>
          </a:p>
        </p:txBody>
      </p:sp>
      <p:sp>
        <p:nvSpPr>
          <p:cNvPr id="11" name="Shape 8"/>
          <p:cNvSpPr/>
          <p:nvPr/>
        </p:nvSpPr>
        <p:spPr>
          <a:xfrm>
            <a:off x="4773168" y="1234440"/>
            <a:ext cx="4069080" cy="685800"/>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12" name="Text 9"/>
          <p:cNvSpPr/>
          <p:nvPr/>
        </p:nvSpPr>
        <p:spPr>
          <a:xfrm>
            <a:off x="4864608" y="1271016"/>
            <a:ext cx="3886200" cy="256032"/>
          </a:xfrm>
          <a:prstGeom prst="rect">
            <a:avLst/>
          </a:prstGeom>
          <a:noFill/>
          <a:ln/>
        </p:spPr>
        <p:txBody>
          <a:bodyPr wrap="square" lIns="0" tIns="0" rIns="0" bIns="0" rtlCol="0" anchor="ctr"/>
          <a:lstStyle/>
          <a:p>
            <a:pPr marL="0" indent="0">
              <a:buNone/>
            </a:pPr>
            <a:r>
              <a:rPr lang="en-US" sz="1200" b="1" dirty="0">
                <a:solidFill>
                  <a:srgbClr val="8F0024"/>
                </a:solidFill>
                <a:latin typeface="Avenir Next LT Pro" panose="020B0504020202020204" pitchFamily="34" charset="0"/>
              </a:rPr>
              <a:t>Newt leads overall</a:t>
            </a:r>
            <a:endParaRPr lang="en-US" sz="1200" dirty="0">
              <a:latin typeface="Avenir Next LT Pro" panose="020B0504020202020204" pitchFamily="34" charset="0"/>
            </a:endParaRPr>
          </a:p>
        </p:txBody>
      </p:sp>
      <p:sp>
        <p:nvSpPr>
          <p:cNvPr id="13" name="Text 10"/>
          <p:cNvSpPr/>
          <p:nvPr/>
        </p:nvSpPr>
        <p:spPr>
          <a:xfrm>
            <a:off x="4864608" y="1536192"/>
            <a:ext cx="3886200" cy="329184"/>
          </a:xfrm>
          <a:prstGeom prst="rect">
            <a:avLst/>
          </a:prstGeom>
          <a:noFill/>
          <a:ln/>
        </p:spPr>
        <p:txBody>
          <a:bodyPr wrap="square" rtlCol="0" anchor="ctr"/>
          <a:lstStyle/>
          <a:p>
            <a:pPr marL="0" indent="0">
              <a:buNone/>
            </a:pPr>
            <a:r>
              <a:rPr lang="en-US" sz="1100" dirty="0">
                <a:solidFill>
                  <a:srgbClr val="1E1E1E"/>
                </a:solidFill>
                <a:latin typeface="Avenir Next LT Pro" panose="020B0504020202020204" pitchFamily="34" charset="0"/>
              </a:rPr>
              <a:t>Highest avg. normalized score across 200 tasks vs. all baselines at 100M steps</a:t>
            </a:r>
            <a:endParaRPr lang="en-US" sz="1100" dirty="0">
              <a:latin typeface="Avenir Next LT Pro" panose="020B0504020202020204" pitchFamily="34" charset="0"/>
            </a:endParaRPr>
          </a:p>
        </p:txBody>
      </p:sp>
      <p:sp>
        <p:nvSpPr>
          <p:cNvPr id="14" name="Shape 11"/>
          <p:cNvSpPr/>
          <p:nvPr/>
        </p:nvSpPr>
        <p:spPr>
          <a:xfrm>
            <a:off x="4389120" y="2057400"/>
            <a:ext cx="347472" cy="685800"/>
          </a:xfrm>
          <a:prstGeom prst="rect">
            <a:avLst/>
          </a:prstGeom>
          <a:solidFill>
            <a:srgbClr val="B5003E"/>
          </a:solidFill>
          <a:ln w="12700">
            <a:solidFill>
              <a:srgbClr val="B5003E"/>
            </a:solidFill>
            <a:prstDash val="solid"/>
          </a:ln>
        </p:spPr>
        <p:txBody>
          <a:bodyPr/>
          <a:lstStyle/>
          <a:p>
            <a:endParaRPr lang="en-CA">
              <a:latin typeface="Avenir Next LT Pro" panose="020B0504020202020204" pitchFamily="34" charset="0"/>
            </a:endParaRPr>
          </a:p>
        </p:txBody>
      </p:sp>
      <p:sp>
        <p:nvSpPr>
          <p:cNvPr id="15" name="Text 12"/>
          <p:cNvSpPr/>
          <p:nvPr/>
        </p:nvSpPr>
        <p:spPr>
          <a:xfrm>
            <a:off x="4389120" y="2057400"/>
            <a:ext cx="347472" cy="685800"/>
          </a:xfrm>
          <a:prstGeom prst="rect">
            <a:avLst/>
          </a:prstGeom>
          <a:noFill/>
          <a:ln/>
        </p:spPr>
        <p:txBody>
          <a:bodyPr wrap="square" rtlCol="0" anchor="ctr"/>
          <a:lstStyle/>
          <a:p>
            <a:pPr marL="0" indent="0" algn="ctr">
              <a:buNone/>
            </a:pPr>
            <a:r>
              <a:rPr lang="en-US" sz="1300" b="1" dirty="0">
                <a:solidFill>
                  <a:srgbClr val="FFFFFF"/>
                </a:solidFill>
                <a:latin typeface="Avenir Next LT Pro" panose="020B0504020202020204" pitchFamily="34" charset="0"/>
              </a:rPr>
              <a:t>②</a:t>
            </a:r>
            <a:endParaRPr lang="en-US" sz="1300" dirty="0">
              <a:latin typeface="Avenir Next LT Pro" panose="020B0504020202020204" pitchFamily="34" charset="0"/>
            </a:endParaRPr>
          </a:p>
        </p:txBody>
      </p:sp>
      <p:sp>
        <p:nvSpPr>
          <p:cNvPr id="16" name="Shape 13"/>
          <p:cNvSpPr/>
          <p:nvPr/>
        </p:nvSpPr>
        <p:spPr>
          <a:xfrm>
            <a:off x="4773168" y="2057400"/>
            <a:ext cx="4069080" cy="685800"/>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17" name="Text 14"/>
          <p:cNvSpPr/>
          <p:nvPr/>
        </p:nvSpPr>
        <p:spPr>
          <a:xfrm>
            <a:off x="4864608" y="2093976"/>
            <a:ext cx="3886200" cy="256032"/>
          </a:xfrm>
          <a:prstGeom prst="rect">
            <a:avLst/>
          </a:prstGeom>
          <a:noFill/>
          <a:ln/>
        </p:spPr>
        <p:txBody>
          <a:bodyPr wrap="square" lIns="0" tIns="0" rIns="0" bIns="0" rtlCol="0" anchor="ctr"/>
          <a:lstStyle/>
          <a:p>
            <a:pPr marL="0" indent="0">
              <a:buNone/>
            </a:pPr>
            <a:r>
              <a:rPr lang="en-US" sz="1200" b="1" dirty="0">
                <a:solidFill>
                  <a:srgbClr val="B5003E"/>
                </a:solidFill>
                <a:latin typeface="Avenir Next LT Pro" panose="020B0504020202020204" pitchFamily="34" charset="0"/>
              </a:rPr>
              <a:t>More data-efficient</a:t>
            </a:r>
            <a:endParaRPr lang="en-US" sz="1200" dirty="0">
              <a:latin typeface="Avenir Next LT Pro" panose="020B0504020202020204" pitchFamily="34" charset="0"/>
            </a:endParaRPr>
          </a:p>
        </p:txBody>
      </p:sp>
      <p:sp>
        <p:nvSpPr>
          <p:cNvPr id="18" name="Text 15"/>
          <p:cNvSpPr/>
          <p:nvPr/>
        </p:nvSpPr>
        <p:spPr>
          <a:xfrm>
            <a:off x="4864608" y="2359152"/>
            <a:ext cx="3886200" cy="329184"/>
          </a:xfrm>
          <a:prstGeom prst="rect">
            <a:avLst/>
          </a:prstGeom>
          <a:noFill/>
          <a:ln/>
        </p:spPr>
        <p:txBody>
          <a:bodyPr wrap="square" rtlCol="0" anchor="ctr"/>
          <a:lstStyle/>
          <a:p>
            <a:pPr marL="0" indent="0">
              <a:buNone/>
            </a:pPr>
            <a:r>
              <a:rPr lang="en-US" sz="1100" dirty="0">
                <a:solidFill>
                  <a:srgbClr val="1E1E1E"/>
                </a:solidFill>
                <a:latin typeface="Avenir Next LT Pro" panose="020B0504020202020204" pitchFamily="34" charset="0"/>
              </a:rPr>
              <a:t>Newt rises faster than PPO and FastTD3, reaching higher scores with fewer steps</a:t>
            </a:r>
            <a:endParaRPr lang="en-US" sz="1100" dirty="0">
              <a:latin typeface="Avenir Next LT Pro" panose="020B0504020202020204" pitchFamily="34" charset="0"/>
            </a:endParaRPr>
          </a:p>
        </p:txBody>
      </p:sp>
      <p:sp>
        <p:nvSpPr>
          <p:cNvPr id="19" name="Shape 16"/>
          <p:cNvSpPr/>
          <p:nvPr/>
        </p:nvSpPr>
        <p:spPr>
          <a:xfrm>
            <a:off x="4389120" y="2880360"/>
            <a:ext cx="347472" cy="685800"/>
          </a:xfrm>
          <a:prstGeom prst="rect">
            <a:avLst/>
          </a:prstGeom>
          <a:solidFill>
            <a:srgbClr val="3D3D3D"/>
          </a:solidFill>
          <a:ln w="12700">
            <a:solidFill>
              <a:srgbClr val="3D3D3D"/>
            </a:solidFill>
            <a:prstDash val="solid"/>
          </a:ln>
        </p:spPr>
        <p:txBody>
          <a:bodyPr/>
          <a:lstStyle/>
          <a:p>
            <a:endParaRPr lang="en-CA">
              <a:latin typeface="Avenir Next LT Pro" panose="020B0504020202020204" pitchFamily="34" charset="0"/>
            </a:endParaRPr>
          </a:p>
        </p:txBody>
      </p:sp>
      <p:sp>
        <p:nvSpPr>
          <p:cNvPr id="20" name="Text 17"/>
          <p:cNvSpPr/>
          <p:nvPr/>
        </p:nvSpPr>
        <p:spPr>
          <a:xfrm>
            <a:off x="4389120" y="2880360"/>
            <a:ext cx="347472" cy="685800"/>
          </a:xfrm>
          <a:prstGeom prst="rect">
            <a:avLst/>
          </a:prstGeom>
          <a:noFill/>
          <a:ln/>
        </p:spPr>
        <p:txBody>
          <a:bodyPr wrap="square" rtlCol="0" anchor="ctr"/>
          <a:lstStyle/>
          <a:p>
            <a:pPr marL="0" indent="0" algn="ctr">
              <a:buNone/>
            </a:pPr>
            <a:r>
              <a:rPr lang="en-US" sz="1300" b="1" dirty="0">
                <a:solidFill>
                  <a:srgbClr val="FFFFFF"/>
                </a:solidFill>
                <a:latin typeface="Avenir Next LT Pro" panose="020B0504020202020204" pitchFamily="34" charset="0"/>
              </a:rPr>
              <a:t>③</a:t>
            </a:r>
            <a:endParaRPr lang="en-US" sz="1300" dirty="0">
              <a:latin typeface="Avenir Next LT Pro" panose="020B0504020202020204" pitchFamily="34" charset="0"/>
            </a:endParaRPr>
          </a:p>
        </p:txBody>
      </p:sp>
      <p:sp>
        <p:nvSpPr>
          <p:cNvPr id="21" name="Shape 18"/>
          <p:cNvSpPr/>
          <p:nvPr/>
        </p:nvSpPr>
        <p:spPr>
          <a:xfrm>
            <a:off x="4773168" y="2880360"/>
            <a:ext cx="4069080" cy="685800"/>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22" name="Text 19"/>
          <p:cNvSpPr/>
          <p:nvPr/>
        </p:nvSpPr>
        <p:spPr>
          <a:xfrm>
            <a:off x="4864608" y="2916936"/>
            <a:ext cx="3886200" cy="256032"/>
          </a:xfrm>
          <a:prstGeom prst="rect">
            <a:avLst/>
          </a:prstGeom>
          <a:noFill/>
          <a:ln/>
        </p:spPr>
        <p:txBody>
          <a:bodyPr wrap="square" lIns="0" tIns="0" rIns="0" bIns="0" rtlCol="0" anchor="ctr"/>
          <a:lstStyle/>
          <a:p>
            <a:pPr marL="0" indent="0">
              <a:buNone/>
            </a:pPr>
            <a:r>
              <a:rPr lang="en-US" sz="1200" b="1" dirty="0">
                <a:solidFill>
                  <a:srgbClr val="3D3D3D"/>
                </a:solidFill>
                <a:latin typeface="Avenir Next LT Pro" panose="020B0504020202020204" pitchFamily="34" charset="0"/>
              </a:rPr>
              <a:t>BC plateaus early</a:t>
            </a:r>
            <a:endParaRPr lang="en-US" sz="1200" dirty="0">
              <a:latin typeface="Avenir Next LT Pro" panose="020B0504020202020204" pitchFamily="34" charset="0"/>
            </a:endParaRPr>
          </a:p>
        </p:txBody>
      </p:sp>
      <p:sp>
        <p:nvSpPr>
          <p:cNvPr id="23" name="Text 20"/>
          <p:cNvSpPr/>
          <p:nvPr/>
        </p:nvSpPr>
        <p:spPr>
          <a:xfrm>
            <a:off x="4864608" y="3182112"/>
            <a:ext cx="3886200" cy="329184"/>
          </a:xfrm>
          <a:prstGeom prst="rect">
            <a:avLst/>
          </a:prstGeom>
          <a:noFill/>
          <a:ln/>
        </p:spPr>
        <p:txBody>
          <a:bodyPr wrap="square" rtlCol="0" anchor="ctr"/>
          <a:lstStyle/>
          <a:p>
            <a:pPr marL="0" indent="0">
              <a:buNone/>
            </a:pPr>
            <a:r>
              <a:rPr lang="en-US" sz="1100" dirty="0">
                <a:solidFill>
                  <a:srgbClr val="1E1E1E"/>
                </a:solidFill>
                <a:latin typeface="Avenir Next LT Pro" panose="020B0504020202020204" pitchFamily="34" charset="0"/>
              </a:rPr>
              <a:t>BC starts strong (high-quality demos) but cannot improve beyond imitation ceiling</a:t>
            </a:r>
            <a:endParaRPr lang="en-US" sz="1100" dirty="0">
              <a:latin typeface="Avenir Next LT Pro" panose="020B0504020202020204" pitchFamily="34" charset="0"/>
            </a:endParaRPr>
          </a:p>
        </p:txBody>
      </p:sp>
      <p:sp>
        <p:nvSpPr>
          <p:cNvPr id="24" name="Shape 21"/>
          <p:cNvSpPr/>
          <p:nvPr/>
        </p:nvSpPr>
        <p:spPr>
          <a:xfrm>
            <a:off x="4389120" y="3703320"/>
            <a:ext cx="347472" cy="685800"/>
          </a:xfrm>
          <a:prstGeom prst="rect">
            <a:avLst/>
          </a:prstGeom>
          <a:solidFill>
            <a:srgbClr val="6B6B6B"/>
          </a:solidFill>
          <a:ln w="12700">
            <a:solidFill>
              <a:srgbClr val="6B6B6B"/>
            </a:solidFill>
            <a:prstDash val="solid"/>
          </a:ln>
        </p:spPr>
        <p:txBody>
          <a:bodyPr/>
          <a:lstStyle/>
          <a:p>
            <a:endParaRPr lang="en-CA">
              <a:latin typeface="Avenir Next LT Pro" panose="020B0504020202020204" pitchFamily="34" charset="0"/>
            </a:endParaRPr>
          </a:p>
        </p:txBody>
      </p:sp>
      <p:sp>
        <p:nvSpPr>
          <p:cNvPr id="25" name="Text 22"/>
          <p:cNvSpPr/>
          <p:nvPr/>
        </p:nvSpPr>
        <p:spPr>
          <a:xfrm>
            <a:off x="4389120" y="3703320"/>
            <a:ext cx="347472" cy="685800"/>
          </a:xfrm>
          <a:prstGeom prst="rect">
            <a:avLst/>
          </a:prstGeom>
          <a:noFill/>
          <a:ln/>
        </p:spPr>
        <p:txBody>
          <a:bodyPr wrap="square" rtlCol="0" anchor="ctr"/>
          <a:lstStyle/>
          <a:p>
            <a:pPr marL="0" indent="0" algn="ctr">
              <a:buNone/>
            </a:pPr>
            <a:r>
              <a:rPr lang="en-US" sz="1300" b="1" dirty="0">
                <a:solidFill>
                  <a:srgbClr val="FFFFFF"/>
                </a:solidFill>
                <a:latin typeface="Avenir Next LT Pro" panose="020B0504020202020204" pitchFamily="34" charset="0"/>
              </a:rPr>
              <a:t>④</a:t>
            </a:r>
            <a:endParaRPr lang="en-US" sz="1300" dirty="0">
              <a:latin typeface="Avenir Next LT Pro" panose="020B0504020202020204" pitchFamily="34" charset="0"/>
            </a:endParaRPr>
          </a:p>
        </p:txBody>
      </p:sp>
      <p:sp>
        <p:nvSpPr>
          <p:cNvPr id="26" name="Shape 23"/>
          <p:cNvSpPr/>
          <p:nvPr/>
        </p:nvSpPr>
        <p:spPr>
          <a:xfrm>
            <a:off x="4773168" y="3703320"/>
            <a:ext cx="4069080" cy="685800"/>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27" name="Text 24"/>
          <p:cNvSpPr/>
          <p:nvPr/>
        </p:nvSpPr>
        <p:spPr>
          <a:xfrm>
            <a:off x="4864608" y="3739896"/>
            <a:ext cx="3886200" cy="256032"/>
          </a:xfrm>
          <a:prstGeom prst="rect">
            <a:avLst/>
          </a:prstGeom>
          <a:noFill/>
          <a:ln/>
        </p:spPr>
        <p:txBody>
          <a:bodyPr wrap="square" lIns="0" tIns="0" rIns="0" bIns="0" rtlCol="0" anchor="ctr"/>
          <a:lstStyle/>
          <a:p>
            <a:pPr marL="0" indent="0">
              <a:buNone/>
            </a:pPr>
            <a:r>
              <a:rPr lang="en-US" sz="1200" b="1" dirty="0">
                <a:solidFill>
                  <a:srgbClr val="6B6B6B"/>
                </a:solidFill>
                <a:latin typeface="Avenir Next LT Pro" panose="020B0504020202020204" pitchFamily="34" charset="0"/>
              </a:rPr>
              <a:t>Demos matter</a:t>
            </a:r>
            <a:endParaRPr lang="en-US" sz="1200" dirty="0">
              <a:latin typeface="Avenir Next LT Pro" panose="020B0504020202020204" pitchFamily="34" charset="0"/>
            </a:endParaRPr>
          </a:p>
        </p:txBody>
      </p:sp>
      <p:sp>
        <p:nvSpPr>
          <p:cNvPr id="28" name="Text 25"/>
          <p:cNvSpPr/>
          <p:nvPr/>
        </p:nvSpPr>
        <p:spPr>
          <a:xfrm>
            <a:off x="4864608" y="4005072"/>
            <a:ext cx="3886200" cy="329184"/>
          </a:xfrm>
          <a:prstGeom prst="rect">
            <a:avLst/>
          </a:prstGeom>
          <a:noFill/>
          <a:ln/>
        </p:spPr>
        <p:txBody>
          <a:bodyPr wrap="square" rtlCol="0" anchor="ctr"/>
          <a:lstStyle/>
          <a:p>
            <a:pPr marL="0" indent="0">
              <a:buNone/>
            </a:pPr>
            <a:r>
              <a:rPr lang="en-US" sz="1100" dirty="0">
                <a:solidFill>
                  <a:srgbClr val="1E1E1E"/>
                </a:solidFill>
                <a:latin typeface="Avenir Next LT Pro" panose="020B0504020202020204" pitchFamily="34" charset="0"/>
              </a:rPr>
              <a:t>"Ours (no demos)" is noticeably worse — pretraining on demonstrations is essential</a:t>
            </a:r>
            <a:endParaRPr lang="en-US" sz="1100" dirty="0">
              <a:latin typeface="Avenir Next LT Pro" panose="020B0504020202020204" pitchFamily="34" charset="0"/>
            </a:endParaRPr>
          </a:p>
        </p:txBody>
      </p:sp>
      <p:sp>
        <p:nvSpPr>
          <p:cNvPr id="29" name="Text 26"/>
          <p:cNvSpPr/>
          <p:nvPr/>
        </p:nvSpPr>
        <p:spPr>
          <a:xfrm>
            <a:off x="347472" y="4480560"/>
            <a:ext cx="3657600" cy="201168"/>
          </a:xfrm>
          <a:prstGeom prst="rect">
            <a:avLst/>
          </a:prstGeom>
          <a:noFill/>
          <a:ln/>
        </p:spPr>
        <p:txBody>
          <a:bodyPr wrap="square" rtlCol="0" anchor="ctr"/>
          <a:lstStyle/>
          <a:p>
            <a:pPr marL="0" indent="0">
              <a:buNone/>
            </a:pPr>
            <a:r>
              <a:rPr lang="en-US" sz="900" i="1" dirty="0">
                <a:solidFill>
                  <a:srgbClr val="6B6B6B"/>
                </a:solidFill>
                <a:latin typeface="Avenir Next LT Pro" panose="020B0504020202020204" pitchFamily="34" charset="0"/>
              </a:rPr>
              <a:t>Source: Figure 1 — Hansen et al., 2025</a:t>
            </a:r>
            <a:endParaRPr lang="en-US" sz="900" dirty="0">
              <a:latin typeface="Avenir Next LT Pro" panose="020B05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2"/>
          <p:cNvSpPr/>
          <p:nvPr/>
        </p:nvSpPr>
        <p:spPr>
          <a:xfrm>
            <a:off x="347472" y="566928"/>
            <a:ext cx="8229600" cy="502920"/>
          </a:xfrm>
          <a:prstGeom prst="rect">
            <a:avLst/>
          </a:prstGeom>
          <a:noFill/>
          <a:ln/>
        </p:spPr>
        <p:txBody>
          <a:bodyPr wrap="square" lIns="0" tIns="0" rIns="0" bIns="0" rtlCol="0" anchor="ctr"/>
          <a:lstStyle/>
          <a:p>
            <a:pPr marL="0" indent="0">
              <a:buNone/>
            </a:pPr>
            <a:r>
              <a:rPr lang="en-US" sz="2400" b="1" dirty="0">
                <a:solidFill>
                  <a:srgbClr val="8F0024"/>
                </a:solidFill>
                <a:latin typeface="Avenir Next LT Pro" panose="020B0504020202020204" pitchFamily="34" charset="0"/>
              </a:rPr>
              <a:t>Result 2: Per-Domain Performance (Figure 7)</a:t>
            </a:r>
            <a:endParaRPr lang="en-US" sz="2400" dirty="0">
              <a:latin typeface="Avenir Next LT Pro" panose="020B0504020202020204" pitchFamily="34" charset="0"/>
            </a:endParaRPr>
          </a:p>
        </p:txBody>
      </p:sp>
      <p:sp>
        <p:nvSpPr>
          <p:cNvPr id="5" name="Shape 3"/>
          <p:cNvSpPr/>
          <p:nvPr/>
        </p:nvSpPr>
        <p:spPr>
          <a:xfrm>
            <a:off x="347472" y="1115568"/>
            <a:ext cx="8229600" cy="0"/>
          </a:xfrm>
          <a:prstGeom prst="line">
            <a:avLst/>
          </a:prstGeom>
          <a:noFill/>
          <a:ln w="8890">
            <a:solidFill>
              <a:srgbClr val="CCCCCC"/>
            </a:solidFill>
            <a:prstDash val="solid"/>
          </a:ln>
        </p:spPr>
        <p:txBody>
          <a:bodyPr/>
          <a:lstStyle/>
          <a:p>
            <a:endParaRPr lang="en-CA">
              <a:latin typeface="Avenir Next LT Pro" panose="020B0504020202020204" pitchFamily="34" charset="0"/>
            </a:endParaRPr>
          </a:p>
        </p:txBody>
      </p:sp>
      <p:sp>
        <p:nvSpPr>
          <p:cNvPr id="6" name="Text 4"/>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latin typeface="Avenir Next LT Pro" panose="020B0504020202020204" pitchFamily="34" charset="0"/>
              </a:rPr>
              <a:t>uOttawa</a:t>
            </a:r>
            <a:endParaRPr lang="en-US" sz="1300" dirty="0">
              <a:latin typeface="Avenir Next LT Pro" panose="020B0504020202020204" pitchFamily="34" charset="0"/>
            </a:endParaRPr>
          </a:p>
        </p:txBody>
      </p:sp>
      <p:sp>
        <p:nvSpPr>
          <p:cNvPr id="7" name="Text 5"/>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B6B6B"/>
                </a:solidFill>
                <a:latin typeface="Avenir Next LT Pro" panose="020B0504020202020204" pitchFamily="34" charset="0"/>
              </a:rPr>
              <a:t>R2</a:t>
            </a:r>
            <a:endParaRPr lang="en-US" sz="900" dirty="0">
              <a:latin typeface="Avenir Next LT Pro" panose="020B0504020202020204" pitchFamily="34" charset="0"/>
            </a:endParaRPr>
          </a:p>
        </p:txBody>
      </p:sp>
      <p:pic>
        <p:nvPicPr>
          <p:cNvPr id="8" name="Image 0" descr="preencoded.png"/>
          <p:cNvPicPr>
            <a:picLocks noChangeAspect="1"/>
          </p:cNvPicPr>
          <p:nvPr/>
        </p:nvPicPr>
        <p:blipFill>
          <a:blip r:embed="rId4"/>
          <a:stretch>
            <a:fillRect/>
          </a:stretch>
        </p:blipFill>
        <p:spPr>
          <a:xfrm>
            <a:off x="274320" y="1207008"/>
            <a:ext cx="8595360" cy="3246120"/>
          </a:xfrm>
          <a:prstGeom prst="rect">
            <a:avLst/>
          </a:prstGeom>
        </p:spPr>
      </p:pic>
      <p:sp>
        <p:nvSpPr>
          <p:cNvPr id="9" name="Shape 6"/>
          <p:cNvSpPr/>
          <p:nvPr/>
        </p:nvSpPr>
        <p:spPr>
          <a:xfrm>
            <a:off x="274320" y="4498848"/>
            <a:ext cx="8595360" cy="438912"/>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10" name="Text 7"/>
          <p:cNvSpPr/>
          <p:nvPr/>
        </p:nvSpPr>
        <p:spPr>
          <a:xfrm>
            <a:off x="411480" y="4498848"/>
            <a:ext cx="8321040" cy="438912"/>
          </a:xfrm>
          <a:prstGeom prst="rect">
            <a:avLst/>
          </a:prstGeom>
          <a:noFill/>
          <a:ln/>
        </p:spPr>
        <p:txBody>
          <a:bodyPr wrap="square" rtlCol="0" anchor="ctr"/>
          <a:lstStyle/>
          <a:p>
            <a:pPr marL="0" indent="0">
              <a:buNone/>
            </a:pPr>
            <a:r>
              <a:rPr lang="en-US" sz="1100" b="1" dirty="0">
                <a:solidFill>
                  <a:srgbClr val="8F0024"/>
                </a:solidFill>
                <a:latin typeface="Avenir Next LT Pro" panose="020B0504020202020204" pitchFamily="34" charset="0"/>
              </a:rPr>
              <a:t>Key takeaway: </a:t>
            </a:r>
            <a:r>
              <a:rPr lang="en-US" sz="1100" dirty="0">
                <a:solidFill>
                  <a:srgbClr val="1E1E1E"/>
                </a:solidFill>
                <a:latin typeface="Avenir Next LT Pro" panose="020B0504020202020204" pitchFamily="34" charset="0"/>
              </a:rPr>
              <a:t>Newt (dark blue) leads in most domains but gains are uneven — ManiSkill &amp; Meta-World show strong improvement; MuJoCo &amp; Atari are more competitive. This is an honest limitation the authors acknowledge.</a:t>
            </a:r>
            <a:endParaRPr lang="en-US" sz="1100" dirty="0">
              <a:latin typeface="Avenir Next LT Pro" panose="020B0504020202020204" pitchFamily="34" charset="0"/>
            </a:endParaRPr>
          </a:p>
        </p:txBody>
      </p:sp>
      <p:sp>
        <p:nvSpPr>
          <p:cNvPr id="11" name="Text 8"/>
          <p:cNvSpPr/>
          <p:nvPr/>
        </p:nvSpPr>
        <p:spPr>
          <a:xfrm>
            <a:off x="7315200" y="4690872"/>
            <a:ext cx="1737360" cy="182880"/>
          </a:xfrm>
          <a:prstGeom prst="rect">
            <a:avLst/>
          </a:prstGeom>
          <a:noFill/>
          <a:ln/>
        </p:spPr>
        <p:txBody>
          <a:bodyPr wrap="square" rtlCol="0" anchor="ctr"/>
          <a:lstStyle/>
          <a:p>
            <a:pPr marL="0" indent="0" algn="r">
              <a:buNone/>
            </a:pPr>
            <a:r>
              <a:rPr lang="en-US" sz="900" i="1" dirty="0">
                <a:solidFill>
                  <a:srgbClr val="6B6B6B"/>
                </a:solidFill>
                <a:latin typeface="Avenir Next LT Pro" panose="020B0504020202020204" pitchFamily="34" charset="0"/>
              </a:rPr>
              <a:t>Source: Figure 7 — Hansen et al., 2025</a:t>
            </a:r>
            <a:endParaRPr lang="en-US" sz="900" dirty="0">
              <a:latin typeface="Avenir Next LT Pro" panose="020B05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2"/>
          <p:cNvSpPr/>
          <p:nvPr/>
        </p:nvSpPr>
        <p:spPr>
          <a:xfrm>
            <a:off x="347472" y="566928"/>
            <a:ext cx="8229600" cy="502920"/>
          </a:xfrm>
          <a:prstGeom prst="rect">
            <a:avLst/>
          </a:prstGeom>
          <a:noFill/>
          <a:ln/>
        </p:spPr>
        <p:txBody>
          <a:bodyPr wrap="square" lIns="0" tIns="0" rIns="0" bIns="0" rtlCol="0" anchor="ctr"/>
          <a:lstStyle/>
          <a:p>
            <a:pPr marL="0" indent="0">
              <a:buNone/>
            </a:pPr>
            <a:r>
              <a:rPr lang="en-US" sz="2400" b="1" dirty="0">
                <a:solidFill>
                  <a:srgbClr val="8F0024"/>
                </a:solidFill>
                <a:latin typeface="Avenir Next LT Pro" panose="020B0504020202020204" pitchFamily="34" charset="0"/>
              </a:rPr>
              <a:t>Result 3: Few-Shot Adaptation to Unseen Tasks (Figure 9)</a:t>
            </a:r>
            <a:endParaRPr lang="en-US" sz="2400" dirty="0">
              <a:latin typeface="Avenir Next LT Pro" panose="020B0504020202020204" pitchFamily="34" charset="0"/>
            </a:endParaRPr>
          </a:p>
        </p:txBody>
      </p:sp>
      <p:sp>
        <p:nvSpPr>
          <p:cNvPr id="5" name="Shape 3"/>
          <p:cNvSpPr/>
          <p:nvPr/>
        </p:nvSpPr>
        <p:spPr>
          <a:xfrm>
            <a:off x="347472" y="1115568"/>
            <a:ext cx="8229600" cy="0"/>
          </a:xfrm>
          <a:prstGeom prst="line">
            <a:avLst/>
          </a:prstGeom>
          <a:noFill/>
          <a:ln w="8890">
            <a:solidFill>
              <a:srgbClr val="CCCCCC"/>
            </a:solidFill>
            <a:prstDash val="solid"/>
          </a:ln>
        </p:spPr>
        <p:txBody>
          <a:bodyPr/>
          <a:lstStyle/>
          <a:p>
            <a:endParaRPr lang="en-CA">
              <a:latin typeface="Avenir Next LT Pro" panose="020B0504020202020204" pitchFamily="34" charset="0"/>
            </a:endParaRPr>
          </a:p>
        </p:txBody>
      </p:sp>
      <p:sp>
        <p:nvSpPr>
          <p:cNvPr id="6" name="Text 4"/>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latin typeface="Avenir Next LT Pro" panose="020B0504020202020204" pitchFamily="34" charset="0"/>
              </a:rPr>
              <a:t>uOttawa</a:t>
            </a:r>
            <a:endParaRPr lang="en-US" sz="1300" dirty="0">
              <a:latin typeface="Avenir Next LT Pro" panose="020B0504020202020204" pitchFamily="34" charset="0"/>
            </a:endParaRPr>
          </a:p>
        </p:txBody>
      </p:sp>
      <p:sp>
        <p:nvSpPr>
          <p:cNvPr id="7" name="Text 5"/>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B6B6B"/>
                </a:solidFill>
                <a:latin typeface="Avenir Next LT Pro" panose="020B0504020202020204" pitchFamily="34" charset="0"/>
              </a:rPr>
              <a:t>R3</a:t>
            </a:r>
            <a:endParaRPr lang="en-US" sz="900" dirty="0">
              <a:latin typeface="Avenir Next LT Pro" panose="020B0504020202020204" pitchFamily="34" charset="0"/>
            </a:endParaRPr>
          </a:p>
        </p:txBody>
      </p:sp>
      <p:pic>
        <p:nvPicPr>
          <p:cNvPr id="8" name="Image 0" descr="preencoded.png"/>
          <p:cNvPicPr>
            <a:picLocks noChangeAspect="1"/>
          </p:cNvPicPr>
          <p:nvPr/>
        </p:nvPicPr>
        <p:blipFill>
          <a:blip r:embed="rId4"/>
          <a:stretch>
            <a:fillRect/>
          </a:stretch>
        </p:blipFill>
        <p:spPr>
          <a:xfrm>
            <a:off x="763433" y="1216151"/>
            <a:ext cx="2825678" cy="3383280"/>
          </a:xfrm>
          <a:prstGeom prst="rect">
            <a:avLst/>
          </a:prstGeom>
        </p:spPr>
      </p:pic>
      <p:sp>
        <p:nvSpPr>
          <p:cNvPr id="9" name="Shape 6"/>
          <p:cNvSpPr/>
          <p:nvPr/>
        </p:nvSpPr>
        <p:spPr>
          <a:xfrm>
            <a:off x="4251960" y="1234440"/>
            <a:ext cx="4617720" cy="914400"/>
          </a:xfrm>
          <a:prstGeom prst="rect">
            <a:avLst/>
          </a:prstGeom>
          <a:solidFill>
            <a:srgbClr val="FFF0F3"/>
          </a:solidFill>
          <a:ln w="12700">
            <a:solidFill>
              <a:srgbClr val="8F0024"/>
            </a:solidFill>
            <a:prstDash val="solid"/>
          </a:ln>
        </p:spPr>
        <p:txBody>
          <a:bodyPr/>
          <a:lstStyle/>
          <a:p>
            <a:endParaRPr lang="en-CA">
              <a:latin typeface="Avenir Next LT Pro" panose="020B0504020202020204" pitchFamily="34" charset="0"/>
            </a:endParaRPr>
          </a:p>
        </p:txBody>
      </p:sp>
      <p:sp>
        <p:nvSpPr>
          <p:cNvPr id="10" name="Text 7"/>
          <p:cNvSpPr/>
          <p:nvPr/>
        </p:nvSpPr>
        <p:spPr>
          <a:xfrm>
            <a:off x="4370832" y="1261872"/>
            <a:ext cx="4389120" cy="274320"/>
          </a:xfrm>
          <a:prstGeom prst="rect">
            <a:avLst/>
          </a:prstGeom>
          <a:noFill/>
          <a:ln/>
        </p:spPr>
        <p:txBody>
          <a:bodyPr wrap="square" lIns="0" tIns="0" rIns="0" bIns="0" rtlCol="0" anchor="ctr"/>
          <a:lstStyle/>
          <a:p>
            <a:pPr marL="0" indent="0">
              <a:buNone/>
            </a:pPr>
            <a:r>
              <a:rPr lang="en-US" sz="1200" b="1" dirty="0">
                <a:solidFill>
                  <a:srgbClr val="8F0024"/>
                </a:solidFill>
                <a:latin typeface="Avenir Next LT Pro" panose="020B0504020202020204" pitchFamily="34" charset="0"/>
              </a:rPr>
              <a:t>What is being tested?</a:t>
            </a:r>
            <a:endParaRPr lang="en-US" sz="1200" dirty="0">
              <a:latin typeface="Avenir Next LT Pro" panose="020B0504020202020204" pitchFamily="34" charset="0"/>
            </a:endParaRPr>
          </a:p>
        </p:txBody>
      </p:sp>
      <p:sp>
        <p:nvSpPr>
          <p:cNvPr id="11" name="Text 8"/>
          <p:cNvSpPr/>
          <p:nvPr/>
        </p:nvSpPr>
        <p:spPr>
          <a:xfrm>
            <a:off x="4370832" y="1536192"/>
            <a:ext cx="4389120" cy="548640"/>
          </a:xfrm>
          <a:prstGeom prst="rect">
            <a:avLst/>
          </a:prstGeom>
          <a:noFill/>
          <a:ln/>
        </p:spPr>
        <p:txBody>
          <a:bodyPr wrap="square" rtlCol="0" anchor="ctr"/>
          <a:lstStyle/>
          <a:p>
            <a:pPr marL="0" indent="0">
              <a:buNone/>
            </a:pPr>
            <a:r>
              <a:rPr lang="en-US" sz="1150" dirty="0">
                <a:solidFill>
                  <a:srgbClr val="1E1E1E"/>
                </a:solidFill>
                <a:latin typeface="Avenir Next LT Pro" panose="020B0504020202020204" pitchFamily="34" charset="0"/>
              </a:rPr>
              <a:t>Transfer Newt (pretrained on 200 tasks) to 20 completely unseen tasks &amp; embodiments using only a small number of fine-tuning steps.</a:t>
            </a:r>
            <a:endParaRPr lang="en-US" sz="1150" dirty="0">
              <a:latin typeface="Avenir Next LT Pro" panose="020B0504020202020204" pitchFamily="34" charset="0"/>
            </a:endParaRPr>
          </a:p>
        </p:txBody>
      </p:sp>
      <p:sp>
        <p:nvSpPr>
          <p:cNvPr id="12" name="Shape 9"/>
          <p:cNvSpPr/>
          <p:nvPr/>
        </p:nvSpPr>
        <p:spPr>
          <a:xfrm>
            <a:off x="4251960" y="2286000"/>
            <a:ext cx="347472" cy="694944"/>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13" name="Text 10"/>
          <p:cNvSpPr/>
          <p:nvPr/>
        </p:nvSpPr>
        <p:spPr>
          <a:xfrm>
            <a:off x="4251960" y="2286000"/>
            <a:ext cx="347472" cy="694944"/>
          </a:xfrm>
          <a:prstGeom prst="rect">
            <a:avLst/>
          </a:prstGeom>
          <a:noFill/>
          <a:ln/>
        </p:spPr>
        <p:txBody>
          <a:bodyPr wrap="square" rtlCol="0" anchor="ctr"/>
          <a:lstStyle/>
          <a:p>
            <a:pPr marL="0" indent="0" algn="ctr">
              <a:buNone/>
            </a:pPr>
            <a:r>
              <a:rPr lang="en-US" sz="1400" b="1" dirty="0">
                <a:solidFill>
                  <a:srgbClr val="FFFFFF"/>
                </a:solidFill>
                <a:latin typeface="Avenir Next LT Pro" panose="020B0504020202020204" pitchFamily="34" charset="0"/>
              </a:rPr>
              <a:t>→</a:t>
            </a:r>
            <a:endParaRPr lang="en-US" sz="1400" dirty="0">
              <a:latin typeface="Avenir Next LT Pro" panose="020B0504020202020204" pitchFamily="34" charset="0"/>
            </a:endParaRPr>
          </a:p>
        </p:txBody>
      </p:sp>
      <p:sp>
        <p:nvSpPr>
          <p:cNvPr id="14" name="Shape 11"/>
          <p:cNvSpPr/>
          <p:nvPr/>
        </p:nvSpPr>
        <p:spPr>
          <a:xfrm>
            <a:off x="4636008" y="2286000"/>
            <a:ext cx="4233672" cy="694944"/>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15" name="Text 12"/>
          <p:cNvSpPr/>
          <p:nvPr/>
        </p:nvSpPr>
        <p:spPr>
          <a:xfrm>
            <a:off x="4727448" y="2322576"/>
            <a:ext cx="4050792" cy="256032"/>
          </a:xfrm>
          <a:prstGeom prst="rect">
            <a:avLst/>
          </a:prstGeom>
          <a:noFill/>
          <a:ln/>
        </p:spPr>
        <p:txBody>
          <a:bodyPr wrap="square" lIns="0" tIns="0" rIns="0" bIns="0" rtlCol="0" anchor="ctr"/>
          <a:lstStyle/>
          <a:p>
            <a:pPr marL="0" indent="0">
              <a:buNone/>
            </a:pPr>
            <a:r>
              <a:rPr lang="en-US" sz="1200" b="1" dirty="0">
                <a:solidFill>
                  <a:srgbClr val="8F0024"/>
                </a:solidFill>
                <a:latin typeface="Avenir Next LT Pro" panose="020B0504020202020204" pitchFamily="34" charset="0"/>
              </a:rPr>
              <a:t>Finetuned Newt</a:t>
            </a:r>
            <a:endParaRPr lang="en-US" sz="1200" dirty="0">
              <a:latin typeface="Avenir Next LT Pro" panose="020B0504020202020204" pitchFamily="34" charset="0"/>
            </a:endParaRPr>
          </a:p>
        </p:txBody>
      </p:sp>
      <p:sp>
        <p:nvSpPr>
          <p:cNvPr id="16" name="Text 13"/>
          <p:cNvSpPr/>
          <p:nvPr/>
        </p:nvSpPr>
        <p:spPr>
          <a:xfrm>
            <a:off x="4727448" y="2596896"/>
            <a:ext cx="4050792" cy="329184"/>
          </a:xfrm>
          <a:prstGeom prst="rect">
            <a:avLst/>
          </a:prstGeom>
          <a:noFill/>
          <a:ln/>
        </p:spPr>
        <p:txBody>
          <a:bodyPr wrap="square" rtlCol="0" anchor="ctr"/>
          <a:lstStyle/>
          <a:p>
            <a:pPr marL="0" indent="0">
              <a:buNone/>
            </a:pPr>
            <a:r>
              <a:rPr lang="en-US" sz="1100" dirty="0">
                <a:solidFill>
                  <a:srgbClr val="1E1E1E"/>
                </a:solidFill>
                <a:latin typeface="Avenir Next LT Pro" panose="020B0504020202020204" pitchFamily="34" charset="0"/>
              </a:rPr>
              <a:t>Starts at ~0.4 and reaches ~0.85 normalized score by 100k steps</a:t>
            </a:r>
            <a:endParaRPr lang="en-US" sz="1100" dirty="0">
              <a:latin typeface="Avenir Next LT Pro" panose="020B0504020202020204" pitchFamily="34" charset="0"/>
            </a:endParaRPr>
          </a:p>
        </p:txBody>
      </p:sp>
      <p:sp>
        <p:nvSpPr>
          <p:cNvPr id="17" name="Shape 14"/>
          <p:cNvSpPr/>
          <p:nvPr/>
        </p:nvSpPr>
        <p:spPr>
          <a:xfrm>
            <a:off x="4251960" y="3127248"/>
            <a:ext cx="347472" cy="694944"/>
          </a:xfrm>
          <a:prstGeom prst="rect">
            <a:avLst/>
          </a:prstGeom>
          <a:solidFill>
            <a:srgbClr val="6B6B6B"/>
          </a:solidFill>
          <a:ln w="12700">
            <a:solidFill>
              <a:srgbClr val="6B6B6B"/>
            </a:solidFill>
            <a:prstDash val="solid"/>
          </a:ln>
        </p:spPr>
        <p:txBody>
          <a:bodyPr/>
          <a:lstStyle/>
          <a:p>
            <a:endParaRPr lang="en-CA">
              <a:latin typeface="Avenir Next LT Pro" panose="020B0504020202020204" pitchFamily="34" charset="0"/>
            </a:endParaRPr>
          </a:p>
        </p:txBody>
      </p:sp>
      <p:sp>
        <p:nvSpPr>
          <p:cNvPr id="18" name="Text 15"/>
          <p:cNvSpPr/>
          <p:nvPr/>
        </p:nvSpPr>
        <p:spPr>
          <a:xfrm>
            <a:off x="4251960" y="3127248"/>
            <a:ext cx="347472" cy="694944"/>
          </a:xfrm>
          <a:prstGeom prst="rect">
            <a:avLst/>
          </a:prstGeom>
          <a:noFill/>
          <a:ln/>
        </p:spPr>
        <p:txBody>
          <a:bodyPr wrap="square" rtlCol="0" anchor="ctr"/>
          <a:lstStyle/>
          <a:p>
            <a:pPr marL="0" indent="0" algn="ctr">
              <a:buNone/>
            </a:pPr>
            <a:r>
              <a:rPr lang="en-US" sz="1400" b="1" dirty="0">
                <a:solidFill>
                  <a:srgbClr val="FFFFFF"/>
                </a:solidFill>
                <a:latin typeface="Avenir Next LT Pro" panose="020B0504020202020204" pitchFamily="34" charset="0"/>
              </a:rPr>
              <a:t>→</a:t>
            </a:r>
            <a:endParaRPr lang="en-US" sz="1400" dirty="0">
              <a:latin typeface="Avenir Next LT Pro" panose="020B0504020202020204" pitchFamily="34" charset="0"/>
            </a:endParaRPr>
          </a:p>
        </p:txBody>
      </p:sp>
      <p:sp>
        <p:nvSpPr>
          <p:cNvPr id="19" name="Shape 16"/>
          <p:cNvSpPr/>
          <p:nvPr/>
        </p:nvSpPr>
        <p:spPr>
          <a:xfrm>
            <a:off x="4636008" y="3127248"/>
            <a:ext cx="4233672" cy="694944"/>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20" name="Text 17"/>
          <p:cNvSpPr/>
          <p:nvPr/>
        </p:nvSpPr>
        <p:spPr>
          <a:xfrm>
            <a:off x="4727448" y="3163824"/>
            <a:ext cx="4050792" cy="256032"/>
          </a:xfrm>
          <a:prstGeom prst="rect">
            <a:avLst/>
          </a:prstGeom>
          <a:noFill/>
          <a:ln/>
        </p:spPr>
        <p:txBody>
          <a:bodyPr wrap="square" lIns="0" tIns="0" rIns="0" bIns="0" rtlCol="0" anchor="ctr"/>
          <a:lstStyle/>
          <a:p>
            <a:pPr marL="0" indent="0">
              <a:buNone/>
            </a:pPr>
            <a:r>
              <a:rPr lang="en-US" sz="1200" b="1" dirty="0">
                <a:solidFill>
                  <a:srgbClr val="6B6B6B"/>
                </a:solidFill>
                <a:latin typeface="Avenir Next LT Pro" panose="020B0504020202020204" pitchFamily="34" charset="0"/>
              </a:rPr>
              <a:t>From Scratch</a:t>
            </a:r>
            <a:endParaRPr lang="en-US" sz="1200" dirty="0">
              <a:latin typeface="Avenir Next LT Pro" panose="020B0504020202020204" pitchFamily="34" charset="0"/>
            </a:endParaRPr>
          </a:p>
        </p:txBody>
      </p:sp>
      <p:sp>
        <p:nvSpPr>
          <p:cNvPr id="21" name="Text 18"/>
          <p:cNvSpPr/>
          <p:nvPr/>
        </p:nvSpPr>
        <p:spPr>
          <a:xfrm>
            <a:off x="4727448" y="3438144"/>
            <a:ext cx="4050792" cy="329184"/>
          </a:xfrm>
          <a:prstGeom prst="rect">
            <a:avLst/>
          </a:prstGeom>
          <a:noFill/>
          <a:ln/>
        </p:spPr>
        <p:txBody>
          <a:bodyPr wrap="square" rtlCol="0" anchor="ctr"/>
          <a:lstStyle/>
          <a:p>
            <a:pPr marL="0" indent="0">
              <a:buNone/>
            </a:pPr>
            <a:r>
              <a:rPr lang="en-US" sz="1100" dirty="0">
                <a:solidFill>
                  <a:srgbClr val="1E1E1E"/>
                </a:solidFill>
                <a:latin typeface="Avenir Next LT Pro" panose="020B0504020202020204" pitchFamily="34" charset="0"/>
              </a:rPr>
              <a:t>Starts near 0 and only reaches ~0.55 — much slower, much lower ceiling</a:t>
            </a:r>
            <a:endParaRPr lang="en-US" sz="1100" dirty="0">
              <a:latin typeface="Avenir Next LT Pro" panose="020B0504020202020204" pitchFamily="34" charset="0"/>
            </a:endParaRPr>
          </a:p>
        </p:txBody>
      </p:sp>
      <p:sp>
        <p:nvSpPr>
          <p:cNvPr id="22" name="Shape 19"/>
          <p:cNvSpPr/>
          <p:nvPr/>
        </p:nvSpPr>
        <p:spPr>
          <a:xfrm>
            <a:off x="4251960" y="3968496"/>
            <a:ext cx="347472" cy="694944"/>
          </a:xfrm>
          <a:prstGeom prst="rect">
            <a:avLst/>
          </a:prstGeom>
          <a:solidFill>
            <a:srgbClr val="B5003E"/>
          </a:solidFill>
          <a:ln w="12700">
            <a:solidFill>
              <a:srgbClr val="B5003E"/>
            </a:solidFill>
            <a:prstDash val="solid"/>
          </a:ln>
        </p:spPr>
        <p:txBody>
          <a:bodyPr/>
          <a:lstStyle/>
          <a:p>
            <a:endParaRPr lang="en-CA">
              <a:latin typeface="Avenir Next LT Pro" panose="020B0504020202020204" pitchFamily="34" charset="0"/>
            </a:endParaRPr>
          </a:p>
        </p:txBody>
      </p:sp>
      <p:sp>
        <p:nvSpPr>
          <p:cNvPr id="23" name="Text 20"/>
          <p:cNvSpPr/>
          <p:nvPr/>
        </p:nvSpPr>
        <p:spPr>
          <a:xfrm>
            <a:off x="4251960" y="3968496"/>
            <a:ext cx="347472" cy="694944"/>
          </a:xfrm>
          <a:prstGeom prst="rect">
            <a:avLst/>
          </a:prstGeom>
          <a:noFill/>
          <a:ln/>
        </p:spPr>
        <p:txBody>
          <a:bodyPr wrap="square" rtlCol="0" anchor="ctr"/>
          <a:lstStyle/>
          <a:p>
            <a:pPr marL="0" indent="0" algn="ctr">
              <a:buNone/>
            </a:pPr>
            <a:r>
              <a:rPr lang="en-US" sz="1400" b="1" dirty="0">
                <a:solidFill>
                  <a:srgbClr val="FFFFFF"/>
                </a:solidFill>
                <a:latin typeface="Avenir Next LT Pro" panose="020B0504020202020204" pitchFamily="34" charset="0"/>
              </a:rPr>
              <a:t>★</a:t>
            </a:r>
            <a:endParaRPr lang="en-US" sz="1400" dirty="0">
              <a:latin typeface="Avenir Next LT Pro" panose="020B0504020202020204" pitchFamily="34" charset="0"/>
            </a:endParaRPr>
          </a:p>
        </p:txBody>
      </p:sp>
      <p:sp>
        <p:nvSpPr>
          <p:cNvPr id="24" name="Shape 21"/>
          <p:cNvSpPr/>
          <p:nvPr/>
        </p:nvSpPr>
        <p:spPr>
          <a:xfrm>
            <a:off x="4636008" y="3968496"/>
            <a:ext cx="4233672" cy="694944"/>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25" name="Text 22"/>
          <p:cNvSpPr/>
          <p:nvPr/>
        </p:nvSpPr>
        <p:spPr>
          <a:xfrm>
            <a:off x="4727448" y="4005072"/>
            <a:ext cx="4050792" cy="256032"/>
          </a:xfrm>
          <a:prstGeom prst="rect">
            <a:avLst/>
          </a:prstGeom>
          <a:noFill/>
          <a:ln/>
        </p:spPr>
        <p:txBody>
          <a:bodyPr wrap="square" lIns="0" tIns="0" rIns="0" bIns="0" rtlCol="0" anchor="ctr"/>
          <a:lstStyle/>
          <a:p>
            <a:pPr marL="0" indent="0">
              <a:buNone/>
            </a:pPr>
            <a:r>
              <a:rPr lang="en-US" sz="1200" b="1" dirty="0">
                <a:solidFill>
                  <a:srgbClr val="B5003E"/>
                </a:solidFill>
                <a:latin typeface="Avenir Next LT Pro" panose="020B0504020202020204" pitchFamily="34" charset="0"/>
              </a:rPr>
              <a:t>~15× zero-shot advantage</a:t>
            </a:r>
            <a:endParaRPr lang="en-US" sz="1200" dirty="0">
              <a:latin typeface="Avenir Next LT Pro" panose="020B0504020202020204" pitchFamily="34" charset="0"/>
            </a:endParaRPr>
          </a:p>
        </p:txBody>
      </p:sp>
      <p:sp>
        <p:nvSpPr>
          <p:cNvPr id="26" name="Text 23"/>
          <p:cNvSpPr/>
          <p:nvPr/>
        </p:nvSpPr>
        <p:spPr>
          <a:xfrm>
            <a:off x="4727448" y="4279392"/>
            <a:ext cx="4050792" cy="329184"/>
          </a:xfrm>
          <a:prstGeom prst="rect">
            <a:avLst/>
          </a:prstGeom>
          <a:noFill/>
          <a:ln/>
        </p:spPr>
        <p:txBody>
          <a:bodyPr wrap="square" rtlCol="0" anchor="ctr"/>
          <a:lstStyle/>
          <a:p>
            <a:pPr marL="0" indent="0">
              <a:buNone/>
            </a:pPr>
            <a:r>
              <a:rPr lang="en-US" sz="1100" dirty="0">
                <a:solidFill>
                  <a:srgbClr val="1E1E1E"/>
                </a:solidFill>
                <a:latin typeface="Avenir Next LT Pro" panose="020B0504020202020204" pitchFamily="34" charset="0"/>
              </a:rPr>
              <a:t>Newt scores ~0.192 at step 0 vs. ~0.013 for scratch — pretrained representations transfer immediately</a:t>
            </a:r>
            <a:endParaRPr lang="en-US" sz="1100" dirty="0">
              <a:latin typeface="Avenir Next LT Pro" panose="020B0504020202020204" pitchFamily="34" charset="0"/>
            </a:endParaRPr>
          </a:p>
        </p:txBody>
      </p:sp>
      <p:sp>
        <p:nvSpPr>
          <p:cNvPr id="27" name="Text 24"/>
          <p:cNvSpPr/>
          <p:nvPr/>
        </p:nvSpPr>
        <p:spPr>
          <a:xfrm>
            <a:off x="347472" y="4645152"/>
            <a:ext cx="3657600" cy="201168"/>
          </a:xfrm>
          <a:prstGeom prst="rect">
            <a:avLst/>
          </a:prstGeom>
          <a:noFill/>
          <a:ln/>
        </p:spPr>
        <p:txBody>
          <a:bodyPr wrap="square" rtlCol="0" anchor="ctr"/>
          <a:lstStyle/>
          <a:p>
            <a:pPr marL="0" indent="0">
              <a:buNone/>
            </a:pPr>
            <a:r>
              <a:rPr lang="en-US" sz="900" i="1" dirty="0">
                <a:solidFill>
                  <a:srgbClr val="6B6B6B"/>
                </a:solidFill>
                <a:latin typeface="Avenir Next LT Pro" panose="020B0504020202020204" pitchFamily="34" charset="0"/>
              </a:rPr>
              <a:t>Source: Figure 9 — Hansen et al., 2025</a:t>
            </a:r>
            <a:endParaRPr lang="en-US" sz="900" dirty="0">
              <a:latin typeface="Avenir Next LT Pro" panose="020B05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2"/>
          <p:cNvSpPr/>
          <p:nvPr/>
        </p:nvSpPr>
        <p:spPr>
          <a:xfrm>
            <a:off x="347472" y="566928"/>
            <a:ext cx="8229600" cy="502920"/>
          </a:xfrm>
          <a:prstGeom prst="rect">
            <a:avLst/>
          </a:prstGeom>
          <a:noFill/>
          <a:ln/>
        </p:spPr>
        <p:txBody>
          <a:bodyPr wrap="square" lIns="0" tIns="0" rIns="0" bIns="0" rtlCol="0" anchor="ctr"/>
          <a:lstStyle/>
          <a:p>
            <a:pPr marL="0" indent="0">
              <a:buNone/>
            </a:pPr>
            <a:r>
              <a:rPr lang="en-US" sz="2400" b="1" dirty="0">
                <a:solidFill>
                  <a:srgbClr val="8F0024"/>
                </a:solidFill>
                <a:latin typeface="Avenir Next LT Pro" panose="020B0504020202020204" pitchFamily="34" charset="0"/>
              </a:rPr>
              <a:t>Result 4: Open-Loop Control &amp; Summary</a:t>
            </a:r>
            <a:endParaRPr lang="en-US" sz="2400" dirty="0">
              <a:latin typeface="Avenir Next LT Pro" panose="020B0504020202020204" pitchFamily="34" charset="0"/>
            </a:endParaRPr>
          </a:p>
        </p:txBody>
      </p:sp>
      <p:sp>
        <p:nvSpPr>
          <p:cNvPr id="5" name="Shape 3"/>
          <p:cNvSpPr/>
          <p:nvPr/>
        </p:nvSpPr>
        <p:spPr>
          <a:xfrm>
            <a:off x="347472" y="1115568"/>
            <a:ext cx="8229600" cy="0"/>
          </a:xfrm>
          <a:prstGeom prst="line">
            <a:avLst/>
          </a:prstGeom>
          <a:noFill/>
          <a:ln w="8890">
            <a:solidFill>
              <a:srgbClr val="CCCCCC"/>
            </a:solidFill>
            <a:prstDash val="solid"/>
          </a:ln>
        </p:spPr>
        <p:txBody>
          <a:bodyPr/>
          <a:lstStyle/>
          <a:p>
            <a:endParaRPr lang="en-CA">
              <a:latin typeface="Avenir Next LT Pro" panose="020B0504020202020204" pitchFamily="34" charset="0"/>
            </a:endParaRPr>
          </a:p>
        </p:txBody>
      </p:sp>
      <p:sp>
        <p:nvSpPr>
          <p:cNvPr id="6" name="Text 4"/>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latin typeface="Avenir Next LT Pro" panose="020B0504020202020204" pitchFamily="34" charset="0"/>
              </a:rPr>
              <a:t>uOttawa</a:t>
            </a:r>
            <a:endParaRPr lang="en-US" sz="1300" dirty="0">
              <a:latin typeface="Avenir Next LT Pro" panose="020B0504020202020204" pitchFamily="34" charset="0"/>
            </a:endParaRPr>
          </a:p>
        </p:txBody>
      </p:sp>
      <p:sp>
        <p:nvSpPr>
          <p:cNvPr id="7" name="Text 5"/>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B6B6B"/>
                </a:solidFill>
                <a:latin typeface="Avenir Next LT Pro" panose="020B0504020202020204" pitchFamily="34" charset="0"/>
              </a:rPr>
              <a:t>R4</a:t>
            </a:r>
            <a:endParaRPr lang="en-US" sz="900" dirty="0">
              <a:latin typeface="Avenir Next LT Pro" panose="020B0504020202020204" pitchFamily="34" charset="0"/>
            </a:endParaRPr>
          </a:p>
        </p:txBody>
      </p:sp>
      <p:sp>
        <p:nvSpPr>
          <p:cNvPr id="8" name="Shape 6"/>
          <p:cNvSpPr/>
          <p:nvPr/>
        </p:nvSpPr>
        <p:spPr>
          <a:xfrm>
            <a:off x="347472" y="1234440"/>
            <a:ext cx="4160520" cy="2331720"/>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9" name="Shape 7"/>
          <p:cNvSpPr/>
          <p:nvPr/>
        </p:nvSpPr>
        <p:spPr>
          <a:xfrm>
            <a:off x="347472" y="1234440"/>
            <a:ext cx="4160520" cy="365760"/>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10" name="Text 8"/>
          <p:cNvSpPr/>
          <p:nvPr/>
        </p:nvSpPr>
        <p:spPr>
          <a:xfrm>
            <a:off x="457200" y="1234440"/>
            <a:ext cx="3931920" cy="365760"/>
          </a:xfrm>
          <a:prstGeom prst="rect">
            <a:avLst/>
          </a:prstGeom>
          <a:noFill/>
          <a:ln/>
        </p:spPr>
        <p:txBody>
          <a:bodyPr wrap="square" lIns="0" tIns="0" rIns="0" bIns="0" rtlCol="0" anchor="ctr"/>
          <a:lstStyle/>
          <a:p>
            <a:pPr marL="0" indent="0">
              <a:buNone/>
            </a:pPr>
            <a:r>
              <a:rPr lang="en-US" sz="1200" b="1" dirty="0">
                <a:solidFill>
                  <a:srgbClr val="FFFFFF"/>
                </a:solidFill>
                <a:latin typeface="Avenir Next LT Pro" panose="020B0504020202020204" pitchFamily="34" charset="0"/>
              </a:rPr>
              <a:t>What is Open-Loop Control?</a:t>
            </a:r>
            <a:endParaRPr lang="en-US" sz="1200" dirty="0">
              <a:latin typeface="Avenir Next LT Pro" panose="020B0504020202020204" pitchFamily="34" charset="0"/>
            </a:endParaRPr>
          </a:p>
        </p:txBody>
      </p:sp>
      <p:sp>
        <p:nvSpPr>
          <p:cNvPr id="11" name="Text 9"/>
          <p:cNvSpPr/>
          <p:nvPr/>
        </p:nvSpPr>
        <p:spPr>
          <a:xfrm>
            <a:off x="457200" y="1664208"/>
            <a:ext cx="3931920" cy="1828800"/>
          </a:xfrm>
          <a:prstGeom prst="rect">
            <a:avLst/>
          </a:prstGeom>
          <a:noFill/>
          <a:ln/>
        </p:spPr>
        <p:txBody>
          <a:bodyPr wrap="square" rtlCol="0" anchor="ctr"/>
          <a:lstStyle/>
          <a:p>
            <a:pPr marL="0" indent="0">
              <a:lnSpc>
                <a:spcPct val="130000"/>
              </a:lnSpc>
              <a:buNone/>
            </a:pPr>
            <a:r>
              <a:rPr lang="en-US" sz="1200" b="1" dirty="0">
                <a:solidFill>
                  <a:srgbClr val="1E1E1E"/>
                </a:solidFill>
                <a:latin typeface="Avenir Next LT Pro" panose="020B0504020202020204" pitchFamily="34" charset="0"/>
              </a:rPr>
              <a:t>Normal (closed-loop): </a:t>
            </a:r>
            <a:r>
              <a:rPr lang="en-US" sz="1200" dirty="0">
                <a:solidFill>
                  <a:srgbClr val="1E1E1E"/>
                </a:solidFill>
                <a:latin typeface="Avenir Next LT Pro" panose="020B0504020202020204" pitchFamily="34" charset="0"/>
              </a:rPr>
              <a:t>Agent observes → acts → observes → acts...
</a:t>
            </a:r>
            <a:r>
              <a:rPr lang="en-US" sz="1200" b="1" dirty="0">
                <a:solidFill>
                  <a:srgbClr val="1E1E1E"/>
                </a:solidFill>
                <a:latin typeface="Avenir Next LT Pro" panose="020B0504020202020204" pitchFamily="34" charset="0"/>
              </a:rPr>
              <a:t>Open-loop: </a:t>
            </a:r>
            <a:r>
              <a:rPr lang="en-US" sz="1200" dirty="0">
                <a:solidFill>
                  <a:srgbClr val="1E1E1E"/>
                </a:solidFill>
                <a:latin typeface="Avenir Next LT Pro" panose="020B0504020202020204" pitchFamily="34" charset="0"/>
              </a:rPr>
              <a:t>Agent plans a sequence of actions and executes them ALL without re-observing the environment.</a:t>
            </a:r>
            <a:endParaRPr lang="en-US" sz="1200" dirty="0">
              <a:latin typeface="Avenir Next LT Pro" panose="020B0504020202020204" pitchFamily="34" charset="0"/>
            </a:endParaRPr>
          </a:p>
          <a:p>
            <a:pPr marL="0" indent="0">
              <a:lnSpc>
                <a:spcPct val="130000"/>
              </a:lnSpc>
              <a:buNone/>
            </a:pPr>
            <a:endParaRPr lang="en-US" sz="1200" dirty="0">
              <a:latin typeface="Avenir Next LT Pro" panose="020B0504020202020204" pitchFamily="34" charset="0"/>
            </a:endParaRPr>
          </a:p>
          <a:p>
            <a:pPr marL="0" indent="0">
              <a:lnSpc>
                <a:spcPct val="130000"/>
              </a:lnSpc>
              <a:buNone/>
            </a:pPr>
            <a:r>
              <a:rPr lang="en-US" sz="1200" dirty="0">
                <a:solidFill>
                  <a:srgbClr val="1E1E1E"/>
                </a:solidFill>
                <a:latin typeface="Avenir Next LT Pro" panose="020B0504020202020204" pitchFamily="34" charset="0"/>
              </a:rPr>
              <a:t>Newt's world model allows it to simulate future states internally — making open-loop control feasible.</a:t>
            </a:r>
            <a:endParaRPr lang="en-US" sz="1200" dirty="0">
              <a:latin typeface="Avenir Next LT Pro" panose="020B0504020202020204" pitchFamily="34" charset="0"/>
            </a:endParaRPr>
          </a:p>
        </p:txBody>
      </p:sp>
      <p:sp>
        <p:nvSpPr>
          <p:cNvPr id="12" name="Shape 10"/>
          <p:cNvSpPr/>
          <p:nvPr/>
        </p:nvSpPr>
        <p:spPr>
          <a:xfrm>
            <a:off x="347472" y="3657600"/>
            <a:ext cx="4160520" cy="658368"/>
          </a:xfrm>
          <a:prstGeom prst="rect">
            <a:avLst/>
          </a:prstGeom>
          <a:solidFill>
            <a:srgbClr val="FFF0F3"/>
          </a:solidFill>
          <a:ln w="12700">
            <a:solidFill>
              <a:srgbClr val="8F0024"/>
            </a:solidFill>
            <a:prstDash val="solid"/>
          </a:ln>
        </p:spPr>
        <p:txBody>
          <a:bodyPr/>
          <a:lstStyle/>
          <a:p>
            <a:endParaRPr lang="en-CA">
              <a:latin typeface="Avenir Next LT Pro" panose="020B0504020202020204" pitchFamily="34" charset="0"/>
            </a:endParaRPr>
          </a:p>
        </p:txBody>
      </p:sp>
      <p:sp>
        <p:nvSpPr>
          <p:cNvPr id="13" name="Text 11"/>
          <p:cNvSpPr/>
          <p:nvPr/>
        </p:nvSpPr>
        <p:spPr>
          <a:xfrm>
            <a:off x="457200" y="3657600"/>
            <a:ext cx="3931920" cy="658368"/>
          </a:xfrm>
          <a:prstGeom prst="rect">
            <a:avLst/>
          </a:prstGeom>
          <a:noFill/>
          <a:ln/>
        </p:spPr>
        <p:txBody>
          <a:bodyPr wrap="square" rtlCol="0" anchor="ctr"/>
          <a:lstStyle/>
          <a:p>
            <a:pPr marL="0" indent="0">
              <a:buNone/>
            </a:pPr>
            <a:r>
              <a:rPr lang="en-US" sz="1150" b="1" dirty="0">
                <a:solidFill>
                  <a:srgbClr val="8F0024"/>
                </a:solidFill>
                <a:latin typeface="Avenir Next LT Pro" panose="020B0504020202020204" pitchFamily="34" charset="0"/>
              </a:rPr>
              <a:t>Why it matters: </a:t>
            </a:r>
            <a:r>
              <a:rPr lang="en-US" sz="1150" dirty="0">
                <a:solidFill>
                  <a:srgbClr val="1E1E1E"/>
                </a:solidFill>
                <a:latin typeface="Avenir Next LT Pro" panose="020B0504020202020204" pitchFamily="34" charset="0"/>
              </a:rPr>
              <a:t>Critical for robotics where sensors are slow, expensive, or unreliable in the real world.</a:t>
            </a:r>
            <a:endParaRPr lang="en-US" sz="1150" dirty="0">
              <a:latin typeface="Avenir Next LT Pro" panose="020B0504020202020204" pitchFamily="34" charset="0"/>
            </a:endParaRPr>
          </a:p>
        </p:txBody>
      </p:sp>
      <p:sp>
        <p:nvSpPr>
          <p:cNvPr id="14" name="Shape 12"/>
          <p:cNvSpPr/>
          <p:nvPr/>
        </p:nvSpPr>
        <p:spPr>
          <a:xfrm>
            <a:off x="4709160" y="1234440"/>
            <a:ext cx="4160520" cy="365760"/>
          </a:xfrm>
          <a:prstGeom prst="rect">
            <a:avLst/>
          </a:prstGeom>
          <a:solidFill>
            <a:srgbClr val="3D3D3D"/>
          </a:solidFill>
          <a:ln w="12700">
            <a:solidFill>
              <a:srgbClr val="3D3D3D"/>
            </a:solidFill>
            <a:prstDash val="solid"/>
          </a:ln>
        </p:spPr>
        <p:txBody>
          <a:bodyPr/>
          <a:lstStyle/>
          <a:p>
            <a:endParaRPr lang="en-CA">
              <a:latin typeface="Avenir Next LT Pro" panose="020B0504020202020204" pitchFamily="34" charset="0"/>
            </a:endParaRPr>
          </a:p>
        </p:txBody>
      </p:sp>
      <p:sp>
        <p:nvSpPr>
          <p:cNvPr id="15" name="Text 13"/>
          <p:cNvSpPr/>
          <p:nvPr/>
        </p:nvSpPr>
        <p:spPr>
          <a:xfrm>
            <a:off x="4800600" y="1234440"/>
            <a:ext cx="3977640" cy="365760"/>
          </a:xfrm>
          <a:prstGeom prst="rect">
            <a:avLst/>
          </a:prstGeom>
          <a:noFill/>
          <a:ln/>
        </p:spPr>
        <p:txBody>
          <a:bodyPr wrap="square" lIns="0" tIns="0" rIns="0" bIns="0" rtlCol="0" anchor="ctr"/>
          <a:lstStyle/>
          <a:p>
            <a:pPr marL="0" indent="0">
              <a:buNone/>
            </a:pPr>
            <a:r>
              <a:rPr lang="en-US" sz="1200" b="1" dirty="0">
                <a:solidFill>
                  <a:srgbClr val="FFFFFF"/>
                </a:solidFill>
                <a:latin typeface="Avenir Next LT Pro" panose="020B0504020202020204" pitchFamily="34" charset="0"/>
              </a:rPr>
              <a:t>Results Summary</a:t>
            </a:r>
            <a:endParaRPr lang="en-US" sz="1200" dirty="0">
              <a:latin typeface="Avenir Next LT Pro" panose="020B0504020202020204" pitchFamily="34" charset="0"/>
            </a:endParaRPr>
          </a:p>
        </p:txBody>
      </p:sp>
      <p:sp>
        <p:nvSpPr>
          <p:cNvPr id="16" name="Shape 14"/>
          <p:cNvSpPr/>
          <p:nvPr/>
        </p:nvSpPr>
        <p:spPr>
          <a:xfrm>
            <a:off x="4709160" y="1691640"/>
            <a:ext cx="1920240" cy="1078992"/>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17" name="Text 15"/>
          <p:cNvSpPr/>
          <p:nvPr/>
        </p:nvSpPr>
        <p:spPr>
          <a:xfrm>
            <a:off x="4709160" y="1783080"/>
            <a:ext cx="1920240" cy="475488"/>
          </a:xfrm>
          <a:prstGeom prst="rect">
            <a:avLst/>
          </a:prstGeom>
          <a:noFill/>
          <a:ln/>
        </p:spPr>
        <p:txBody>
          <a:bodyPr wrap="square" rtlCol="0" anchor="ctr"/>
          <a:lstStyle/>
          <a:p>
            <a:pPr marL="0" indent="0" algn="ctr">
              <a:buNone/>
            </a:pPr>
            <a:r>
              <a:rPr lang="en-US" sz="2600" b="1" dirty="0">
                <a:solidFill>
                  <a:srgbClr val="8F0024"/>
                </a:solidFill>
                <a:latin typeface="Avenir Next LT Pro" panose="020B0504020202020204" pitchFamily="34" charset="0"/>
              </a:rPr>
              <a:t>~0.45</a:t>
            </a:r>
            <a:endParaRPr lang="en-US" sz="2600" dirty="0">
              <a:latin typeface="Avenir Next LT Pro" panose="020B0504020202020204" pitchFamily="34" charset="0"/>
            </a:endParaRPr>
          </a:p>
        </p:txBody>
      </p:sp>
      <p:sp>
        <p:nvSpPr>
          <p:cNvPr id="18" name="Text 16"/>
          <p:cNvSpPr/>
          <p:nvPr/>
        </p:nvSpPr>
        <p:spPr>
          <a:xfrm>
            <a:off x="4754880" y="2258568"/>
            <a:ext cx="1828800" cy="457200"/>
          </a:xfrm>
          <a:prstGeom prst="rect">
            <a:avLst/>
          </a:prstGeom>
          <a:noFill/>
          <a:ln/>
        </p:spPr>
        <p:txBody>
          <a:bodyPr wrap="square" rtlCol="0" anchor="ctr"/>
          <a:lstStyle/>
          <a:p>
            <a:pPr marL="0" indent="0" algn="ctr">
              <a:buNone/>
            </a:pPr>
            <a:r>
              <a:rPr lang="en-US" sz="1050" dirty="0">
                <a:solidFill>
                  <a:srgbClr val="3D3D3D"/>
                </a:solidFill>
                <a:latin typeface="Avenir Next LT Pro" panose="020B0504020202020204" pitchFamily="34" charset="0"/>
              </a:rPr>
              <a:t>Newt avg. score</a:t>
            </a:r>
            <a:endParaRPr lang="en-US" sz="1050" dirty="0">
              <a:latin typeface="Avenir Next LT Pro" panose="020B0504020202020204" pitchFamily="34" charset="0"/>
            </a:endParaRPr>
          </a:p>
          <a:p>
            <a:pPr marL="0" indent="0" algn="ctr">
              <a:buNone/>
            </a:pPr>
            <a:r>
              <a:rPr lang="en-US" sz="1050" dirty="0">
                <a:solidFill>
                  <a:srgbClr val="3D3D3D"/>
                </a:solidFill>
                <a:latin typeface="Avenir Next LT Pro" panose="020B0504020202020204" pitchFamily="34" charset="0"/>
              </a:rPr>
              <a:t>(200 tasks, 100M steps)</a:t>
            </a:r>
            <a:endParaRPr lang="en-US" sz="1050" dirty="0">
              <a:latin typeface="Avenir Next LT Pro" panose="020B0504020202020204" pitchFamily="34" charset="0"/>
            </a:endParaRPr>
          </a:p>
        </p:txBody>
      </p:sp>
      <p:sp>
        <p:nvSpPr>
          <p:cNvPr id="19" name="Shape 17"/>
          <p:cNvSpPr/>
          <p:nvPr/>
        </p:nvSpPr>
        <p:spPr>
          <a:xfrm>
            <a:off x="6812280" y="1691640"/>
            <a:ext cx="1920240" cy="1078992"/>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20" name="Text 18"/>
          <p:cNvSpPr/>
          <p:nvPr/>
        </p:nvSpPr>
        <p:spPr>
          <a:xfrm>
            <a:off x="6812280" y="1783080"/>
            <a:ext cx="1920240" cy="475488"/>
          </a:xfrm>
          <a:prstGeom prst="rect">
            <a:avLst/>
          </a:prstGeom>
          <a:noFill/>
          <a:ln/>
        </p:spPr>
        <p:txBody>
          <a:bodyPr wrap="square" rtlCol="0" anchor="ctr"/>
          <a:lstStyle/>
          <a:p>
            <a:pPr marL="0" indent="0" algn="ctr">
              <a:buNone/>
            </a:pPr>
            <a:r>
              <a:rPr lang="en-US" sz="2600" b="1" dirty="0">
                <a:solidFill>
                  <a:srgbClr val="8F0024"/>
                </a:solidFill>
                <a:latin typeface="Avenir Next LT Pro" panose="020B0504020202020204" pitchFamily="34" charset="0"/>
              </a:rPr>
              <a:t>~0.25</a:t>
            </a:r>
            <a:endParaRPr lang="en-US" sz="2600" dirty="0">
              <a:latin typeface="Avenir Next LT Pro" panose="020B0504020202020204" pitchFamily="34" charset="0"/>
            </a:endParaRPr>
          </a:p>
        </p:txBody>
      </p:sp>
      <p:sp>
        <p:nvSpPr>
          <p:cNvPr id="21" name="Text 19"/>
          <p:cNvSpPr/>
          <p:nvPr/>
        </p:nvSpPr>
        <p:spPr>
          <a:xfrm>
            <a:off x="6858000" y="2258568"/>
            <a:ext cx="1828800" cy="457200"/>
          </a:xfrm>
          <a:prstGeom prst="rect">
            <a:avLst/>
          </a:prstGeom>
          <a:noFill/>
          <a:ln/>
        </p:spPr>
        <p:txBody>
          <a:bodyPr wrap="square" rtlCol="0" anchor="ctr"/>
          <a:lstStyle/>
          <a:p>
            <a:pPr marL="0" indent="0" algn="ctr">
              <a:buNone/>
            </a:pPr>
            <a:r>
              <a:rPr lang="en-US" sz="1050" dirty="0">
                <a:solidFill>
                  <a:srgbClr val="3D3D3D"/>
                </a:solidFill>
                <a:latin typeface="Avenir Next LT Pro" panose="020B0504020202020204" pitchFamily="34" charset="0"/>
              </a:rPr>
              <a:t>FastTD3 avg. score</a:t>
            </a:r>
            <a:endParaRPr lang="en-US" sz="1050" dirty="0">
              <a:latin typeface="Avenir Next LT Pro" panose="020B0504020202020204" pitchFamily="34" charset="0"/>
            </a:endParaRPr>
          </a:p>
          <a:p>
            <a:pPr marL="0" indent="0" algn="ctr">
              <a:buNone/>
            </a:pPr>
            <a:r>
              <a:rPr lang="en-US" sz="1050" dirty="0">
                <a:solidFill>
                  <a:srgbClr val="3D3D3D"/>
                </a:solidFill>
                <a:latin typeface="Avenir Next LT Pro" panose="020B0504020202020204" pitchFamily="34" charset="0"/>
              </a:rPr>
              <a:t>(best model-free baseline)</a:t>
            </a:r>
            <a:endParaRPr lang="en-US" sz="1050" dirty="0">
              <a:latin typeface="Avenir Next LT Pro" panose="020B0504020202020204" pitchFamily="34" charset="0"/>
            </a:endParaRPr>
          </a:p>
        </p:txBody>
      </p:sp>
      <p:sp>
        <p:nvSpPr>
          <p:cNvPr id="22" name="Shape 20"/>
          <p:cNvSpPr/>
          <p:nvPr/>
        </p:nvSpPr>
        <p:spPr>
          <a:xfrm>
            <a:off x="4709160" y="2926080"/>
            <a:ext cx="1920240" cy="1078992"/>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23" name="Text 21"/>
          <p:cNvSpPr/>
          <p:nvPr/>
        </p:nvSpPr>
        <p:spPr>
          <a:xfrm>
            <a:off x="4709160" y="3017520"/>
            <a:ext cx="1920240" cy="475488"/>
          </a:xfrm>
          <a:prstGeom prst="rect">
            <a:avLst/>
          </a:prstGeom>
          <a:noFill/>
          <a:ln/>
        </p:spPr>
        <p:txBody>
          <a:bodyPr wrap="square" rtlCol="0" anchor="ctr"/>
          <a:lstStyle/>
          <a:p>
            <a:pPr marL="0" indent="0" algn="ctr">
              <a:buNone/>
            </a:pPr>
            <a:r>
              <a:rPr lang="en-US" sz="2600" b="1" dirty="0">
                <a:solidFill>
                  <a:srgbClr val="8F0024"/>
                </a:solidFill>
                <a:latin typeface="Avenir Next LT Pro" panose="020B0504020202020204" pitchFamily="34" charset="0"/>
              </a:rPr>
              <a:t>15×</a:t>
            </a:r>
            <a:endParaRPr lang="en-US" sz="2600" dirty="0">
              <a:latin typeface="Avenir Next LT Pro" panose="020B0504020202020204" pitchFamily="34" charset="0"/>
            </a:endParaRPr>
          </a:p>
        </p:txBody>
      </p:sp>
      <p:sp>
        <p:nvSpPr>
          <p:cNvPr id="24" name="Text 22"/>
          <p:cNvSpPr/>
          <p:nvPr/>
        </p:nvSpPr>
        <p:spPr>
          <a:xfrm>
            <a:off x="4754880" y="3493008"/>
            <a:ext cx="1828800" cy="457200"/>
          </a:xfrm>
          <a:prstGeom prst="rect">
            <a:avLst/>
          </a:prstGeom>
          <a:noFill/>
          <a:ln/>
        </p:spPr>
        <p:txBody>
          <a:bodyPr wrap="square" rtlCol="0" anchor="ctr"/>
          <a:lstStyle/>
          <a:p>
            <a:pPr marL="0" indent="0" algn="ctr">
              <a:buNone/>
            </a:pPr>
            <a:r>
              <a:rPr lang="en-US" sz="1050" dirty="0">
                <a:solidFill>
                  <a:srgbClr val="3D3D3D"/>
                </a:solidFill>
                <a:latin typeface="Avenir Next LT Pro" panose="020B0504020202020204" pitchFamily="34" charset="0"/>
              </a:rPr>
              <a:t>Zero-shot advantage</a:t>
            </a:r>
            <a:endParaRPr lang="en-US" sz="1050" dirty="0">
              <a:latin typeface="Avenir Next LT Pro" panose="020B0504020202020204" pitchFamily="34" charset="0"/>
            </a:endParaRPr>
          </a:p>
          <a:p>
            <a:pPr marL="0" indent="0" algn="ctr">
              <a:buNone/>
            </a:pPr>
            <a:r>
              <a:rPr lang="en-US" sz="1050" dirty="0">
                <a:solidFill>
                  <a:srgbClr val="3D3D3D"/>
                </a:solidFill>
                <a:latin typeface="Avenir Next LT Pro" panose="020B0504020202020204" pitchFamily="34" charset="0"/>
              </a:rPr>
              <a:t>over training from scratch</a:t>
            </a:r>
            <a:endParaRPr lang="en-US" sz="1050" dirty="0">
              <a:latin typeface="Avenir Next LT Pro" panose="020B0504020202020204" pitchFamily="34" charset="0"/>
            </a:endParaRPr>
          </a:p>
        </p:txBody>
      </p:sp>
      <p:sp>
        <p:nvSpPr>
          <p:cNvPr id="25" name="Shape 23"/>
          <p:cNvSpPr/>
          <p:nvPr/>
        </p:nvSpPr>
        <p:spPr>
          <a:xfrm>
            <a:off x="6812280" y="2926080"/>
            <a:ext cx="1920240" cy="1078992"/>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26" name="Text 24"/>
          <p:cNvSpPr/>
          <p:nvPr/>
        </p:nvSpPr>
        <p:spPr>
          <a:xfrm>
            <a:off x="6812280" y="3017520"/>
            <a:ext cx="1920240" cy="475488"/>
          </a:xfrm>
          <a:prstGeom prst="rect">
            <a:avLst/>
          </a:prstGeom>
          <a:noFill/>
          <a:ln/>
        </p:spPr>
        <p:txBody>
          <a:bodyPr wrap="square" rtlCol="0" anchor="ctr"/>
          <a:lstStyle/>
          <a:p>
            <a:pPr marL="0" indent="0" algn="ctr">
              <a:buNone/>
            </a:pPr>
            <a:r>
              <a:rPr lang="en-US" sz="2600" b="1" dirty="0">
                <a:solidFill>
                  <a:srgbClr val="8F0024"/>
                </a:solidFill>
                <a:latin typeface="Avenir Next LT Pro" panose="020B0504020202020204" pitchFamily="34" charset="0"/>
              </a:rPr>
              <a:t>20M</a:t>
            </a:r>
            <a:endParaRPr lang="en-US" sz="2600" dirty="0">
              <a:latin typeface="Avenir Next LT Pro" panose="020B0504020202020204" pitchFamily="34" charset="0"/>
            </a:endParaRPr>
          </a:p>
        </p:txBody>
      </p:sp>
      <p:sp>
        <p:nvSpPr>
          <p:cNvPr id="27" name="Text 25"/>
          <p:cNvSpPr/>
          <p:nvPr/>
        </p:nvSpPr>
        <p:spPr>
          <a:xfrm>
            <a:off x="6858000" y="3493008"/>
            <a:ext cx="1828800" cy="457200"/>
          </a:xfrm>
          <a:prstGeom prst="rect">
            <a:avLst/>
          </a:prstGeom>
          <a:noFill/>
          <a:ln/>
        </p:spPr>
        <p:txBody>
          <a:bodyPr wrap="square" rtlCol="0" anchor="ctr"/>
          <a:lstStyle/>
          <a:p>
            <a:pPr marL="0" indent="0" algn="ctr">
              <a:buNone/>
            </a:pPr>
            <a:r>
              <a:rPr lang="en-US" sz="1050" dirty="0">
                <a:solidFill>
                  <a:srgbClr val="3D3D3D"/>
                </a:solidFill>
                <a:latin typeface="Avenir Next LT Pro" panose="020B0504020202020204" pitchFamily="34" charset="0"/>
              </a:rPr>
              <a:t>Optimal model size</a:t>
            </a:r>
            <a:endParaRPr lang="en-US" sz="1050" dirty="0">
              <a:latin typeface="Avenir Next LT Pro" panose="020B0504020202020204" pitchFamily="34" charset="0"/>
            </a:endParaRPr>
          </a:p>
          <a:p>
            <a:pPr marL="0" indent="0" algn="ctr">
              <a:buNone/>
            </a:pPr>
            <a:r>
              <a:rPr lang="en-US" sz="1050" dirty="0">
                <a:solidFill>
                  <a:srgbClr val="3D3D3D"/>
                </a:solidFill>
                <a:latin typeface="Avenir Next LT Pro" panose="020B0504020202020204" pitchFamily="34" charset="0"/>
              </a:rPr>
              <a:t>(sweet spot for 200 tasks)</a:t>
            </a:r>
            <a:endParaRPr lang="en-US" sz="1050" dirty="0">
              <a:latin typeface="Avenir Next LT Pro" panose="020B05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2"/>
          <p:cNvSpPr/>
          <p:nvPr/>
        </p:nvSpPr>
        <p:spPr>
          <a:xfrm>
            <a:off x="347472" y="566928"/>
            <a:ext cx="8229600" cy="502920"/>
          </a:xfrm>
          <a:prstGeom prst="rect">
            <a:avLst/>
          </a:prstGeom>
          <a:noFill/>
          <a:ln/>
        </p:spPr>
        <p:txBody>
          <a:bodyPr wrap="square" lIns="0" tIns="0" rIns="0" bIns="0" rtlCol="0" anchor="ctr"/>
          <a:lstStyle/>
          <a:p>
            <a:pPr marL="0" indent="0">
              <a:buNone/>
            </a:pPr>
            <a:r>
              <a:rPr lang="en-US" sz="2400" b="1" dirty="0">
                <a:solidFill>
                  <a:srgbClr val="8F0024"/>
                </a:solidFill>
                <a:latin typeface="Avenir Next LT Pro" panose="020B0504020202020204" pitchFamily="34" charset="0"/>
              </a:rPr>
              <a:t>Ablation Study: Every Design Choice Matters (Figure 8)</a:t>
            </a:r>
            <a:endParaRPr lang="en-US" sz="2400" dirty="0">
              <a:latin typeface="Avenir Next LT Pro" panose="020B0504020202020204" pitchFamily="34" charset="0"/>
            </a:endParaRPr>
          </a:p>
        </p:txBody>
      </p:sp>
      <p:sp>
        <p:nvSpPr>
          <p:cNvPr id="5" name="Shape 3"/>
          <p:cNvSpPr/>
          <p:nvPr/>
        </p:nvSpPr>
        <p:spPr>
          <a:xfrm>
            <a:off x="347472" y="1115568"/>
            <a:ext cx="8229600" cy="0"/>
          </a:xfrm>
          <a:prstGeom prst="line">
            <a:avLst/>
          </a:prstGeom>
          <a:noFill/>
          <a:ln w="8890">
            <a:solidFill>
              <a:srgbClr val="CCCCCC"/>
            </a:solidFill>
            <a:prstDash val="solid"/>
          </a:ln>
        </p:spPr>
        <p:txBody>
          <a:bodyPr/>
          <a:lstStyle/>
          <a:p>
            <a:endParaRPr lang="en-CA">
              <a:latin typeface="Avenir Next LT Pro" panose="020B0504020202020204" pitchFamily="34" charset="0"/>
            </a:endParaRPr>
          </a:p>
        </p:txBody>
      </p:sp>
      <p:sp>
        <p:nvSpPr>
          <p:cNvPr id="6" name="Text 4"/>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latin typeface="Avenir Next LT Pro" panose="020B0504020202020204" pitchFamily="34" charset="0"/>
              </a:rPr>
              <a:t>uOttawa</a:t>
            </a:r>
            <a:endParaRPr lang="en-US" sz="1300" dirty="0">
              <a:latin typeface="Avenir Next LT Pro" panose="020B0504020202020204" pitchFamily="34" charset="0"/>
            </a:endParaRPr>
          </a:p>
        </p:txBody>
      </p:sp>
      <p:sp>
        <p:nvSpPr>
          <p:cNvPr id="7" name="Text 5"/>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B6B6B"/>
                </a:solidFill>
                <a:latin typeface="Avenir Next LT Pro" panose="020B0504020202020204" pitchFamily="34" charset="0"/>
              </a:rPr>
              <a:t>R5</a:t>
            </a:r>
            <a:endParaRPr lang="en-US" sz="900" dirty="0">
              <a:latin typeface="Avenir Next LT Pro" panose="020B0504020202020204" pitchFamily="34" charset="0"/>
            </a:endParaRPr>
          </a:p>
        </p:txBody>
      </p:sp>
      <p:pic>
        <p:nvPicPr>
          <p:cNvPr id="8" name="Image 0" descr="preencoded.png"/>
          <p:cNvPicPr>
            <a:picLocks noChangeAspect="1"/>
          </p:cNvPicPr>
          <p:nvPr/>
        </p:nvPicPr>
        <p:blipFill>
          <a:blip r:embed="rId4"/>
          <a:stretch>
            <a:fillRect/>
          </a:stretch>
        </p:blipFill>
        <p:spPr>
          <a:xfrm>
            <a:off x="820719" y="1170432"/>
            <a:ext cx="7283105" cy="2606040"/>
          </a:xfrm>
          <a:prstGeom prst="rect">
            <a:avLst/>
          </a:prstGeom>
        </p:spPr>
      </p:pic>
      <p:sp>
        <p:nvSpPr>
          <p:cNvPr id="9" name="Shape 6"/>
          <p:cNvSpPr/>
          <p:nvPr/>
        </p:nvSpPr>
        <p:spPr>
          <a:xfrm>
            <a:off x="274320" y="3858768"/>
            <a:ext cx="2084832" cy="896112"/>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10" name="Shape 7"/>
          <p:cNvSpPr/>
          <p:nvPr/>
        </p:nvSpPr>
        <p:spPr>
          <a:xfrm>
            <a:off x="274320" y="3858768"/>
            <a:ext cx="2084832" cy="274320"/>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11" name="Text 8"/>
          <p:cNvSpPr/>
          <p:nvPr/>
        </p:nvSpPr>
        <p:spPr>
          <a:xfrm>
            <a:off x="329184" y="3858768"/>
            <a:ext cx="1975104" cy="274320"/>
          </a:xfrm>
          <a:prstGeom prst="rect">
            <a:avLst/>
          </a:prstGeom>
          <a:noFill/>
          <a:ln/>
        </p:spPr>
        <p:txBody>
          <a:bodyPr wrap="square" lIns="0" tIns="0" rIns="0" bIns="0" rtlCol="0" anchor="ctr"/>
          <a:lstStyle/>
          <a:p>
            <a:pPr marL="0" indent="0">
              <a:buNone/>
            </a:pPr>
            <a:r>
              <a:rPr lang="en-US" sz="1100" b="1" dirty="0">
                <a:solidFill>
                  <a:srgbClr val="FFFFFF"/>
                </a:solidFill>
                <a:latin typeface="Avenir Next LT Pro" panose="020B0504020202020204" pitchFamily="34" charset="0"/>
              </a:rPr>
              <a:t>Model Size</a:t>
            </a:r>
            <a:endParaRPr lang="en-US" sz="1100" dirty="0">
              <a:latin typeface="Avenir Next LT Pro" panose="020B0504020202020204" pitchFamily="34" charset="0"/>
            </a:endParaRPr>
          </a:p>
        </p:txBody>
      </p:sp>
      <p:sp>
        <p:nvSpPr>
          <p:cNvPr id="12" name="Text 9"/>
          <p:cNvSpPr/>
          <p:nvPr/>
        </p:nvSpPr>
        <p:spPr>
          <a:xfrm>
            <a:off x="329184" y="4151376"/>
            <a:ext cx="1975104" cy="566928"/>
          </a:xfrm>
          <a:prstGeom prst="rect">
            <a:avLst/>
          </a:prstGeom>
          <a:noFill/>
          <a:ln/>
        </p:spPr>
        <p:txBody>
          <a:bodyPr wrap="square" rtlCol="0" anchor="ctr"/>
          <a:lstStyle/>
          <a:p>
            <a:pPr marL="0" indent="0">
              <a:lnSpc>
                <a:spcPct val="120000"/>
              </a:lnSpc>
              <a:buNone/>
            </a:pPr>
            <a:r>
              <a:rPr lang="en-US" sz="1000" dirty="0">
                <a:solidFill>
                  <a:srgbClr val="1E1E1E"/>
                </a:solidFill>
                <a:latin typeface="Avenir Next LT Pro" panose="020B0504020202020204" pitchFamily="34" charset="0"/>
              </a:rPr>
              <a:t>20M is the sweet spot. Bigger ≠ always better — 80M gives diminishing returns.</a:t>
            </a:r>
            <a:endParaRPr lang="en-US" sz="1000" dirty="0">
              <a:latin typeface="Avenir Next LT Pro" panose="020B0504020202020204" pitchFamily="34" charset="0"/>
            </a:endParaRPr>
          </a:p>
        </p:txBody>
      </p:sp>
      <p:sp>
        <p:nvSpPr>
          <p:cNvPr id="13" name="Shape 10"/>
          <p:cNvSpPr/>
          <p:nvPr/>
        </p:nvSpPr>
        <p:spPr>
          <a:xfrm>
            <a:off x="2487168" y="3858768"/>
            <a:ext cx="2084832" cy="896112"/>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14" name="Shape 11"/>
          <p:cNvSpPr/>
          <p:nvPr/>
        </p:nvSpPr>
        <p:spPr>
          <a:xfrm>
            <a:off x="2487168" y="3858768"/>
            <a:ext cx="2084832" cy="274320"/>
          </a:xfrm>
          <a:prstGeom prst="rect">
            <a:avLst/>
          </a:prstGeom>
          <a:solidFill>
            <a:srgbClr val="B5003E"/>
          </a:solidFill>
          <a:ln w="12700">
            <a:solidFill>
              <a:srgbClr val="B5003E"/>
            </a:solidFill>
            <a:prstDash val="solid"/>
          </a:ln>
        </p:spPr>
        <p:txBody>
          <a:bodyPr/>
          <a:lstStyle/>
          <a:p>
            <a:endParaRPr lang="en-CA">
              <a:latin typeface="Avenir Next LT Pro" panose="020B0504020202020204" pitchFamily="34" charset="0"/>
            </a:endParaRPr>
          </a:p>
        </p:txBody>
      </p:sp>
      <p:sp>
        <p:nvSpPr>
          <p:cNvPr id="15" name="Text 12"/>
          <p:cNvSpPr/>
          <p:nvPr/>
        </p:nvSpPr>
        <p:spPr>
          <a:xfrm>
            <a:off x="2542032" y="3858768"/>
            <a:ext cx="1975104" cy="274320"/>
          </a:xfrm>
          <a:prstGeom prst="rect">
            <a:avLst/>
          </a:prstGeom>
          <a:noFill/>
          <a:ln/>
        </p:spPr>
        <p:txBody>
          <a:bodyPr wrap="square" lIns="0" tIns="0" rIns="0" bIns="0" rtlCol="0" anchor="ctr"/>
          <a:lstStyle/>
          <a:p>
            <a:pPr marL="0" indent="0">
              <a:buNone/>
            </a:pPr>
            <a:r>
              <a:rPr lang="en-US" sz="1100" b="1" dirty="0">
                <a:solidFill>
                  <a:srgbClr val="FFFFFF"/>
                </a:solidFill>
                <a:latin typeface="Avenir Next LT Pro" panose="020B0504020202020204" pitchFamily="34" charset="0"/>
              </a:rPr>
              <a:t>Batch Size</a:t>
            </a:r>
            <a:endParaRPr lang="en-US" sz="1100" dirty="0">
              <a:latin typeface="Avenir Next LT Pro" panose="020B0504020202020204" pitchFamily="34" charset="0"/>
            </a:endParaRPr>
          </a:p>
        </p:txBody>
      </p:sp>
      <p:sp>
        <p:nvSpPr>
          <p:cNvPr id="16" name="Text 13"/>
          <p:cNvSpPr/>
          <p:nvPr/>
        </p:nvSpPr>
        <p:spPr>
          <a:xfrm>
            <a:off x="2542032" y="4151376"/>
            <a:ext cx="1975104" cy="566928"/>
          </a:xfrm>
          <a:prstGeom prst="rect">
            <a:avLst/>
          </a:prstGeom>
          <a:noFill/>
          <a:ln/>
        </p:spPr>
        <p:txBody>
          <a:bodyPr wrap="square" rtlCol="0" anchor="ctr"/>
          <a:lstStyle/>
          <a:p>
            <a:pPr marL="0" indent="0">
              <a:lnSpc>
                <a:spcPct val="120000"/>
              </a:lnSpc>
              <a:buNone/>
            </a:pPr>
            <a:r>
              <a:rPr lang="en-US" sz="1000" dirty="0">
                <a:solidFill>
                  <a:srgbClr val="1E1E1E"/>
                </a:solidFill>
                <a:latin typeface="Avenir Next LT Pro" panose="020B0504020202020204" pitchFamily="34" charset="0"/>
              </a:rPr>
              <a:t>Larger batches consistently help. 200 tasks need large batches for stable gradients.</a:t>
            </a:r>
            <a:endParaRPr lang="en-US" sz="1000" dirty="0">
              <a:latin typeface="Avenir Next LT Pro" panose="020B0504020202020204" pitchFamily="34" charset="0"/>
            </a:endParaRPr>
          </a:p>
        </p:txBody>
      </p:sp>
      <p:sp>
        <p:nvSpPr>
          <p:cNvPr id="17" name="Shape 14"/>
          <p:cNvSpPr/>
          <p:nvPr/>
        </p:nvSpPr>
        <p:spPr>
          <a:xfrm>
            <a:off x="4700016" y="3858768"/>
            <a:ext cx="2084832" cy="896112"/>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18" name="Shape 15"/>
          <p:cNvSpPr/>
          <p:nvPr/>
        </p:nvSpPr>
        <p:spPr>
          <a:xfrm>
            <a:off x="4700016" y="3858768"/>
            <a:ext cx="2084832" cy="274320"/>
          </a:xfrm>
          <a:prstGeom prst="rect">
            <a:avLst/>
          </a:prstGeom>
          <a:solidFill>
            <a:srgbClr val="3D3D3D"/>
          </a:solidFill>
          <a:ln w="12700">
            <a:solidFill>
              <a:srgbClr val="3D3D3D"/>
            </a:solidFill>
            <a:prstDash val="solid"/>
          </a:ln>
        </p:spPr>
        <p:txBody>
          <a:bodyPr/>
          <a:lstStyle/>
          <a:p>
            <a:endParaRPr lang="en-CA">
              <a:latin typeface="Avenir Next LT Pro" panose="020B0504020202020204" pitchFamily="34" charset="0"/>
            </a:endParaRPr>
          </a:p>
        </p:txBody>
      </p:sp>
      <p:sp>
        <p:nvSpPr>
          <p:cNvPr id="19" name="Text 16"/>
          <p:cNvSpPr/>
          <p:nvPr/>
        </p:nvSpPr>
        <p:spPr>
          <a:xfrm>
            <a:off x="4754880" y="3858768"/>
            <a:ext cx="1975104" cy="274320"/>
          </a:xfrm>
          <a:prstGeom prst="rect">
            <a:avLst/>
          </a:prstGeom>
          <a:noFill/>
          <a:ln/>
        </p:spPr>
        <p:txBody>
          <a:bodyPr wrap="square" lIns="0" tIns="0" rIns="0" bIns="0" rtlCol="0" anchor="ctr"/>
          <a:lstStyle/>
          <a:p>
            <a:pPr marL="0" indent="0">
              <a:buNone/>
            </a:pPr>
            <a:r>
              <a:rPr lang="en-US" sz="1100" b="1" dirty="0">
                <a:solidFill>
                  <a:srgbClr val="FFFFFF"/>
                </a:solidFill>
                <a:latin typeface="Avenir Next LT Pro" panose="020B0504020202020204" pitchFamily="34" charset="0"/>
              </a:rPr>
              <a:t>Language (CLIP)</a:t>
            </a:r>
            <a:endParaRPr lang="en-US" sz="1100" dirty="0">
              <a:latin typeface="Avenir Next LT Pro" panose="020B0504020202020204" pitchFamily="34" charset="0"/>
            </a:endParaRPr>
          </a:p>
        </p:txBody>
      </p:sp>
      <p:sp>
        <p:nvSpPr>
          <p:cNvPr id="20" name="Text 17"/>
          <p:cNvSpPr/>
          <p:nvPr/>
        </p:nvSpPr>
        <p:spPr>
          <a:xfrm>
            <a:off x="4754880" y="4151376"/>
            <a:ext cx="1975104" cy="566928"/>
          </a:xfrm>
          <a:prstGeom prst="rect">
            <a:avLst/>
          </a:prstGeom>
          <a:noFill/>
          <a:ln/>
        </p:spPr>
        <p:txBody>
          <a:bodyPr wrap="square" rtlCol="0" anchor="ctr"/>
          <a:lstStyle/>
          <a:p>
            <a:pPr marL="0" indent="0">
              <a:lnSpc>
                <a:spcPct val="120000"/>
              </a:lnSpc>
              <a:buNone/>
            </a:pPr>
            <a:r>
              <a:rPr lang="en-US" sz="1000" dirty="0">
                <a:solidFill>
                  <a:srgbClr val="1E1E1E"/>
                </a:solidFill>
                <a:latin typeface="Avenir Next LT Pro" panose="020B0504020202020204" pitchFamily="34" charset="0"/>
              </a:rPr>
              <a:t>CLIP &gt;&gt; Task ID &gt;&gt; None. Semantic language understanding generalizes far better.</a:t>
            </a:r>
            <a:endParaRPr lang="en-US" sz="1000" dirty="0">
              <a:latin typeface="Avenir Next LT Pro" panose="020B0504020202020204" pitchFamily="34" charset="0"/>
            </a:endParaRPr>
          </a:p>
        </p:txBody>
      </p:sp>
      <p:sp>
        <p:nvSpPr>
          <p:cNvPr id="21" name="Shape 18"/>
          <p:cNvSpPr/>
          <p:nvPr/>
        </p:nvSpPr>
        <p:spPr>
          <a:xfrm>
            <a:off x="6912864" y="3858768"/>
            <a:ext cx="2084832" cy="896112"/>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22" name="Shape 19"/>
          <p:cNvSpPr/>
          <p:nvPr/>
        </p:nvSpPr>
        <p:spPr>
          <a:xfrm>
            <a:off x="6912864" y="3858768"/>
            <a:ext cx="2084832" cy="274320"/>
          </a:xfrm>
          <a:prstGeom prst="rect">
            <a:avLst/>
          </a:prstGeom>
          <a:solidFill>
            <a:srgbClr val="6B6B6B"/>
          </a:solidFill>
          <a:ln w="12700">
            <a:solidFill>
              <a:srgbClr val="6B6B6B"/>
            </a:solidFill>
            <a:prstDash val="solid"/>
          </a:ln>
        </p:spPr>
        <p:txBody>
          <a:bodyPr/>
          <a:lstStyle/>
          <a:p>
            <a:endParaRPr lang="en-CA">
              <a:latin typeface="Avenir Next LT Pro" panose="020B0504020202020204" pitchFamily="34" charset="0"/>
            </a:endParaRPr>
          </a:p>
        </p:txBody>
      </p:sp>
      <p:sp>
        <p:nvSpPr>
          <p:cNvPr id="23" name="Text 20"/>
          <p:cNvSpPr/>
          <p:nvPr/>
        </p:nvSpPr>
        <p:spPr>
          <a:xfrm>
            <a:off x="6967728" y="3858768"/>
            <a:ext cx="1975104" cy="274320"/>
          </a:xfrm>
          <a:prstGeom prst="rect">
            <a:avLst/>
          </a:prstGeom>
          <a:noFill/>
          <a:ln/>
        </p:spPr>
        <p:txBody>
          <a:bodyPr wrap="square" lIns="0" tIns="0" rIns="0" bIns="0" rtlCol="0" anchor="ctr"/>
          <a:lstStyle/>
          <a:p>
            <a:pPr marL="0" indent="0">
              <a:buNone/>
            </a:pPr>
            <a:r>
              <a:rPr lang="en-US" sz="1100" b="1" dirty="0">
                <a:solidFill>
                  <a:srgbClr val="FFFFFF"/>
                </a:solidFill>
                <a:latin typeface="Avenir Next LT Pro" panose="020B0504020202020204" pitchFamily="34" charset="0"/>
              </a:rPr>
              <a:t>Demonstrations</a:t>
            </a:r>
            <a:endParaRPr lang="en-US" sz="1100" dirty="0">
              <a:latin typeface="Avenir Next LT Pro" panose="020B0504020202020204" pitchFamily="34" charset="0"/>
            </a:endParaRPr>
          </a:p>
        </p:txBody>
      </p:sp>
      <p:sp>
        <p:nvSpPr>
          <p:cNvPr id="24" name="Text 21"/>
          <p:cNvSpPr/>
          <p:nvPr/>
        </p:nvSpPr>
        <p:spPr>
          <a:xfrm>
            <a:off x="6967728" y="4151376"/>
            <a:ext cx="1975104" cy="566928"/>
          </a:xfrm>
          <a:prstGeom prst="rect">
            <a:avLst/>
          </a:prstGeom>
          <a:noFill/>
          <a:ln/>
        </p:spPr>
        <p:txBody>
          <a:bodyPr wrap="square" rtlCol="0" anchor="ctr"/>
          <a:lstStyle/>
          <a:p>
            <a:pPr marL="0" indent="0">
              <a:lnSpc>
                <a:spcPct val="120000"/>
              </a:lnSpc>
              <a:buNone/>
            </a:pPr>
            <a:r>
              <a:rPr lang="en-US" sz="1000" dirty="0">
                <a:solidFill>
                  <a:srgbClr val="1E1E1E"/>
                </a:solidFill>
                <a:latin typeface="Avenir Next LT Pro" panose="020B0504020202020204" pitchFamily="34" charset="0"/>
              </a:rPr>
              <a:t>All components compound. Removing any one (demos, pretraining, BC) hurts performance.</a:t>
            </a:r>
            <a:endParaRPr lang="en-US" sz="1000" dirty="0">
              <a:latin typeface="Avenir Next LT Pro" panose="020B0504020202020204" pitchFamily="34" charset="0"/>
            </a:endParaRPr>
          </a:p>
        </p:txBody>
      </p:sp>
      <p:sp>
        <p:nvSpPr>
          <p:cNvPr id="25" name="Text 22"/>
          <p:cNvSpPr/>
          <p:nvPr/>
        </p:nvSpPr>
        <p:spPr>
          <a:xfrm>
            <a:off x="6858000" y="4690872"/>
            <a:ext cx="2011680" cy="182880"/>
          </a:xfrm>
          <a:prstGeom prst="rect">
            <a:avLst/>
          </a:prstGeom>
          <a:noFill/>
          <a:ln/>
        </p:spPr>
        <p:txBody>
          <a:bodyPr wrap="square" rtlCol="0" anchor="ctr"/>
          <a:lstStyle/>
          <a:p>
            <a:pPr marL="0" indent="0" algn="r">
              <a:buNone/>
            </a:pPr>
            <a:r>
              <a:rPr lang="en-US" sz="900" i="1" dirty="0">
                <a:solidFill>
                  <a:srgbClr val="6B6B6B"/>
                </a:solidFill>
                <a:latin typeface="Avenir Next LT Pro" panose="020B0504020202020204" pitchFamily="34" charset="0"/>
              </a:rPr>
              <a:t>Source: Figure 8 — Hansen et al., 2025</a:t>
            </a:r>
            <a:endParaRPr lang="en-US" sz="900" dirty="0">
              <a:latin typeface="Avenir Next LT Pro" panose="020B05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2"/>
          <p:cNvSpPr/>
          <p:nvPr/>
        </p:nvSpPr>
        <p:spPr>
          <a:xfrm>
            <a:off x="347472" y="566928"/>
            <a:ext cx="7589520" cy="502920"/>
          </a:xfrm>
          <a:prstGeom prst="rect">
            <a:avLst/>
          </a:prstGeom>
          <a:noFill/>
          <a:ln/>
        </p:spPr>
        <p:txBody>
          <a:bodyPr wrap="square" lIns="0" tIns="0" rIns="0" bIns="0" rtlCol="0" anchor="ctr"/>
          <a:lstStyle/>
          <a:p>
            <a:pPr marL="0" indent="0">
              <a:buNone/>
            </a:pPr>
            <a:r>
              <a:rPr lang="en-US" sz="2600" b="1" dirty="0">
                <a:solidFill>
                  <a:srgbClr val="8F0024"/>
                </a:solidFill>
                <a:latin typeface="Avenir Next LT Pro" panose="020B0504020202020204" pitchFamily="34" charset="0"/>
              </a:rPr>
              <a:t>Strengths</a:t>
            </a:r>
            <a:endParaRPr lang="en-US" sz="2600" dirty="0">
              <a:latin typeface="Avenir Next LT Pro" panose="020B0504020202020204" pitchFamily="34" charset="0"/>
            </a:endParaRPr>
          </a:p>
        </p:txBody>
      </p:sp>
      <p:sp>
        <p:nvSpPr>
          <p:cNvPr id="5" name="Shape 3"/>
          <p:cNvSpPr/>
          <p:nvPr/>
        </p:nvSpPr>
        <p:spPr>
          <a:xfrm>
            <a:off x="347472" y="1115568"/>
            <a:ext cx="8229600" cy="0"/>
          </a:xfrm>
          <a:prstGeom prst="line">
            <a:avLst/>
          </a:prstGeom>
          <a:noFill/>
          <a:ln w="8890">
            <a:solidFill>
              <a:srgbClr val="CCCCCC"/>
            </a:solidFill>
            <a:prstDash val="solid"/>
          </a:ln>
        </p:spPr>
        <p:txBody>
          <a:bodyPr/>
          <a:lstStyle/>
          <a:p>
            <a:endParaRPr lang="en-CA">
              <a:latin typeface="Avenir Next LT Pro" panose="020B0504020202020204" pitchFamily="34" charset="0"/>
            </a:endParaRPr>
          </a:p>
        </p:txBody>
      </p:sp>
      <p:sp>
        <p:nvSpPr>
          <p:cNvPr id="6" name="Text 4"/>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latin typeface="Avenir Next LT Pro" panose="020B0504020202020204" pitchFamily="34" charset="0"/>
              </a:rPr>
              <a:t>uOttawa</a:t>
            </a:r>
            <a:endParaRPr lang="en-US" sz="1300" dirty="0">
              <a:latin typeface="Avenir Next LT Pro" panose="020B0504020202020204" pitchFamily="34" charset="0"/>
            </a:endParaRPr>
          </a:p>
        </p:txBody>
      </p:sp>
      <p:sp>
        <p:nvSpPr>
          <p:cNvPr id="7" name="Text 5"/>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B6B6B"/>
                </a:solidFill>
                <a:latin typeface="Avenir Next LT Pro" panose="020B0504020202020204" pitchFamily="34" charset="0"/>
              </a:rPr>
              <a:t>12</a:t>
            </a:r>
            <a:endParaRPr lang="en-US" sz="900" dirty="0">
              <a:latin typeface="Avenir Next LT Pro" panose="020B0504020202020204" pitchFamily="34" charset="0"/>
            </a:endParaRPr>
          </a:p>
        </p:txBody>
      </p:sp>
      <p:sp>
        <p:nvSpPr>
          <p:cNvPr id="8" name="Shape 6"/>
          <p:cNvSpPr/>
          <p:nvPr/>
        </p:nvSpPr>
        <p:spPr>
          <a:xfrm>
            <a:off x="347472" y="1261872"/>
            <a:ext cx="384048" cy="749808"/>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9" name="Text 7"/>
          <p:cNvSpPr/>
          <p:nvPr/>
        </p:nvSpPr>
        <p:spPr>
          <a:xfrm>
            <a:off x="347472" y="1261872"/>
            <a:ext cx="384048" cy="749808"/>
          </a:xfrm>
          <a:prstGeom prst="rect">
            <a:avLst/>
          </a:prstGeom>
          <a:noFill/>
          <a:ln/>
        </p:spPr>
        <p:txBody>
          <a:bodyPr wrap="square" rtlCol="0" anchor="ctr"/>
          <a:lstStyle/>
          <a:p>
            <a:pPr marL="0" indent="0" algn="ctr">
              <a:buNone/>
            </a:pPr>
            <a:r>
              <a:rPr lang="en-US" sz="1600" b="1" dirty="0">
                <a:solidFill>
                  <a:srgbClr val="FFFFFF"/>
                </a:solidFill>
                <a:latin typeface="Avenir Next LT Pro" panose="020B0504020202020204" pitchFamily="34" charset="0"/>
              </a:rPr>
              <a:t>✓</a:t>
            </a:r>
            <a:endParaRPr lang="en-US" sz="1600" dirty="0">
              <a:latin typeface="Avenir Next LT Pro" panose="020B0504020202020204" pitchFamily="34" charset="0"/>
            </a:endParaRPr>
          </a:p>
        </p:txBody>
      </p:sp>
      <p:sp>
        <p:nvSpPr>
          <p:cNvPr id="10" name="Shape 8"/>
          <p:cNvSpPr/>
          <p:nvPr/>
        </p:nvSpPr>
        <p:spPr>
          <a:xfrm>
            <a:off x="804672" y="1261872"/>
            <a:ext cx="8001000" cy="749808"/>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11" name="Text 9"/>
          <p:cNvSpPr/>
          <p:nvPr/>
        </p:nvSpPr>
        <p:spPr>
          <a:xfrm>
            <a:off x="914400" y="1298448"/>
            <a:ext cx="7772400" cy="274320"/>
          </a:xfrm>
          <a:prstGeom prst="rect">
            <a:avLst/>
          </a:prstGeom>
          <a:noFill/>
          <a:ln/>
        </p:spPr>
        <p:txBody>
          <a:bodyPr wrap="square" lIns="0" tIns="0" rIns="0" bIns="0" rtlCol="0" anchor="ctr"/>
          <a:lstStyle/>
          <a:p>
            <a:pPr marL="0" indent="0">
              <a:buNone/>
            </a:pPr>
            <a:r>
              <a:rPr lang="en-US" sz="1300" b="1" dirty="0">
                <a:solidFill>
                  <a:srgbClr val="1E1E1E"/>
                </a:solidFill>
                <a:latin typeface="Avenir Next LT Pro" panose="020B0504020202020204" pitchFamily="34" charset="0"/>
              </a:rPr>
              <a:t>First Massively Multitask Online RL Benchmark</a:t>
            </a:r>
            <a:endParaRPr lang="en-US" sz="1300" dirty="0">
              <a:latin typeface="Avenir Next LT Pro" panose="020B0504020202020204" pitchFamily="34" charset="0"/>
            </a:endParaRPr>
          </a:p>
        </p:txBody>
      </p:sp>
      <p:sp>
        <p:nvSpPr>
          <p:cNvPr id="12" name="Text 10"/>
          <p:cNvSpPr/>
          <p:nvPr/>
        </p:nvSpPr>
        <p:spPr>
          <a:xfrm>
            <a:off x="914400" y="1591056"/>
            <a:ext cx="7772400" cy="365760"/>
          </a:xfrm>
          <a:prstGeom prst="rect">
            <a:avLst/>
          </a:prstGeom>
          <a:noFill/>
          <a:ln/>
        </p:spPr>
        <p:txBody>
          <a:bodyPr wrap="square" rtlCol="0" anchor="ctr"/>
          <a:lstStyle/>
          <a:p>
            <a:pPr marL="0" indent="0">
              <a:buNone/>
            </a:pPr>
            <a:r>
              <a:rPr lang="en-US" sz="1200" dirty="0">
                <a:solidFill>
                  <a:srgbClr val="3D3D3D"/>
                </a:solidFill>
                <a:latin typeface="Avenir Next LT Pro" panose="020B0504020202020204" pitchFamily="34" charset="0"/>
              </a:rPr>
              <a:t>MMBench fills a real gap — no prior benchmark enabled online RL across 200+ continuous-control tasks with diverse embodiments</a:t>
            </a:r>
            <a:endParaRPr lang="en-US" sz="1200" dirty="0">
              <a:latin typeface="Avenir Next LT Pro" panose="020B0504020202020204" pitchFamily="34" charset="0"/>
            </a:endParaRPr>
          </a:p>
        </p:txBody>
      </p:sp>
      <p:sp>
        <p:nvSpPr>
          <p:cNvPr id="13" name="Shape 11"/>
          <p:cNvSpPr/>
          <p:nvPr/>
        </p:nvSpPr>
        <p:spPr>
          <a:xfrm>
            <a:off x="347472" y="2157984"/>
            <a:ext cx="384048" cy="749808"/>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14" name="Text 12"/>
          <p:cNvSpPr/>
          <p:nvPr/>
        </p:nvSpPr>
        <p:spPr>
          <a:xfrm>
            <a:off x="347472" y="2157984"/>
            <a:ext cx="384048" cy="749808"/>
          </a:xfrm>
          <a:prstGeom prst="rect">
            <a:avLst/>
          </a:prstGeom>
          <a:noFill/>
          <a:ln/>
        </p:spPr>
        <p:txBody>
          <a:bodyPr wrap="square" rtlCol="0" anchor="ctr"/>
          <a:lstStyle/>
          <a:p>
            <a:pPr marL="0" indent="0" algn="ctr">
              <a:buNone/>
            </a:pPr>
            <a:r>
              <a:rPr lang="en-US" sz="1600" b="1" dirty="0">
                <a:solidFill>
                  <a:srgbClr val="FFFFFF"/>
                </a:solidFill>
                <a:latin typeface="Avenir Next LT Pro" panose="020B0504020202020204" pitchFamily="34" charset="0"/>
              </a:rPr>
              <a:t>✓</a:t>
            </a:r>
            <a:endParaRPr lang="en-US" sz="1600" dirty="0">
              <a:latin typeface="Avenir Next LT Pro" panose="020B0504020202020204" pitchFamily="34" charset="0"/>
            </a:endParaRPr>
          </a:p>
        </p:txBody>
      </p:sp>
      <p:sp>
        <p:nvSpPr>
          <p:cNvPr id="15" name="Shape 13"/>
          <p:cNvSpPr/>
          <p:nvPr/>
        </p:nvSpPr>
        <p:spPr>
          <a:xfrm>
            <a:off x="804672" y="2157984"/>
            <a:ext cx="8001000" cy="749808"/>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16" name="Text 14"/>
          <p:cNvSpPr/>
          <p:nvPr/>
        </p:nvSpPr>
        <p:spPr>
          <a:xfrm>
            <a:off x="914400" y="2194560"/>
            <a:ext cx="7772400" cy="274320"/>
          </a:xfrm>
          <a:prstGeom prst="rect">
            <a:avLst/>
          </a:prstGeom>
          <a:noFill/>
          <a:ln/>
        </p:spPr>
        <p:txBody>
          <a:bodyPr wrap="square" lIns="0" tIns="0" rIns="0" bIns="0" rtlCol="0" anchor="ctr"/>
          <a:lstStyle/>
          <a:p>
            <a:pPr marL="0" indent="0">
              <a:buNone/>
            </a:pPr>
            <a:r>
              <a:rPr lang="en-US" sz="1300" b="1" dirty="0">
                <a:solidFill>
                  <a:srgbClr val="1E1E1E"/>
                </a:solidFill>
                <a:latin typeface="Avenir Next LT Pro" panose="020B0504020202020204" pitchFamily="34" charset="0"/>
              </a:rPr>
              <a:t>Effective Foundation Model Recipe</a:t>
            </a:r>
            <a:endParaRPr lang="en-US" sz="1300" dirty="0">
              <a:latin typeface="Avenir Next LT Pro" panose="020B0504020202020204" pitchFamily="34" charset="0"/>
            </a:endParaRPr>
          </a:p>
        </p:txBody>
      </p:sp>
      <p:sp>
        <p:nvSpPr>
          <p:cNvPr id="17" name="Text 15"/>
          <p:cNvSpPr/>
          <p:nvPr/>
        </p:nvSpPr>
        <p:spPr>
          <a:xfrm>
            <a:off x="914400" y="2487168"/>
            <a:ext cx="7772400" cy="365760"/>
          </a:xfrm>
          <a:prstGeom prst="rect">
            <a:avLst/>
          </a:prstGeom>
          <a:noFill/>
          <a:ln/>
        </p:spPr>
        <p:txBody>
          <a:bodyPr wrap="square" rtlCol="0" anchor="ctr"/>
          <a:lstStyle/>
          <a:p>
            <a:pPr marL="0" indent="0">
              <a:buNone/>
            </a:pPr>
            <a:r>
              <a:rPr lang="en-US" sz="1200" dirty="0">
                <a:solidFill>
                  <a:srgbClr val="3D3D3D"/>
                </a:solidFill>
                <a:latin typeface="Avenir Next LT Pro" panose="020B0504020202020204" pitchFamily="34" charset="0"/>
              </a:rPr>
              <a:t>Demo pretraining → online RL is a principled and reproducible methodology. Ablations confirm every component contributes</a:t>
            </a:r>
            <a:endParaRPr lang="en-US" sz="1200" dirty="0">
              <a:latin typeface="Avenir Next LT Pro" panose="020B0504020202020204" pitchFamily="34" charset="0"/>
            </a:endParaRPr>
          </a:p>
        </p:txBody>
      </p:sp>
      <p:sp>
        <p:nvSpPr>
          <p:cNvPr id="18" name="Shape 16"/>
          <p:cNvSpPr/>
          <p:nvPr/>
        </p:nvSpPr>
        <p:spPr>
          <a:xfrm>
            <a:off x="347472" y="3054096"/>
            <a:ext cx="384048" cy="749808"/>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19" name="Text 17"/>
          <p:cNvSpPr/>
          <p:nvPr/>
        </p:nvSpPr>
        <p:spPr>
          <a:xfrm>
            <a:off x="347472" y="3054096"/>
            <a:ext cx="384048" cy="749808"/>
          </a:xfrm>
          <a:prstGeom prst="rect">
            <a:avLst/>
          </a:prstGeom>
          <a:noFill/>
          <a:ln/>
        </p:spPr>
        <p:txBody>
          <a:bodyPr wrap="square" rtlCol="0" anchor="ctr"/>
          <a:lstStyle/>
          <a:p>
            <a:pPr marL="0" indent="0" algn="ctr">
              <a:buNone/>
            </a:pPr>
            <a:r>
              <a:rPr lang="en-US" sz="1600" b="1" dirty="0">
                <a:solidFill>
                  <a:srgbClr val="FFFFFF"/>
                </a:solidFill>
                <a:latin typeface="Avenir Next LT Pro" panose="020B0504020202020204" pitchFamily="34" charset="0"/>
              </a:rPr>
              <a:t>✓</a:t>
            </a:r>
            <a:endParaRPr lang="en-US" sz="1600" dirty="0">
              <a:latin typeface="Avenir Next LT Pro" panose="020B0504020202020204" pitchFamily="34" charset="0"/>
            </a:endParaRPr>
          </a:p>
        </p:txBody>
      </p:sp>
      <p:sp>
        <p:nvSpPr>
          <p:cNvPr id="20" name="Shape 18"/>
          <p:cNvSpPr/>
          <p:nvPr/>
        </p:nvSpPr>
        <p:spPr>
          <a:xfrm>
            <a:off x="804672" y="3054096"/>
            <a:ext cx="8001000" cy="749808"/>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21" name="Text 19"/>
          <p:cNvSpPr/>
          <p:nvPr/>
        </p:nvSpPr>
        <p:spPr>
          <a:xfrm>
            <a:off x="914400" y="3090672"/>
            <a:ext cx="7772400" cy="274320"/>
          </a:xfrm>
          <a:prstGeom prst="rect">
            <a:avLst/>
          </a:prstGeom>
          <a:noFill/>
          <a:ln/>
        </p:spPr>
        <p:txBody>
          <a:bodyPr wrap="square" lIns="0" tIns="0" rIns="0" bIns="0" rtlCol="0" anchor="ctr"/>
          <a:lstStyle/>
          <a:p>
            <a:pPr marL="0" indent="0">
              <a:buNone/>
            </a:pPr>
            <a:r>
              <a:rPr lang="en-US" sz="1300" b="1" dirty="0">
                <a:solidFill>
                  <a:srgbClr val="1E1E1E"/>
                </a:solidFill>
                <a:latin typeface="Avenir Next LT Pro" panose="020B0504020202020204" pitchFamily="34" charset="0"/>
              </a:rPr>
              <a:t>Strong Empirical Evaluation</a:t>
            </a:r>
            <a:endParaRPr lang="en-US" sz="1300" dirty="0">
              <a:latin typeface="Avenir Next LT Pro" panose="020B0504020202020204" pitchFamily="34" charset="0"/>
            </a:endParaRPr>
          </a:p>
        </p:txBody>
      </p:sp>
      <p:sp>
        <p:nvSpPr>
          <p:cNvPr id="22" name="Text 20"/>
          <p:cNvSpPr/>
          <p:nvPr/>
        </p:nvSpPr>
        <p:spPr>
          <a:xfrm>
            <a:off x="914400" y="3383280"/>
            <a:ext cx="7772400" cy="365760"/>
          </a:xfrm>
          <a:prstGeom prst="rect">
            <a:avLst/>
          </a:prstGeom>
          <a:noFill/>
          <a:ln/>
        </p:spPr>
        <p:txBody>
          <a:bodyPr wrap="square" rtlCol="0" anchor="ctr"/>
          <a:lstStyle/>
          <a:p>
            <a:pPr marL="0" indent="0">
              <a:buNone/>
            </a:pPr>
            <a:r>
              <a:rPr lang="en-US" sz="1200" dirty="0">
                <a:solidFill>
                  <a:srgbClr val="3D3D3D"/>
                </a:solidFill>
                <a:latin typeface="Avenir Next LT Pro" panose="020B0504020202020204" pitchFamily="34" charset="0"/>
              </a:rPr>
              <a:t>5 seeds, 200 tasks, multiple baselines, domain-level breakdowns, scaling analysis, and few-shot transfer — comprehensive</a:t>
            </a:r>
            <a:endParaRPr lang="en-US" sz="1200" dirty="0">
              <a:latin typeface="Avenir Next LT Pro" panose="020B0504020202020204" pitchFamily="34" charset="0"/>
            </a:endParaRPr>
          </a:p>
        </p:txBody>
      </p:sp>
      <p:sp>
        <p:nvSpPr>
          <p:cNvPr id="23" name="Shape 21"/>
          <p:cNvSpPr/>
          <p:nvPr/>
        </p:nvSpPr>
        <p:spPr>
          <a:xfrm>
            <a:off x="347472" y="3950208"/>
            <a:ext cx="384048" cy="749808"/>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24" name="Text 22"/>
          <p:cNvSpPr/>
          <p:nvPr/>
        </p:nvSpPr>
        <p:spPr>
          <a:xfrm>
            <a:off x="347472" y="3950208"/>
            <a:ext cx="384048" cy="749808"/>
          </a:xfrm>
          <a:prstGeom prst="rect">
            <a:avLst/>
          </a:prstGeom>
          <a:noFill/>
          <a:ln/>
        </p:spPr>
        <p:txBody>
          <a:bodyPr wrap="square" rtlCol="0" anchor="ctr"/>
          <a:lstStyle/>
          <a:p>
            <a:pPr marL="0" indent="0" algn="ctr">
              <a:buNone/>
            </a:pPr>
            <a:r>
              <a:rPr lang="en-US" sz="1600" b="1" dirty="0">
                <a:solidFill>
                  <a:srgbClr val="FFFFFF"/>
                </a:solidFill>
                <a:latin typeface="Avenir Next LT Pro" panose="020B0504020202020204" pitchFamily="34" charset="0"/>
              </a:rPr>
              <a:t>✓</a:t>
            </a:r>
            <a:endParaRPr lang="en-US" sz="1600" dirty="0">
              <a:latin typeface="Avenir Next LT Pro" panose="020B0504020202020204" pitchFamily="34" charset="0"/>
            </a:endParaRPr>
          </a:p>
        </p:txBody>
      </p:sp>
      <p:sp>
        <p:nvSpPr>
          <p:cNvPr id="25" name="Shape 23"/>
          <p:cNvSpPr/>
          <p:nvPr/>
        </p:nvSpPr>
        <p:spPr>
          <a:xfrm>
            <a:off x="804672" y="3950208"/>
            <a:ext cx="8001000" cy="749808"/>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26" name="Text 24"/>
          <p:cNvSpPr/>
          <p:nvPr/>
        </p:nvSpPr>
        <p:spPr>
          <a:xfrm>
            <a:off x="914400" y="3986784"/>
            <a:ext cx="7772400" cy="274320"/>
          </a:xfrm>
          <a:prstGeom prst="rect">
            <a:avLst/>
          </a:prstGeom>
          <a:noFill/>
          <a:ln/>
        </p:spPr>
        <p:txBody>
          <a:bodyPr wrap="square" lIns="0" tIns="0" rIns="0" bIns="0" rtlCol="0" anchor="ctr"/>
          <a:lstStyle/>
          <a:p>
            <a:pPr marL="0" indent="0">
              <a:buNone/>
            </a:pPr>
            <a:r>
              <a:rPr lang="en-US" sz="1300" b="1" dirty="0">
                <a:solidFill>
                  <a:srgbClr val="1E1E1E"/>
                </a:solidFill>
                <a:latin typeface="Avenir Next LT Pro" panose="020B0504020202020204" pitchFamily="34" charset="0"/>
              </a:rPr>
              <a:t>Open &amp; Reproducible</a:t>
            </a:r>
            <a:endParaRPr lang="en-US" sz="1300" dirty="0">
              <a:latin typeface="Avenir Next LT Pro" panose="020B0504020202020204" pitchFamily="34" charset="0"/>
            </a:endParaRPr>
          </a:p>
        </p:txBody>
      </p:sp>
      <p:sp>
        <p:nvSpPr>
          <p:cNvPr id="27" name="Text 25"/>
          <p:cNvSpPr/>
          <p:nvPr/>
        </p:nvSpPr>
        <p:spPr>
          <a:xfrm>
            <a:off x="914400" y="4279392"/>
            <a:ext cx="7772400" cy="365760"/>
          </a:xfrm>
          <a:prstGeom prst="rect">
            <a:avLst/>
          </a:prstGeom>
          <a:noFill/>
          <a:ln/>
        </p:spPr>
        <p:txBody>
          <a:bodyPr wrap="square" rtlCol="0" anchor="ctr"/>
          <a:lstStyle/>
          <a:p>
            <a:pPr marL="0" indent="0">
              <a:buNone/>
            </a:pPr>
            <a:r>
              <a:rPr lang="en-US" sz="1200" dirty="0">
                <a:solidFill>
                  <a:srgbClr val="3D3D3D"/>
                </a:solidFill>
                <a:latin typeface="Avenir Next LT Pro" panose="020B0504020202020204" pitchFamily="34" charset="0"/>
              </a:rPr>
              <a:t>Full code, 200+ checkpoints, demonstrations, and environments released — community can build directly on this work</a:t>
            </a:r>
            <a:endParaRPr lang="en-US" sz="1200" dirty="0">
              <a:latin typeface="Avenir Next LT Pro" panose="020B05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2"/>
          <p:cNvSpPr/>
          <p:nvPr/>
        </p:nvSpPr>
        <p:spPr>
          <a:xfrm>
            <a:off x="347472" y="566928"/>
            <a:ext cx="7589520" cy="502920"/>
          </a:xfrm>
          <a:prstGeom prst="rect">
            <a:avLst/>
          </a:prstGeom>
          <a:noFill/>
          <a:ln/>
        </p:spPr>
        <p:txBody>
          <a:bodyPr wrap="square" lIns="0" tIns="0" rIns="0" bIns="0" rtlCol="0" anchor="ctr"/>
          <a:lstStyle/>
          <a:p>
            <a:pPr marL="0" indent="0">
              <a:buNone/>
            </a:pPr>
            <a:r>
              <a:rPr lang="en-US" sz="2600" b="1" dirty="0">
                <a:solidFill>
                  <a:srgbClr val="8F0024"/>
                </a:solidFill>
                <a:latin typeface="Avenir Next LT Pro" panose="020B0504020202020204" pitchFamily="34" charset="0"/>
              </a:rPr>
              <a:t>Limitations &amp; Weaknesses</a:t>
            </a:r>
            <a:endParaRPr lang="en-US" sz="2600" dirty="0">
              <a:latin typeface="Avenir Next LT Pro" panose="020B0504020202020204" pitchFamily="34" charset="0"/>
            </a:endParaRPr>
          </a:p>
        </p:txBody>
      </p:sp>
      <p:sp>
        <p:nvSpPr>
          <p:cNvPr id="5" name="Shape 3"/>
          <p:cNvSpPr/>
          <p:nvPr/>
        </p:nvSpPr>
        <p:spPr>
          <a:xfrm>
            <a:off x="347472" y="1115568"/>
            <a:ext cx="8229600" cy="0"/>
          </a:xfrm>
          <a:prstGeom prst="line">
            <a:avLst/>
          </a:prstGeom>
          <a:noFill/>
          <a:ln w="8890">
            <a:solidFill>
              <a:srgbClr val="CCCCCC"/>
            </a:solidFill>
            <a:prstDash val="solid"/>
          </a:ln>
        </p:spPr>
        <p:txBody>
          <a:bodyPr/>
          <a:lstStyle/>
          <a:p>
            <a:endParaRPr lang="en-CA">
              <a:latin typeface="Avenir Next LT Pro" panose="020B0504020202020204" pitchFamily="34" charset="0"/>
            </a:endParaRPr>
          </a:p>
        </p:txBody>
      </p:sp>
      <p:sp>
        <p:nvSpPr>
          <p:cNvPr id="6" name="Text 4"/>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latin typeface="Avenir Next LT Pro" panose="020B0504020202020204" pitchFamily="34" charset="0"/>
              </a:rPr>
              <a:t>uOttawa</a:t>
            </a:r>
            <a:endParaRPr lang="en-US" sz="1300" dirty="0">
              <a:latin typeface="Avenir Next LT Pro" panose="020B0504020202020204" pitchFamily="34" charset="0"/>
            </a:endParaRPr>
          </a:p>
        </p:txBody>
      </p:sp>
      <p:sp>
        <p:nvSpPr>
          <p:cNvPr id="7" name="Text 5"/>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B6B6B"/>
                </a:solidFill>
                <a:latin typeface="Avenir Next LT Pro" panose="020B0504020202020204" pitchFamily="34" charset="0"/>
              </a:rPr>
              <a:t>13</a:t>
            </a:r>
            <a:endParaRPr lang="en-US" sz="900" dirty="0">
              <a:latin typeface="Avenir Next LT Pro" panose="020B0504020202020204" pitchFamily="34" charset="0"/>
            </a:endParaRPr>
          </a:p>
        </p:txBody>
      </p:sp>
      <p:sp>
        <p:nvSpPr>
          <p:cNvPr id="8" name="Shape 6"/>
          <p:cNvSpPr/>
          <p:nvPr/>
        </p:nvSpPr>
        <p:spPr>
          <a:xfrm>
            <a:off x="347472" y="1261872"/>
            <a:ext cx="384048" cy="749808"/>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9" name="Text 7"/>
          <p:cNvSpPr/>
          <p:nvPr/>
        </p:nvSpPr>
        <p:spPr>
          <a:xfrm>
            <a:off x="347472" y="1261872"/>
            <a:ext cx="384048" cy="749808"/>
          </a:xfrm>
          <a:prstGeom prst="rect">
            <a:avLst/>
          </a:prstGeom>
          <a:noFill/>
          <a:ln/>
        </p:spPr>
        <p:txBody>
          <a:bodyPr wrap="square" rtlCol="0" anchor="ctr"/>
          <a:lstStyle/>
          <a:p>
            <a:pPr marL="0" indent="0" algn="ctr">
              <a:buNone/>
            </a:pPr>
            <a:r>
              <a:rPr lang="en-US" sz="1600" b="1" dirty="0">
                <a:solidFill>
                  <a:srgbClr val="FFFFFF"/>
                </a:solidFill>
                <a:latin typeface="Avenir Next LT Pro" panose="020B0504020202020204" pitchFamily="34" charset="0"/>
              </a:rPr>
              <a:t>✗</a:t>
            </a:r>
            <a:endParaRPr lang="en-US" sz="1600" dirty="0">
              <a:latin typeface="Avenir Next LT Pro" panose="020B0504020202020204" pitchFamily="34" charset="0"/>
            </a:endParaRPr>
          </a:p>
        </p:txBody>
      </p:sp>
      <p:sp>
        <p:nvSpPr>
          <p:cNvPr id="10" name="Shape 8"/>
          <p:cNvSpPr/>
          <p:nvPr/>
        </p:nvSpPr>
        <p:spPr>
          <a:xfrm>
            <a:off x="804672" y="1261872"/>
            <a:ext cx="8001000" cy="749808"/>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11" name="Text 9"/>
          <p:cNvSpPr/>
          <p:nvPr/>
        </p:nvSpPr>
        <p:spPr>
          <a:xfrm>
            <a:off x="914400" y="1298448"/>
            <a:ext cx="7772400" cy="274320"/>
          </a:xfrm>
          <a:prstGeom prst="rect">
            <a:avLst/>
          </a:prstGeom>
          <a:noFill/>
          <a:ln/>
        </p:spPr>
        <p:txBody>
          <a:bodyPr wrap="square" lIns="0" tIns="0" rIns="0" bIns="0" rtlCol="0" anchor="ctr"/>
          <a:lstStyle/>
          <a:p>
            <a:pPr marL="0" indent="0">
              <a:buNone/>
            </a:pPr>
            <a:r>
              <a:rPr lang="en-US" sz="1300" b="1" dirty="0">
                <a:solidFill>
                  <a:srgbClr val="8F0024"/>
                </a:solidFill>
                <a:latin typeface="Avenir Next LT Pro" panose="020B0504020202020204" pitchFamily="34" charset="0"/>
              </a:rPr>
              <a:t>Simple MLP Architecture</a:t>
            </a:r>
            <a:endParaRPr lang="en-US" sz="1300" dirty="0">
              <a:latin typeface="Avenir Next LT Pro" panose="020B0504020202020204" pitchFamily="34" charset="0"/>
            </a:endParaRPr>
          </a:p>
        </p:txBody>
      </p:sp>
      <p:sp>
        <p:nvSpPr>
          <p:cNvPr id="12" name="Text 10"/>
          <p:cNvSpPr/>
          <p:nvPr/>
        </p:nvSpPr>
        <p:spPr>
          <a:xfrm>
            <a:off x="914400" y="1591056"/>
            <a:ext cx="7772400" cy="365760"/>
          </a:xfrm>
          <a:prstGeom prst="rect">
            <a:avLst/>
          </a:prstGeom>
          <a:noFill/>
          <a:ln/>
        </p:spPr>
        <p:txBody>
          <a:bodyPr wrap="square" rtlCol="0" anchor="ctr"/>
          <a:lstStyle/>
          <a:p>
            <a:pPr marL="0" indent="0">
              <a:buNone/>
            </a:pPr>
            <a:r>
              <a:rPr lang="en-US" sz="1200" dirty="0">
                <a:solidFill>
                  <a:srgbClr val="3D3D3D"/>
                </a:solidFill>
                <a:latin typeface="Avenir Next LT Pro" panose="020B0504020202020204" pitchFamily="34" charset="0"/>
              </a:rPr>
              <a:t>All world model components are deterministic MLPs. No Transformers or diffusion policy despite their proven benefits. Authors acknowledge this as a clear future direction.</a:t>
            </a:r>
            <a:endParaRPr lang="en-US" sz="1200" dirty="0">
              <a:latin typeface="Avenir Next LT Pro" panose="020B0504020202020204" pitchFamily="34" charset="0"/>
            </a:endParaRPr>
          </a:p>
        </p:txBody>
      </p:sp>
      <p:sp>
        <p:nvSpPr>
          <p:cNvPr id="13" name="Shape 11"/>
          <p:cNvSpPr/>
          <p:nvPr/>
        </p:nvSpPr>
        <p:spPr>
          <a:xfrm>
            <a:off x="347472" y="2157984"/>
            <a:ext cx="384048" cy="749808"/>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14" name="Text 12"/>
          <p:cNvSpPr/>
          <p:nvPr/>
        </p:nvSpPr>
        <p:spPr>
          <a:xfrm>
            <a:off x="347472" y="2157984"/>
            <a:ext cx="384048" cy="749808"/>
          </a:xfrm>
          <a:prstGeom prst="rect">
            <a:avLst/>
          </a:prstGeom>
          <a:noFill/>
          <a:ln/>
        </p:spPr>
        <p:txBody>
          <a:bodyPr wrap="square" rtlCol="0" anchor="ctr"/>
          <a:lstStyle/>
          <a:p>
            <a:pPr marL="0" indent="0" algn="ctr">
              <a:buNone/>
            </a:pPr>
            <a:r>
              <a:rPr lang="en-US" sz="1600" b="1" dirty="0">
                <a:solidFill>
                  <a:srgbClr val="FFFFFF"/>
                </a:solidFill>
                <a:latin typeface="Avenir Next LT Pro" panose="020B0504020202020204" pitchFamily="34" charset="0"/>
              </a:rPr>
              <a:t>✗</a:t>
            </a:r>
            <a:endParaRPr lang="en-US" sz="1600" dirty="0">
              <a:latin typeface="Avenir Next LT Pro" panose="020B0504020202020204" pitchFamily="34" charset="0"/>
            </a:endParaRPr>
          </a:p>
        </p:txBody>
      </p:sp>
      <p:sp>
        <p:nvSpPr>
          <p:cNvPr id="15" name="Shape 13"/>
          <p:cNvSpPr/>
          <p:nvPr/>
        </p:nvSpPr>
        <p:spPr>
          <a:xfrm>
            <a:off x="804672" y="2157984"/>
            <a:ext cx="8001000" cy="749808"/>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16" name="Text 14"/>
          <p:cNvSpPr/>
          <p:nvPr/>
        </p:nvSpPr>
        <p:spPr>
          <a:xfrm>
            <a:off x="914400" y="2194560"/>
            <a:ext cx="7772400" cy="274320"/>
          </a:xfrm>
          <a:prstGeom prst="rect">
            <a:avLst/>
          </a:prstGeom>
          <a:noFill/>
          <a:ln/>
        </p:spPr>
        <p:txBody>
          <a:bodyPr wrap="square" lIns="0" tIns="0" rIns="0" bIns="0" rtlCol="0" anchor="ctr"/>
          <a:lstStyle/>
          <a:p>
            <a:pPr marL="0" indent="0">
              <a:buNone/>
            </a:pPr>
            <a:r>
              <a:rPr lang="en-US" sz="1300" b="1" dirty="0">
                <a:solidFill>
                  <a:srgbClr val="8F0024"/>
                </a:solidFill>
                <a:latin typeface="Avenir Next LT Pro" panose="020B0504020202020204" pitchFamily="34" charset="0"/>
              </a:rPr>
              <a:t>Primarily State-Based</a:t>
            </a:r>
            <a:endParaRPr lang="en-US" sz="1300" dirty="0">
              <a:latin typeface="Avenir Next LT Pro" panose="020B0504020202020204" pitchFamily="34" charset="0"/>
            </a:endParaRPr>
          </a:p>
        </p:txBody>
      </p:sp>
      <p:sp>
        <p:nvSpPr>
          <p:cNvPr id="17" name="Text 15"/>
          <p:cNvSpPr/>
          <p:nvPr/>
        </p:nvSpPr>
        <p:spPr>
          <a:xfrm>
            <a:off x="914400" y="2487168"/>
            <a:ext cx="7772400" cy="365760"/>
          </a:xfrm>
          <a:prstGeom prst="rect">
            <a:avLst/>
          </a:prstGeom>
          <a:noFill/>
          <a:ln/>
        </p:spPr>
        <p:txBody>
          <a:bodyPr wrap="square" rtlCol="0" anchor="ctr"/>
          <a:lstStyle/>
          <a:p>
            <a:pPr marL="0" indent="0">
              <a:buNone/>
            </a:pPr>
            <a:r>
              <a:rPr lang="en-US" sz="1200" dirty="0">
                <a:solidFill>
                  <a:srgbClr val="3D3D3D"/>
                </a:solidFill>
                <a:latin typeface="Avenir Next LT Pro" panose="020B0504020202020204" pitchFamily="34" charset="0"/>
              </a:rPr>
              <a:t>Most experiments use proprioceptive state as input. Visual RL (from RGB images) is supported but less thoroughly evaluated. Limits real-world applicability.</a:t>
            </a:r>
            <a:endParaRPr lang="en-US" sz="1200" dirty="0">
              <a:latin typeface="Avenir Next LT Pro" panose="020B0504020202020204" pitchFamily="34" charset="0"/>
            </a:endParaRPr>
          </a:p>
        </p:txBody>
      </p:sp>
      <p:sp>
        <p:nvSpPr>
          <p:cNvPr id="18" name="Shape 16"/>
          <p:cNvSpPr/>
          <p:nvPr/>
        </p:nvSpPr>
        <p:spPr>
          <a:xfrm>
            <a:off x="347472" y="3054096"/>
            <a:ext cx="384048" cy="749808"/>
          </a:xfrm>
          <a:prstGeom prst="rect">
            <a:avLst/>
          </a:prstGeom>
          <a:solidFill>
            <a:srgbClr val="6B6B6B"/>
          </a:solidFill>
          <a:ln w="12700">
            <a:solidFill>
              <a:srgbClr val="6B6B6B"/>
            </a:solidFill>
            <a:prstDash val="solid"/>
          </a:ln>
        </p:spPr>
        <p:txBody>
          <a:bodyPr/>
          <a:lstStyle/>
          <a:p>
            <a:endParaRPr lang="en-CA">
              <a:latin typeface="Avenir Next LT Pro" panose="020B0504020202020204" pitchFamily="34" charset="0"/>
            </a:endParaRPr>
          </a:p>
        </p:txBody>
      </p:sp>
      <p:sp>
        <p:nvSpPr>
          <p:cNvPr id="19" name="Text 17"/>
          <p:cNvSpPr/>
          <p:nvPr/>
        </p:nvSpPr>
        <p:spPr>
          <a:xfrm>
            <a:off x="347472" y="3054096"/>
            <a:ext cx="384048" cy="749808"/>
          </a:xfrm>
          <a:prstGeom prst="rect">
            <a:avLst/>
          </a:prstGeom>
          <a:noFill/>
          <a:ln/>
        </p:spPr>
        <p:txBody>
          <a:bodyPr wrap="square" rtlCol="0" anchor="ctr"/>
          <a:lstStyle/>
          <a:p>
            <a:pPr marL="0" indent="0" algn="ctr">
              <a:buNone/>
            </a:pPr>
            <a:r>
              <a:rPr lang="en-US" sz="1600" b="1" dirty="0">
                <a:solidFill>
                  <a:srgbClr val="FFFFFF"/>
                </a:solidFill>
                <a:latin typeface="Avenir Next LT Pro" panose="020B0504020202020204" pitchFamily="34" charset="0"/>
              </a:rPr>
              <a:t>✗</a:t>
            </a:r>
            <a:endParaRPr lang="en-US" sz="1600" dirty="0">
              <a:latin typeface="Avenir Next LT Pro" panose="020B0504020202020204" pitchFamily="34" charset="0"/>
            </a:endParaRPr>
          </a:p>
        </p:txBody>
      </p:sp>
      <p:sp>
        <p:nvSpPr>
          <p:cNvPr id="20" name="Shape 18"/>
          <p:cNvSpPr/>
          <p:nvPr/>
        </p:nvSpPr>
        <p:spPr>
          <a:xfrm>
            <a:off x="804672" y="3054096"/>
            <a:ext cx="8001000" cy="749808"/>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21" name="Text 19"/>
          <p:cNvSpPr/>
          <p:nvPr/>
        </p:nvSpPr>
        <p:spPr>
          <a:xfrm>
            <a:off x="914400" y="3090672"/>
            <a:ext cx="7772400" cy="274320"/>
          </a:xfrm>
          <a:prstGeom prst="rect">
            <a:avLst/>
          </a:prstGeom>
          <a:noFill/>
          <a:ln/>
        </p:spPr>
        <p:txBody>
          <a:bodyPr wrap="square" lIns="0" tIns="0" rIns="0" bIns="0" rtlCol="0" anchor="ctr"/>
          <a:lstStyle/>
          <a:p>
            <a:pPr marL="0" indent="0">
              <a:buNone/>
            </a:pPr>
            <a:r>
              <a:rPr lang="en-US" sz="1300" b="1" dirty="0">
                <a:solidFill>
                  <a:srgbClr val="6B6B6B"/>
                </a:solidFill>
                <a:latin typeface="Avenir Next LT Pro" panose="020B0504020202020204" pitchFamily="34" charset="0"/>
              </a:rPr>
              <a:t>Uneven Domain Performance</a:t>
            </a:r>
            <a:endParaRPr lang="en-US" sz="1300" dirty="0">
              <a:latin typeface="Avenir Next LT Pro" panose="020B0504020202020204" pitchFamily="34" charset="0"/>
            </a:endParaRPr>
          </a:p>
        </p:txBody>
      </p:sp>
      <p:sp>
        <p:nvSpPr>
          <p:cNvPr id="22" name="Text 20"/>
          <p:cNvSpPr/>
          <p:nvPr/>
        </p:nvSpPr>
        <p:spPr>
          <a:xfrm>
            <a:off x="914400" y="3383280"/>
            <a:ext cx="7772400" cy="365760"/>
          </a:xfrm>
          <a:prstGeom prst="rect">
            <a:avLst/>
          </a:prstGeom>
          <a:noFill/>
          <a:ln/>
        </p:spPr>
        <p:txBody>
          <a:bodyPr wrap="square" rtlCol="0" anchor="ctr"/>
          <a:lstStyle/>
          <a:p>
            <a:pPr marL="0" indent="0">
              <a:buNone/>
            </a:pPr>
            <a:r>
              <a:rPr lang="en-US" sz="1200" dirty="0">
                <a:solidFill>
                  <a:srgbClr val="3D3D3D"/>
                </a:solidFill>
                <a:latin typeface="Avenir Next LT Pro" panose="020B0504020202020204" pitchFamily="34" charset="0"/>
              </a:rPr>
              <a:t>Per-domain results show large variance — online RL benefits some domains much more than others. Not all 200 tasks are solved well.</a:t>
            </a:r>
            <a:endParaRPr lang="en-US" sz="1200" dirty="0">
              <a:latin typeface="Avenir Next LT Pro" panose="020B0504020202020204" pitchFamily="34" charset="0"/>
            </a:endParaRPr>
          </a:p>
        </p:txBody>
      </p:sp>
      <p:sp>
        <p:nvSpPr>
          <p:cNvPr id="23" name="Shape 21"/>
          <p:cNvSpPr/>
          <p:nvPr/>
        </p:nvSpPr>
        <p:spPr>
          <a:xfrm>
            <a:off x="347472" y="3950208"/>
            <a:ext cx="384048" cy="749808"/>
          </a:xfrm>
          <a:prstGeom prst="rect">
            <a:avLst/>
          </a:prstGeom>
          <a:solidFill>
            <a:srgbClr val="6B6B6B"/>
          </a:solidFill>
          <a:ln w="12700">
            <a:solidFill>
              <a:srgbClr val="6B6B6B"/>
            </a:solidFill>
            <a:prstDash val="solid"/>
          </a:ln>
        </p:spPr>
        <p:txBody>
          <a:bodyPr/>
          <a:lstStyle/>
          <a:p>
            <a:endParaRPr lang="en-CA">
              <a:latin typeface="Avenir Next LT Pro" panose="020B0504020202020204" pitchFamily="34" charset="0"/>
            </a:endParaRPr>
          </a:p>
        </p:txBody>
      </p:sp>
      <p:sp>
        <p:nvSpPr>
          <p:cNvPr id="24" name="Text 22"/>
          <p:cNvSpPr/>
          <p:nvPr/>
        </p:nvSpPr>
        <p:spPr>
          <a:xfrm>
            <a:off x="347472" y="3950208"/>
            <a:ext cx="384048" cy="749808"/>
          </a:xfrm>
          <a:prstGeom prst="rect">
            <a:avLst/>
          </a:prstGeom>
          <a:noFill/>
          <a:ln/>
        </p:spPr>
        <p:txBody>
          <a:bodyPr wrap="square" rtlCol="0" anchor="ctr"/>
          <a:lstStyle/>
          <a:p>
            <a:pPr marL="0" indent="0" algn="ctr">
              <a:buNone/>
            </a:pPr>
            <a:r>
              <a:rPr lang="en-US" sz="1600" b="1" dirty="0">
                <a:solidFill>
                  <a:srgbClr val="FFFFFF"/>
                </a:solidFill>
                <a:latin typeface="Avenir Next LT Pro" panose="020B0504020202020204" pitchFamily="34" charset="0"/>
              </a:rPr>
              <a:t>✗</a:t>
            </a:r>
            <a:endParaRPr lang="en-US" sz="1600" dirty="0">
              <a:latin typeface="Avenir Next LT Pro" panose="020B0504020202020204" pitchFamily="34" charset="0"/>
            </a:endParaRPr>
          </a:p>
        </p:txBody>
      </p:sp>
      <p:sp>
        <p:nvSpPr>
          <p:cNvPr id="25" name="Shape 23"/>
          <p:cNvSpPr/>
          <p:nvPr/>
        </p:nvSpPr>
        <p:spPr>
          <a:xfrm>
            <a:off x="804672" y="3950208"/>
            <a:ext cx="8001000" cy="749808"/>
          </a:xfrm>
          <a:prstGeom prst="rect">
            <a:avLst/>
          </a:prstGeom>
          <a:solidFill>
            <a:srgbClr val="F4F4F4"/>
          </a:solidFill>
          <a:ln w="12700">
            <a:solidFill>
              <a:srgbClr val="DDDDDD"/>
            </a:solidFill>
            <a:prstDash val="solid"/>
          </a:ln>
        </p:spPr>
        <p:txBody>
          <a:bodyPr/>
          <a:lstStyle/>
          <a:p>
            <a:endParaRPr lang="en-CA">
              <a:latin typeface="Avenir Next LT Pro" panose="020B0504020202020204" pitchFamily="34" charset="0"/>
            </a:endParaRPr>
          </a:p>
        </p:txBody>
      </p:sp>
      <p:sp>
        <p:nvSpPr>
          <p:cNvPr id="26" name="Text 24"/>
          <p:cNvSpPr/>
          <p:nvPr/>
        </p:nvSpPr>
        <p:spPr>
          <a:xfrm>
            <a:off x="914400" y="3986784"/>
            <a:ext cx="7772400" cy="274320"/>
          </a:xfrm>
          <a:prstGeom prst="rect">
            <a:avLst/>
          </a:prstGeom>
          <a:noFill/>
          <a:ln/>
        </p:spPr>
        <p:txBody>
          <a:bodyPr wrap="square" lIns="0" tIns="0" rIns="0" bIns="0" rtlCol="0" anchor="ctr"/>
          <a:lstStyle/>
          <a:p>
            <a:pPr marL="0" indent="0">
              <a:buNone/>
            </a:pPr>
            <a:r>
              <a:rPr lang="en-US" sz="1300" b="1" dirty="0">
                <a:solidFill>
                  <a:srgbClr val="6B6B6B"/>
                </a:solidFill>
                <a:latin typeface="Avenir Next LT Pro" panose="020B0504020202020204" pitchFamily="34" charset="0"/>
              </a:rPr>
              <a:t>Compute Requirements</a:t>
            </a:r>
            <a:endParaRPr lang="en-US" sz="1300" dirty="0">
              <a:latin typeface="Avenir Next LT Pro" panose="020B0504020202020204" pitchFamily="34" charset="0"/>
            </a:endParaRPr>
          </a:p>
        </p:txBody>
      </p:sp>
      <p:sp>
        <p:nvSpPr>
          <p:cNvPr id="27" name="Text 25"/>
          <p:cNvSpPr/>
          <p:nvPr/>
        </p:nvSpPr>
        <p:spPr>
          <a:xfrm>
            <a:off x="914400" y="4279392"/>
            <a:ext cx="7772400" cy="365760"/>
          </a:xfrm>
          <a:prstGeom prst="rect">
            <a:avLst/>
          </a:prstGeom>
          <a:noFill/>
          <a:ln/>
        </p:spPr>
        <p:txBody>
          <a:bodyPr wrap="square" rtlCol="0" anchor="ctr"/>
          <a:lstStyle/>
          <a:p>
            <a:pPr marL="0" indent="0">
              <a:buNone/>
            </a:pPr>
            <a:r>
              <a:rPr lang="en-US" sz="1200" dirty="0">
                <a:solidFill>
                  <a:srgbClr val="3D3D3D"/>
                </a:solidFill>
                <a:latin typeface="Avenir Next LT Pro" panose="020B0504020202020204" pitchFamily="34" charset="0"/>
              </a:rPr>
              <a:t>Training a single agent on 200 tasks simultaneously requires significant GPU resources. Not accessible to all researchers without HPC infrastructure.</a:t>
            </a:r>
            <a:endParaRPr lang="en-US" sz="1200" dirty="0">
              <a:latin typeface="Avenir Next LT Pro" panose="020B05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2"/>
          <p:cNvSpPr/>
          <p:nvPr/>
        </p:nvSpPr>
        <p:spPr>
          <a:xfrm>
            <a:off x="347472" y="566928"/>
            <a:ext cx="7589520" cy="502920"/>
          </a:xfrm>
          <a:prstGeom prst="rect">
            <a:avLst/>
          </a:prstGeom>
          <a:noFill/>
          <a:ln/>
        </p:spPr>
        <p:txBody>
          <a:bodyPr wrap="square" lIns="0" tIns="0" rIns="0" bIns="0" rtlCol="0" anchor="ctr"/>
          <a:lstStyle/>
          <a:p>
            <a:pPr marL="0" indent="0">
              <a:buNone/>
            </a:pPr>
            <a:r>
              <a:rPr lang="en-US" sz="2600" b="1" dirty="0">
                <a:solidFill>
                  <a:srgbClr val="8F0024"/>
                </a:solidFill>
                <a:latin typeface="Avenir Next LT Pro" panose="020B0504020202020204" pitchFamily="34" charset="0"/>
              </a:rPr>
              <a:t>Discussion &amp; Future Directions</a:t>
            </a:r>
            <a:endParaRPr lang="en-US" sz="2600" dirty="0">
              <a:latin typeface="Avenir Next LT Pro" panose="020B0504020202020204" pitchFamily="34" charset="0"/>
            </a:endParaRPr>
          </a:p>
        </p:txBody>
      </p:sp>
      <p:sp>
        <p:nvSpPr>
          <p:cNvPr id="5" name="Shape 3"/>
          <p:cNvSpPr/>
          <p:nvPr/>
        </p:nvSpPr>
        <p:spPr>
          <a:xfrm>
            <a:off x="347472" y="1115568"/>
            <a:ext cx="8229600" cy="0"/>
          </a:xfrm>
          <a:prstGeom prst="line">
            <a:avLst/>
          </a:prstGeom>
          <a:noFill/>
          <a:ln w="8890">
            <a:solidFill>
              <a:srgbClr val="CCCCCC"/>
            </a:solidFill>
            <a:prstDash val="solid"/>
          </a:ln>
        </p:spPr>
        <p:txBody>
          <a:bodyPr/>
          <a:lstStyle/>
          <a:p>
            <a:endParaRPr lang="en-CA">
              <a:latin typeface="Avenir Next LT Pro" panose="020B0504020202020204" pitchFamily="34" charset="0"/>
            </a:endParaRPr>
          </a:p>
        </p:txBody>
      </p:sp>
      <p:sp>
        <p:nvSpPr>
          <p:cNvPr id="6" name="Text 4"/>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latin typeface="Avenir Next LT Pro" panose="020B0504020202020204" pitchFamily="34" charset="0"/>
              </a:rPr>
              <a:t>uOttawa</a:t>
            </a:r>
            <a:endParaRPr lang="en-US" sz="1300" dirty="0">
              <a:latin typeface="Avenir Next LT Pro" panose="020B0504020202020204" pitchFamily="34" charset="0"/>
            </a:endParaRPr>
          </a:p>
        </p:txBody>
      </p:sp>
      <p:sp>
        <p:nvSpPr>
          <p:cNvPr id="7" name="Text 5"/>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B6B6B"/>
                </a:solidFill>
                <a:latin typeface="Avenir Next LT Pro" panose="020B0504020202020204" pitchFamily="34" charset="0"/>
              </a:rPr>
              <a:t>14</a:t>
            </a:r>
            <a:endParaRPr lang="en-US" sz="900" dirty="0">
              <a:latin typeface="Avenir Next LT Pro" panose="020B0504020202020204" pitchFamily="34" charset="0"/>
            </a:endParaRPr>
          </a:p>
        </p:txBody>
      </p:sp>
      <p:sp>
        <p:nvSpPr>
          <p:cNvPr id="8" name="Text 6"/>
          <p:cNvSpPr/>
          <p:nvPr/>
        </p:nvSpPr>
        <p:spPr>
          <a:xfrm>
            <a:off x="347472" y="1234440"/>
            <a:ext cx="8229600" cy="320040"/>
          </a:xfrm>
          <a:prstGeom prst="rect">
            <a:avLst/>
          </a:prstGeom>
          <a:noFill/>
          <a:ln/>
        </p:spPr>
        <p:txBody>
          <a:bodyPr wrap="square" lIns="0" tIns="0" rIns="0" bIns="0" rtlCol="0" anchor="ctr"/>
          <a:lstStyle/>
          <a:p>
            <a:pPr marL="0" indent="0">
              <a:buNone/>
            </a:pPr>
            <a:r>
              <a:rPr lang="en-US" sz="1300" i="1" dirty="0">
                <a:solidFill>
                  <a:srgbClr val="6B6B6B"/>
                </a:solidFill>
                <a:latin typeface="Avenir Next LT Pro" panose="020B0504020202020204" pitchFamily="34" charset="0"/>
              </a:rPr>
              <a:t>What research directions does this paper open up?</a:t>
            </a:r>
            <a:endParaRPr lang="en-US" sz="1300" dirty="0">
              <a:latin typeface="Avenir Next LT Pro" panose="020B0504020202020204" pitchFamily="34" charset="0"/>
            </a:endParaRPr>
          </a:p>
        </p:txBody>
      </p:sp>
      <p:sp>
        <p:nvSpPr>
          <p:cNvPr id="9" name="Shape 7"/>
          <p:cNvSpPr/>
          <p:nvPr/>
        </p:nvSpPr>
        <p:spPr>
          <a:xfrm>
            <a:off x="347472" y="1691640"/>
            <a:ext cx="256032" cy="475488"/>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10" name="Text 8"/>
          <p:cNvSpPr/>
          <p:nvPr/>
        </p:nvSpPr>
        <p:spPr>
          <a:xfrm>
            <a:off x="347472" y="1691640"/>
            <a:ext cx="256032" cy="475488"/>
          </a:xfrm>
          <a:prstGeom prst="rect">
            <a:avLst/>
          </a:prstGeom>
          <a:noFill/>
          <a:ln/>
        </p:spPr>
        <p:txBody>
          <a:bodyPr wrap="square" rtlCol="0" anchor="ctr"/>
          <a:lstStyle/>
          <a:p>
            <a:pPr marL="0" indent="0" algn="ctr">
              <a:buNone/>
            </a:pPr>
            <a:r>
              <a:rPr lang="en-US" sz="1400" b="1" dirty="0">
                <a:solidFill>
                  <a:srgbClr val="FFFFFF"/>
                </a:solidFill>
                <a:latin typeface="Avenir Next LT Pro" panose="020B0504020202020204" pitchFamily="34" charset="0"/>
              </a:rPr>
              <a:t>→</a:t>
            </a:r>
            <a:endParaRPr lang="en-US" sz="1400" dirty="0">
              <a:latin typeface="Avenir Next LT Pro" panose="020B0504020202020204" pitchFamily="34" charset="0"/>
            </a:endParaRPr>
          </a:p>
        </p:txBody>
      </p:sp>
      <p:sp>
        <p:nvSpPr>
          <p:cNvPr id="11" name="Text 9"/>
          <p:cNvSpPr/>
          <p:nvPr/>
        </p:nvSpPr>
        <p:spPr>
          <a:xfrm>
            <a:off x="694944" y="1709928"/>
            <a:ext cx="8046720" cy="438912"/>
          </a:xfrm>
          <a:prstGeom prst="rect">
            <a:avLst/>
          </a:prstGeom>
          <a:noFill/>
          <a:ln/>
        </p:spPr>
        <p:txBody>
          <a:bodyPr wrap="square" rtlCol="0" anchor="ctr"/>
          <a:lstStyle/>
          <a:p>
            <a:pPr marL="0" indent="0">
              <a:buNone/>
            </a:pPr>
            <a:r>
              <a:rPr lang="en-US" sz="1250" b="1" dirty="0">
                <a:solidFill>
                  <a:srgbClr val="1E1E1E"/>
                </a:solidFill>
                <a:latin typeface="Avenir Next LT Pro" panose="020B0504020202020204" pitchFamily="34" charset="0"/>
              </a:rPr>
              <a:t>Transformer / Diffusion Architectures  </a:t>
            </a:r>
            <a:r>
              <a:rPr lang="en-US" sz="1250" dirty="0">
                <a:solidFill>
                  <a:srgbClr val="1E1E1E"/>
                </a:solidFill>
                <a:latin typeface="Avenir Next LT Pro" panose="020B0504020202020204" pitchFamily="34" charset="0"/>
              </a:rPr>
              <a:t>Replace MLP components with attention-based models or diffusion policies for richer representations</a:t>
            </a:r>
            <a:endParaRPr lang="en-US" sz="1250" dirty="0">
              <a:latin typeface="Avenir Next LT Pro" panose="020B0504020202020204" pitchFamily="34" charset="0"/>
            </a:endParaRPr>
          </a:p>
        </p:txBody>
      </p:sp>
      <p:sp>
        <p:nvSpPr>
          <p:cNvPr id="12" name="Shape 10"/>
          <p:cNvSpPr/>
          <p:nvPr/>
        </p:nvSpPr>
        <p:spPr>
          <a:xfrm>
            <a:off x="347472" y="2313432"/>
            <a:ext cx="256032" cy="475488"/>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13" name="Text 11"/>
          <p:cNvSpPr/>
          <p:nvPr/>
        </p:nvSpPr>
        <p:spPr>
          <a:xfrm>
            <a:off x="347472" y="2313432"/>
            <a:ext cx="256032" cy="475488"/>
          </a:xfrm>
          <a:prstGeom prst="rect">
            <a:avLst/>
          </a:prstGeom>
          <a:noFill/>
          <a:ln/>
        </p:spPr>
        <p:txBody>
          <a:bodyPr wrap="square" rtlCol="0" anchor="ctr"/>
          <a:lstStyle/>
          <a:p>
            <a:pPr marL="0" indent="0" algn="ctr">
              <a:buNone/>
            </a:pPr>
            <a:r>
              <a:rPr lang="en-US" sz="1400" b="1" dirty="0">
                <a:solidFill>
                  <a:srgbClr val="FFFFFF"/>
                </a:solidFill>
                <a:latin typeface="Avenir Next LT Pro" panose="020B0504020202020204" pitchFamily="34" charset="0"/>
              </a:rPr>
              <a:t>→</a:t>
            </a:r>
            <a:endParaRPr lang="en-US" sz="1400" dirty="0">
              <a:latin typeface="Avenir Next LT Pro" panose="020B0504020202020204" pitchFamily="34" charset="0"/>
            </a:endParaRPr>
          </a:p>
        </p:txBody>
      </p:sp>
      <p:sp>
        <p:nvSpPr>
          <p:cNvPr id="14" name="Text 12"/>
          <p:cNvSpPr/>
          <p:nvPr/>
        </p:nvSpPr>
        <p:spPr>
          <a:xfrm>
            <a:off x="694944" y="2331720"/>
            <a:ext cx="8046720" cy="438912"/>
          </a:xfrm>
          <a:prstGeom prst="rect">
            <a:avLst/>
          </a:prstGeom>
          <a:noFill/>
          <a:ln/>
        </p:spPr>
        <p:txBody>
          <a:bodyPr wrap="square" rtlCol="0" anchor="ctr"/>
          <a:lstStyle/>
          <a:p>
            <a:pPr marL="0" indent="0">
              <a:buNone/>
            </a:pPr>
            <a:r>
              <a:rPr lang="en-US" sz="1250" b="1" dirty="0">
                <a:solidFill>
                  <a:srgbClr val="1E1E1E"/>
                </a:solidFill>
                <a:latin typeface="Avenir Next LT Pro" panose="020B0504020202020204" pitchFamily="34" charset="0"/>
              </a:rPr>
              <a:t>Visual RL at Scale  </a:t>
            </a:r>
            <a:r>
              <a:rPr lang="en-US" sz="1250" dirty="0">
                <a:solidFill>
                  <a:srgbClr val="1E1E1E"/>
                </a:solidFill>
                <a:latin typeface="Avenir Next LT Pro" panose="020B0504020202020204" pitchFamily="34" charset="0"/>
              </a:rPr>
              <a:t>Extend Newt to fully image-based control across all 200 tasks — a major open challenge</a:t>
            </a:r>
            <a:endParaRPr lang="en-US" sz="1250" dirty="0">
              <a:latin typeface="Avenir Next LT Pro" panose="020B0504020202020204" pitchFamily="34" charset="0"/>
            </a:endParaRPr>
          </a:p>
        </p:txBody>
      </p:sp>
      <p:sp>
        <p:nvSpPr>
          <p:cNvPr id="15" name="Shape 13"/>
          <p:cNvSpPr/>
          <p:nvPr/>
        </p:nvSpPr>
        <p:spPr>
          <a:xfrm>
            <a:off x="347472" y="2935224"/>
            <a:ext cx="256032" cy="475488"/>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16" name="Text 14"/>
          <p:cNvSpPr/>
          <p:nvPr/>
        </p:nvSpPr>
        <p:spPr>
          <a:xfrm>
            <a:off x="347472" y="2935224"/>
            <a:ext cx="256032" cy="475488"/>
          </a:xfrm>
          <a:prstGeom prst="rect">
            <a:avLst/>
          </a:prstGeom>
          <a:noFill/>
          <a:ln/>
        </p:spPr>
        <p:txBody>
          <a:bodyPr wrap="square" rtlCol="0" anchor="ctr"/>
          <a:lstStyle/>
          <a:p>
            <a:pPr marL="0" indent="0" algn="ctr">
              <a:buNone/>
            </a:pPr>
            <a:r>
              <a:rPr lang="en-US" sz="1400" b="1" dirty="0">
                <a:solidFill>
                  <a:srgbClr val="FFFFFF"/>
                </a:solidFill>
                <a:latin typeface="Avenir Next LT Pro" panose="020B0504020202020204" pitchFamily="34" charset="0"/>
              </a:rPr>
              <a:t>→</a:t>
            </a:r>
            <a:endParaRPr lang="en-US" sz="1400" dirty="0">
              <a:latin typeface="Avenir Next LT Pro" panose="020B0504020202020204" pitchFamily="34" charset="0"/>
            </a:endParaRPr>
          </a:p>
        </p:txBody>
      </p:sp>
      <p:sp>
        <p:nvSpPr>
          <p:cNvPr id="17" name="Text 15"/>
          <p:cNvSpPr/>
          <p:nvPr/>
        </p:nvSpPr>
        <p:spPr>
          <a:xfrm>
            <a:off x="694944" y="2953512"/>
            <a:ext cx="8046720" cy="438912"/>
          </a:xfrm>
          <a:prstGeom prst="rect">
            <a:avLst/>
          </a:prstGeom>
          <a:noFill/>
          <a:ln/>
        </p:spPr>
        <p:txBody>
          <a:bodyPr wrap="square" rtlCol="0" anchor="ctr"/>
          <a:lstStyle/>
          <a:p>
            <a:pPr marL="0" indent="0">
              <a:buNone/>
            </a:pPr>
            <a:r>
              <a:rPr lang="en-US" sz="1250" b="1" dirty="0">
                <a:solidFill>
                  <a:srgbClr val="1E1E1E"/>
                </a:solidFill>
                <a:latin typeface="Avenir Next LT Pro" panose="020B0504020202020204" pitchFamily="34" charset="0"/>
              </a:rPr>
              <a:t>Fine-Tuning VLAs with Online RL  </a:t>
            </a:r>
            <a:r>
              <a:rPr lang="en-US" sz="1250" dirty="0">
                <a:solidFill>
                  <a:srgbClr val="1E1E1E"/>
                </a:solidFill>
                <a:latin typeface="Avenir Next LT Pro" panose="020B0504020202020204" pitchFamily="34" charset="0"/>
              </a:rPr>
              <a:t>Use MMBench to fine-tune vision-language-action models (GPT-4V, Gemini) with online RL — direct future work cited in paper</a:t>
            </a:r>
            <a:endParaRPr lang="en-US" sz="1250" dirty="0">
              <a:latin typeface="Avenir Next LT Pro" panose="020B0504020202020204" pitchFamily="34" charset="0"/>
            </a:endParaRPr>
          </a:p>
        </p:txBody>
      </p:sp>
      <p:sp>
        <p:nvSpPr>
          <p:cNvPr id="18" name="Shape 16"/>
          <p:cNvSpPr/>
          <p:nvPr/>
        </p:nvSpPr>
        <p:spPr>
          <a:xfrm>
            <a:off x="347472" y="3557016"/>
            <a:ext cx="256032" cy="475488"/>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19" name="Text 17"/>
          <p:cNvSpPr/>
          <p:nvPr/>
        </p:nvSpPr>
        <p:spPr>
          <a:xfrm>
            <a:off x="347472" y="3557016"/>
            <a:ext cx="256032" cy="475488"/>
          </a:xfrm>
          <a:prstGeom prst="rect">
            <a:avLst/>
          </a:prstGeom>
          <a:noFill/>
          <a:ln/>
        </p:spPr>
        <p:txBody>
          <a:bodyPr wrap="square" rtlCol="0" anchor="ctr"/>
          <a:lstStyle/>
          <a:p>
            <a:pPr marL="0" indent="0" algn="ctr">
              <a:buNone/>
            </a:pPr>
            <a:r>
              <a:rPr lang="en-US" sz="1400" b="1" dirty="0">
                <a:solidFill>
                  <a:srgbClr val="FFFFFF"/>
                </a:solidFill>
                <a:latin typeface="Avenir Next LT Pro" panose="020B0504020202020204" pitchFamily="34" charset="0"/>
              </a:rPr>
              <a:t>→</a:t>
            </a:r>
            <a:endParaRPr lang="en-US" sz="1400" dirty="0">
              <a:latin typeface="Avenir Next LT Pro" panose="020B0504020202020204" pitchFamily="34" charset="0"/>
            </a:endParaRPr>
          </a:p>
        </p:txBody>
      </p:sp>
      <p:sp>
        <p:nvSpPr>
          <p:cNvPr id="20" name="Text 18"/>
          <p:cNvSpPr/>
          <p:nvPr/>
        </p:nvSpPr>
        <p:spPr>
          <a:xfrm>
            <a:off x="694944" y="3575304"/>
            <a:ext cx="8046720" cy="438912"/>
          </a:xfrm>
          <a:prstGeom prst="rect">
            <a:avLst/>
          </a:prstGeom>
          <a:noFill/>
          <a:ln/>
        </p:spPr>
        <p:txBody>
          <a:bodyPr wrap="square" rtlCol="0" anchor="ctr"/>
          <a:lstStyle/>
          <a:p>
            <a:pPr marL="0" indent="0">
              <a:buNone/>
            </a:pPr>
            <a:r>
              <a:rPr lang="en-US" sz="1250" b="1" dirty="0">
                <a:solidFill>
                  <a:srgbClr val="1E1E1E"/>
                </a:solidFill>
                <a:latin typeface="Avenir Next LT Pro" panose="020B0504020202020204" pitchFamily="34" charset="0"/>
              </a:rPr>
              <a:t>Curriculum &amp; Task Scheduling  </a:t>
            </a:r>
            <a:r>
              <a:rPr lang="en-US" sz="1250" dirty="0">
                <a:solidFill>
                  <a:srgbClr val="1E1E1E"/>
                </a:solidFill>
                <a:latin typeface="Avenir Next LT Pro" panose="020B0504020202020204" pitchFamily="34" charset="0"/>
              </a:rPr>
              <a:t>Smarter multi-task training order (easy → hard, domain grouping) could improve convergence</a:t>
            </a:r>
            <a:endParaRPr lang="en-US" sz="1250" dirty="0">
              <a:latin typeface="Avenir Next LT Pro" panose="020B0504020202020204" pitchFamily="34" charset="0"/>
            </a:endParaRPr>
          </a:p>
        </p:txBody>
      </p:sp>
      <p:sp>
        <p:nvSpPr>
          <p:cNvPr id="21" name="Shape 19"/>
          <p:cNvSpPr/>
          <p:nvPr/>
        </p:nvSpPr>
        <p:spPr>
          <a:xfrm>
            <a:off x="347472" y="4178808"/>
            <a:ext cx="256032" cy="475488"/>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22" name="Text 20"/>
          <p:cNvSpPr/>
          <p:nvPr/>
        </p:nvSpPr>
        <p:spPr>
          <a:xfrm>
            <a:off x="347472" y="4178808"/>
            <a:ext cx="256032" cy="475488"/>
          </a:xfrm>
          <a:prstGeom prst="rect">
            <a:avLst/>
          </a:prstGeom>
          <a:noFill/>
          <a:ln/>
        </p:spPr>
        <p:txBody>
          <a:bodyPr wrap="square" rtlCol="0" anchor="ctr"/>
          <a:lstStyle/>
          <a:p>
            <a:pPr marL="0" indent="0" algn="ctr">
              <a:buNone/>
            </a:pPr>
            <a:r>
              <a:rPr lang="en-US" sz="1400" b="1" dirty="0">
                <a:solidFill>
                  <a:srgbClr val="FFFFFF"/>
                </a:solidFill>
                <a:latin typeface="Avenir Next LT Pro" panose="020B0504020202020204" pitchFamily="34" charset="0"/>
              </a:rPr>
              <a:t>→</a:t>
            </a:r>
            <a:endParaRPr lang="en-US" sz="1400" dirty="0">
              <a:latin typeface="Avenir Next LT Pro" panose="020B0504020202020204" pitchFamily="34" charset="0"/>
            </a:endParaRPr>
          </a:p>
        </p:txBody>
      </p:sp>
      <p:sp>
        <p:nvSpPr>
          <p:cNvPr id="23" name="Text 21"/>
          <p:cNvSpPr/>
          <p:nvPr/>
        </p:nvSpPr>
        <p:spPr>
          <a:xfrm>
            <a:off x="694944" y="4197096"/>
            <a:ext cx="8046720" cy="438912"/>
          </a:xfrm>
          <a:prstGeom prst="rect">
            <a:avLst/>
          </a:prstGeom>
          <a:noFill/>
          <a:ln/>
        </p:spPr>
        <p:txBody>
          <a:bodyPr wrap="square" rtlCol="0" anchor="ctr"/>
          <a:lstStyle/>
          <a:p>
            <a:pPr marL="0" indent="0">
              <a:buNone/>
            </a:pPr>
            <a:r>
              <a:rPr lang="en-US" sz="1250" b="1" dirty="0">
                <a:solidFill>
                  <a:srgbClr val="1E1E1E"/>
                </a:solidFill>
                <a:latin typeface="Avenir Next LT Pro" panose="020B0504020202020204" pitchFamily="34" charset="0"/>
              </a:rPr>
              <a:t>Broader Embodiments  </a:t>
            </a:r>
            <a:r>
              <a:rPr lang="en-US" sz="1250" dirty="0">
                <a:solidFill>
                  <a:srgbClr val="1E1E1E"/>
                </a:solidFill>
                <a:latin typeface="Avenir Next LT Pro" panose="020B0504020202020204" pitchFamily="34" charset="0"/>
              </a:rPr>
              <a:t>Extend to humanoid robots, autonomous vehicles, or real-world hardware deployment</a:t>
            </a:r>
            <a:endParaRPr lang="en-US" sz="1250" dirty="0">
              <a:latin typeface="Avenir Next LT Pro" panose="020B0504020202020204" pitchFamily="34" charset="0"/>
            </a:endParaRPr>
          </a:p>
        </p:txBody>
      </p:sp>
      <p:pic>
        <p:nvPicPr>
          <p:cNvPr id="25" name="Picture 24">
            <a:extLst>
              <a:ext uri="{FF2B5EF4-FFF2-40B4-BE49-F238E27FC236}">
                <a16:creationId xmlns:a16="http://schemas.microsoft.com/office/drawing/2014/main" id="{79EB58A3-1A8A-5D1D-4898-BEBD84713D78}"/>
              </a:ext>
            </a:extLst>
          </p:cNvPr>
          <p:cNvPicPr>
            <a:picLocks noChangeAspect="1"/>
          </p:cNvPicPr>
          <p:nvPr/>
        </p:nvPicPr>
        <p:blipFill>
          <a:blip r:embed="rId4"/>
          <a:stretch>
            <a:fillRect/>
          </a:stretch>
        </p:blipFill>
        <p:spPr>
          <a:xfrm>
            <a:off x="7085087" y="18000"/>
            <a:ext cx="2058914" cy="168106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Shape 2"/>
          <p:cNvSpPr/>
          <p:nvPr/>
        </p:nvSpPr>
        <p:spPr>
          <a:xfrm>
            <a:off x="8138160" y="411480"/>
            <a:ext cx="256032" cy="2103120"/>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5" name="Shape 3"/>
          <p:cNvSpPr/>
          <p:nvPr/>
        </p:nvSpPr>
        <p:spPr>
          <a:xfrm>
            <a:off x="8458200" y="411480"/>
            <a:ext cx="685800" cy="2103120"/>
          </a:xfrm>
          <a:prstGeom prst="rect">
            <a:avLst/>
          </a:prstGeom>
          <a:solidFill>
            <a:srgbClr val="B5003E"/>
          </a:solidFill>
          <a:ln w="12700">
            <a:solidFill>
              <a:srgbClr val="B5003E"/>
            </a:solidFill>
            <a:prstDash val="solid"/>
          </a:ln>
        </p:spPr>
        <p:txBody>
          <a:bodyPr/>
          <a:lstStyle/>
          <a:p>
            <a:endParaRPr lang="en-CA">
              <a:latin typeface="Avenir Next LT Pro" panose="020B0504020202020204" pitchFamily="34" charset="0"/>
            </a:endParaRPr>
          </a:p>
        </p:txBody>
      </p:sp>
      <p:sp>
        <p:nvSpPr>
          <p:cNvPr id="6" name="Text 4"/>
          <p:cNvSpPr/>
          <p:nvPr/>
        </p:nvSpPr>
        <p:spPr>
          <a:xfrm>
            <a:off x="347472" y="502920"/>
            <a:ext cx="7315200" cy="502920"/>
          </a:xfrm>
          <a:prstGeom prst="rect">
            <a:avLst/>
          </a:prstGeom>
          <a:noFill/>
          <a:ln/>
        </p:spPr>
        <p:txBody>
          <a:bodyPr wrap="square" lIns="0" tIns="0" rIns="0" bIns="0" rtlCol="0" anchor="ctr"/>
          <a:lstStyle/>
          <a:p>
            <a:pPr marL="0" indent="0">
              <a:buNone/>
            </a:pPr>
            <a:r>
              <a:rPr lang="en-US" sz="3000" b="1" dirty="0">
                <a:solidFill>
                  <a:srgbClr val="1E1E1E"/>
                </a:solidFill>
                <a:latin typeface="Avenir Next LT Pro" panose="020B0504020202020204" pitchFamily="34" charset="0"/>
              </a:rPr>
              <a:t>Conclusion</a:t>
            </a:r>
            <a:endParaRPr lang="en-US" sz="3000" dirty="0">
              <a:latin typeface="Avenir Next LT Pro" panose="020B0504020202020204" pitchFamily="34" charset="0"/>
            </a:endParaRPr>
          </a:p>
        </p:txBody>
      </p:sp>
      <p:sp>
        <p:nvSpPr>
          <p:cNvPr id="7" name="Shape 5"/>
          <p:cNvSpPr/>
          <p:nvPr/>
        </p:nvSpPr>
        <p:spPr>
          <a:xfrm>
            <a:off x="347472" y="1143000"/>
            <a:ext cx="8412480" cy="2514600"/>
          </a:xfrm>
          <a:prstGeom prst="rect">
            <a:avLst/>
          </a:prstGeom>
          <a:solidFill>
            <a:srgbClr val="FFFFFF"/>
          </a:solidFill>
          <a:ln w="12700">
            <a:solidFill>
              <a:srgbClr val="CCCCCC"/>
            </a:solidFill>
            <a:prstDash val="solid"/>
          </a:ln>
        </p:spPr>
        <p:txBody>
          <a:bodyPr/>
          <a:lstStyle/>
          <a:p>
            <a:endParaRPr lang="en-CA">
              <a:latin typeface="Avenir Next LT Pro" panose="020B0504020202020204" pitchFamily="34" charset="0"/>
            </a:endParaRPr>
          </a:p>
        </p:txBody>
      </p:sp>
      <p:sp>
        <p:nvSpPr>
          <p:cNvPr id="8" name="Shape 6"/>
          <p:cNvSpPr/>
          <p:nvPr/>
        </p:nvSpPr>
        <p:spPr>
          <a:xfrm>
            <a:off x="457200" y="1261872"/>
            <a:ext cx="347472" cy="420624"/>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9" name="Text 7"/>
          <p:cNvSpPr/>
          <p:nvPr/>
        </p:nvSpPr>
        <p:spPr>
          <a:xfrm>
            <a:off x="457200" y="1261872"/>
            <a:ext cx="347472" cy="420624"/>
          </a:xfrm>
          <a:prstGeom prst="rect">
            <a:avLst/>
          </a:prstGeom>
          <a:noFill/>
          <a:ln/>
        </p:spPr>
        <p:txBody>
          <a:bodyPr wrap="square" rtlCol="0" anchor="ctr"/>
          <a:lstStyle/>
          <a:p>
            <a:pPr marL="0" indent="0" algn="ctr">
              <a:buNone/>
            </a:pPr>
            <a:r>
              <a:rPr lang="en-US" sz="1400" b="1" dirty="0">
                <a:solidFill>
                  <a:srgbClr val="FFFFFF"/>
                </a:solidFill>
                <a:latin typeface="Avenir Next LT Pro" panose="020B0504020202020204" pitchFamily="34" charset="0"/>
              </a:rPr>
              <a:t>✓</a:t>
            </a:r>
            <a:endParaRPr lang="en-US" sz="1400" dirty="0">
              <a:latin typeface="Avenir Next LT Pro" panose="020B0504020202020204" pitchFamily="34" charset="0"/>
            </a:endParaRPr>
          </a:p>
        </p:txBody>
      </p:sp>
      <p:sp>
        <p:nvSpPr>
          <p:cNvPr id="10" name="Text 8"/>
          <p:cNvSpPr/>
          <p:nvPr/>
        </p:nvSpPr>
        <p:spPr>
          <a:xfrm>
            <a:off x="914400" y="1280160"/>
            <a:ext cx="7589520" cy="384048"/>
          </a:xfrm>
          <a:prstGeom prst="rect">
            <a:avLst/>
          </a:prstGeom>
          <a:noFill/>
          <a:ln/>
        </p:spPr>
        <p:txBody>
          <a:bodyPr wrap="square" rtlCol="0" anchor="ctr"/>
          <a:lstStyle/>
          <a:p>
            <a:pPr marL="0" indent="0">
              <a:buNone/>
            </a:pPr>
            <a:r>
              <a:rPr lang="en-US" sz="1400" dirty="0">
                <a:solidFill>
                  <a:srgbClr val="1E1E1E"/>
                </a:solidFill>
                <a:latin typeface="Avenir Next LT Pro" panose="020B0504020202020204" pitchFamily="34" charset="0"/>
              </a:rPr>
              <a:t>Massive multitask online RL is feasible in continuous control</a:t>
            </a:r>
            <a:endParaRPr lang="en-US" sz="1400" dirty="0">
              <a:latin typeface="Avenir Next LT Pro" panose="020B0504020202020204" pitchFamily="34" charset="0"/>
            </a:endParaRPr>
          </a:p>
        </p:txBody>
      </p:sp>
      <p:sp>
        <p:nvSpPr>
          <p:cNvPr id="11" name="Shape 9"/>
          <p:cNvSpPr/>
          <p:nvPr/>
        </p:nvSpPr>
        <p:spPr>
          <a:xfrm>
            <a:off x="457200" y="1828800"/>
            <a:ext cx="347472" cy="420624"/>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12" name="Text 10"/>
          <p:cNvSpPr/>
          <p:nvPr/>
        </p:nvSpPr>
        <p:spPr>
          <a:xfrm>
            <a:off x="457200" y="1828800"/>
            <a:ext cx="347472" cy="420624"/>
          </a:xfrm>
          <a:prstGeom prst="rect">
            <a:avLst/>
          </a:prstGeom>
          <a:noFill/>
          <a:ln/>
        </p:spPr>
        <p:txBody>
          <a:bodyPr wrap="square" rtlCol="0" anchor="ctr"/>
          <a:lstStyle/>
          <a:p>
            <a:pPr marL="0" indent="0" algn="ctr">
              <a:buNone/>
            </a:pPr>
            <a:r>
              <a:rPr lang="en-US" sz="1400" b="1" dirty="0">
                <a:solidFill>
                  <a:srgbClr val="FFFFFF"/>
                </a:solidFill>
                <a:latin typeface="Avenir Next LT Pro" panose="020B0504020202020204" pitchFamily="34" charset="0"/>
              </a:rPr>
              <a:t>✓</a:t>
            </a:r>
            <a:endParaRPr lang="en-US" sz="1400" dirty="0">
              <a:latin typeface="Avenir Next LT Pro" panose="020B0504020202020204" pitchFamily="34" charset="0"/>
            </a:endParaRPr>
          </a:p>
        </p:txBody>
      </p:sp>
      <p:sp>
        <p:nvSpPr>
          <p:cNvPr id="13" name="Text 11"/>
          <p:cNvSpPr/>
          <p:nvPr/>
        </p:nvSpPr>
        <p:spPr>
          <a:xfrm>
            <a:off x="914400" y="1847088"/>
            <a:ext cx="7589520" cy="384048"/>
          </a:xfrm>
          <a:prstGeom prst="rect">
            <a:avLst/>
          </a:prstGeom>
          <a:noFill/>
          <a:ln/>
        </p:spPr>
        <p:txBody>
          <a:bodyPr wrap="square" rtlCol="0" anchor="ctr"/>
          <a:lstStyle/>
          <a:p>
            <a:pPr marL="0" indent="0">
              <a:buNone/>
            </a:pPr>
            <a:r>
              <a:rPr lang="en-US" sz="1400" dirty="0">
                <a:solidFill>
                  <a:srgbClr val="1E1E1E"/>
                </a:solidFill>
                <a:latin typeface="Avenir Next LT Pro" panose="020B0504020202020204" pitchFamily="34" charset="0"/>
              </a:rPr>
              <a:t>Language instructions enable task generalization across embodiments</a:t>
            </a:r>
            <a:endParaRPr lang="en-US" sz="1400" dirty="0">
              <a:latin typeface="Avenir Next LT Pro" panose="020B0504020202020204" pitchFamily="34" charset="0"/>
            </a:endParaRPr>
          </a:p>
        </p:txBody>
      </p:sp>
      <p:sp>
        <p:nvSpPr>
          <p:cNvPr id="14" name="Shape 12"/>
          <p:cNvSpPr/>
          <p:nvPr/>
        </p:nvSpPr>
        <p:spPr>
          <a:xfrm>
            <a:off x="457200" y="2395728"/>
            <a:ext cx="347472" cy="420624"/>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15" name="Text 13"/>
          <p:cNvSpPr/>
          <p:nvPr/>
        </p:nvSpPr>
        <p:spPr>
          <a:xfrm>
            <a:off x="457200" y="2395728"/>
            <a:ext cx="347472" cy="420624"/>
          </a:xfrm>
          <a:prstGeom prst="rect">
            <a:avLst/>
          </a:prstGeom>
          <a:noFill/>
          <a:ln/>
        </p:spPr>
        <p:txBody>
          <a:bodyPr wrap="square" rtlCol="0" anchor="ctr"/>
          <a:lstStyle/>
          <a:p>
            <a:pPr marL="0" indent="0" algn="ctr">
              <a:buNone/>
            </a:pPr>
            <a:r>
              <a:rPr lang="en-US" sz="1400" b="1" dirty="0">
                <a:solidFill>
                  <a:srgbClr val="FFFFFF"/>
                </a:solidFill>
                <a:latin typeface="Avenir Next LT Pro" panose="020B0504020202020204" pitchFamily="34" charset="0"/>
              </a:rPr>
              <a:t>✓</a:t>
            </a:r>
            <a:endParaRPr lang="en-US" sz="1400" dirty="0">
              <a:latin typeface="Avenir Next LT Pro" panose="020B0504020202020204" pitchFamily="34" charset="0"/>
            </a:endParaRPr>
          </a:p>
        </p:txBody>
      </p:sp>
      <p:sp>
        <p:nvSpPr>
          <p:cNvPr id="16" name="Text 14"/>
          <p:cNvSpPr/>
          <p:nvPr/>
        </p:nvSpPr>
        <p:spPr>
          <a:xfrm>
            <a:off x="914400" y="2414016"/>
            <a:ext cx="7589520" cy="384048"/>
          </a:xfrm>
          <a:prstGeom prst="rect">
            <a:avLst/>
          </a:prstGeom>
          <a:noFill/>
          <a:ln/>
        </p:spPr>
        <p:txBody>
          <a:bodyPr wrap="square" rtlCol="0" anchor="ctr"/>
          <a:lstStyle/>
          <a:p>
            <a:pPr marL="0" indent="0">
              <a:buNone/>
            </a:pPr>
            <a:r>
              <a:rPr lang="en-US" sz="1400" dirty="0">
                <a:solidFill>
                  <a:srgbClr val="1E1E1E"/>
                </a:solidFill>
                <a:latin typeface="Avenir Next LT Pro" panose="020B0504020202020204" pitchFamily="34" charset="0"/>
              </a:rPr>
              <a:t>World models (Newt) are promising for generalist RL agents</a:t>
            </a:r>
            <a:endParaRPr lang="en-US" sz="1400" dirty="0">
              <a:latin typeface="Avenir Next LT Pro" panose="020B0504020202020204" pitchFamily="34" charset="0"/>
            </a:endParaRPr>
          </a:p>
        </p:txBody>
      </p:sp>
      <p:sp>
        <p:nvSpPr>
          <p:cNvPr id="17" name="Shape 15"/>
          <p:cNvSpPr/>
          <p:nvPr/>
        </p:nvSpPr>
        <p:spPr>
          <a:xfrm>
            <a:off x="457200" y="2962656"/>
            <a:ext cx="347472" cy="420624"/>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18" name="Text 16"/>
          <p:cNvSpPr/>
          <p:nvPr/>
        </p:nvSpPr>
        <p:spPr>
          <a:xfrm>
            <a:off x="457200" y="2962656"/>
            <a:ext cx="347472" cy="420624"/>
          </a:xfrm>
          <a:prstGeom prst="rect">
            <a:avLst/>
          </a:prstGeom>
          <a:noFill/>
          <a:ln/>
        </p:spPr>
        <p:txBody>
          <a:bodyPr wrap="square" rtlCol="0" anchor="ctr"/>
          <a:lstStyle/>
          <a:p>
            <a:pPr marL="0" indent="0" algn="ctr">
              <a:buNone/>
            </a:pPr>
            <a:r>
              <a:rPr lang="en-US" sz="1400" b="1" dirty="0">
                <a:solidFill>
                  <a:srgbClr val="FFFFFF"/>
                </a:solidFill>
                <a:latin typeface="Avenir Next LT Pro" panose="020B0504020202020204" pitchFamily="34" charset="0"/>
              </a:rPr>
              <a:t>✓</a:t>
            </a:r>
            <a:endParaRPr lang="en-US" sz="1400" dirty="0">
              <a:latin typeface="Avenir Next LT Pro" panose="020B0504020202020204" pitchFamily="34" charset="0"/>
            </a:endParaRPr>
          </a:p>
        </p:txBody>
      </p:sp>
      <p:sp>
        <p:nvSpPr>
          <p:cNvPr id="19" name="Text 17"/>
          <p:cNvSpPr/>
          <p:nvPr/>
        </p:nvSpPr>
        <p:spPr>
          <a:xfrm>
            <a:off x="914400" y="2980944"/>
            <a:ext cx="7589520" cy="384048"/>
          </a:xfrm>
          <a:prstGeom prst="rect">
            <a:avLst/>
          </a:prstGeom>
          <a:noFill/>
          <a:ln/>
        </p:spPr>
        <p:txBody>
          <a:bodyPr wrap="square" rtlCol="0" anchor="ctr"/>
          <a:lstStyle/>
          <a:p>
            <a:pPr marL="0" indent="0">
              <a:buNone/>
            </a:pPr>
            <a:r>
              <a:rPr lang="en-US" sz="1400" dirty="0">
                <a:solidFill>
                  <a:srgbClr val="1E1E1E"/>
                </a:solidFill>
                <a:latin typeface="Avenir Next LT Pro" panose="020B0504020202020204" pitchFamily="34" charset="0"/>
              </a:rPr>
              <a:t>MMBench provides a reproducible benchmark for the community</a:t>
            </a:r>
            <a:endParaRPr lang="en-US" sz="1400" dirty="0">
              <a:latin typeface="Avenir Next LT Pro" panose="020B0504020202020204" pitchFamily="34" charset="0"/>
            </a:endParaRPr>
          </a:p>
        </p:txBody>
      </p:sp>
      <p:sp>
        <p:nvSpPr>
          <p:cNvPr id="20" name="Shape 18"/>
          <p:cNvSpPr/>
          <p:nvPr/>
        </p:nvSpPr>
        <p:spPr>
          <a:xfrm>
            <a:off x="347472" y="3822192"/>
            <a:ext cx="8412480" cy="868680"/>
          </a:xfrm>
          <a:prstGeom prst="rect">
            <a:avLst/>
          </a:prstGeom>
          <a:solidFill>
            <a:srgbClr val="8F0024"/>
          </a:solidFill>
          <a:ln w="12700">
            <a:solidFill>
              <a:srgbClr val="8F0024"/>
            </a:solidFill>
            <a:prstDash val="solid"/>
          </a:ln>
        </p:spPr>
        <p:txBody>
          <a:bodyPr/>
          <a:lstStyle/>
          <a:p>
            <a:endParaRPr lang="en-CA">
              <a:latin typeface="Avenir Next LT Pro" panose="020B0504020202020204" pitchFamily="34" charset="0"/>
            </a:endParaRPr>
          </a:p>
        </p:txBody>
      </p:sp>
      <p:sp>
        <p:nvSpPr>
          <p:cNvPr id="21" name="Text 19"/>
          <p:cNvSpPr/>
          <p:nvPr/>
        </p:nvSpPr>
        <p:spPr>
          <a:xfrm>
            <a:off x="502920" y="3822192"/>
            <a:ext cx="8229600" cy="868680"/>
          </a:xfrm>
          <a:prstGeom prst="rect">
            <a:avLst/>
          </a:prstGeom>
          <a:noFill/>
          <a:ln/>
        </p:spPr>
        <p:txBody>
          <a:bodyPr wrap="square" rtlCol="0" anchor="ctr"/>
          <a:lstStyle/>
          <a:p>
            <a:pPr marL="0" indent="0" algn="ctr">
              <a:buNone/>
            </a:pPr>
            <a:r>
              <a:rPr lang="en-US" sz="1300" i="1" dirty="0">
                <a:solidFill>
                  <a:srgbClr val="FFFFFF"/>
                </a:solidFill>
                <a:latin typeface="Avenir Next LT Pro" panose="020B0504020202020204" pitchFamily="34" charset="0"/>
              </a:rPr>
              <a:t>"Online RL can scale to hundreds of continuous-control tasks — the generalist RL agent is within reach."</a:t>
            </a:r>
            <a:endParaRPr lang="en-US" sz="1300" dirty="0">
              <a:latin typeface="Avenir Next LT Pro" panose="020B0504020202020204" pitchFamily="34" charset="0"/>
            </a:endParaRPr>
          </a:p>
        </p:txBody>
      </p:sp>
      <p:sp>
        <p:nvSpPr>
          <p:cNvPr id="22" name="Text 20"/>
          <p:cNvSpPr/>
          <p:nvPr/>
        </p:nvSpPr>
        <p:spPr>
          <a:xfrm>
            <a:off x="7863840" y="4663440"/>
            <a:ext cx="1097280" cy="365760"/>
          </a:xfrm>
          <a:prstGeom prst="rect">
            <a:avLst/>
          </a:prstGeom>
          <a:noFill/>
          <a:ln/>
        </p:spPr>
        <p:txBody>
          <a:bodyPr wrap="square" rtlCol="0" anchor="ctr"/>
          <a:lstStyle/>
          <a:p>
            <a:pPr marL="0" indent="0" algn="r">
              <a:buNone/>
            </a:pPr>
            <a:r>
              <a:rPr lang="en-US" sz="1300" b="1" dirty="0">
                <a:solidFill>
                  <a:srgbClr val="1E1E1E"/>
                </a:solidFill>
                <a:latin typeface="Avenir Next LT Pro" panose="020B0504020202020204" pitchFamily="34" charset="0"/>
              </a:rPr>
              <a:t>uOttawa</a:t>
            </a:r>
            <a:endParaRPr lang="en-US" sz="1300" dirty="0">
              <a:latin typeface="Avenir Next LT Pro" panose="020B0504020202020204" pitchFamily="34" charset="0"/>
            </a:endParaRPr>
          </a:p>
        </p:txBody>
      </p:sp>
      <p:sp>
        <p:nvSpPr>
          <p:cNvPr id="23" name="Text 21"/>
          <p:cNvSpPr/>
          <p:nvPr/>
        </p:nvSpPr>
        <p:spPr>
          <a:xfrm>
            <a:off x="4297680" y="4892040"/>
            <a:ext cx="548640" cy="182880"/>
          </a:xfrm>
          <a:prstGeom prst="rect">
            <a:avLst/>
          </a:prstGeom>
          <a:noFill/>
          <a:ln/>
        </p:spPr>
        <p:txBody>
          <a:bodyPr wrap="square" rtlCol="0" anchor="ctr"/>
          <a:lstStyle/>
          <a:p>
            <a:pPr marL="0" indent="0" algn="ctr">
              <a:buNone/>
            </a:pPr>
            <a:r>
              <a:rPr lang="en-US" sz="900" dirty="0">
                <a:solidFill>
                  <a:srgbClr val="6B6B6B"/>
                </a:solidFill>
                <a:latin typeface="Avenir Next LT Pro" panose="020B0504020202020204" pitchFamily="34" charset="0"/>
              </a:rPr>
              <a:t>15</a:t>
            </a:r>
            <a:endParaRPr lang="en-US" sz="900" dirty="0">
              <a:latin typeface="Avenir Next LT Pro" panose="020B05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2002</Words>
  <Application>Microsoft Office PowerPoint</Application>
  <PresentationFormat>On-screen Show (16:9)</PresentationFormat>
  <Paragraphs>352</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Arial</vt:lpstr>
      <vt:lpstr>Avenir Next LT Pro</vt:lpstr>
      <vt:lpstr>Times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Massively Multitask World Models for Continuous Control</dc:title>
  <dc:subject>PptxGenJS Presentation</dc:subject>
  <dc:creator>PptxGenJS</dc:creator>
  <cp:lastModifiedBy>Mohammad .</cp:lastModifiedBy>
  <cp:revision>4</cp:revision>
  <dcterms:created xsi:type="dcterms:W3CDTF">2026-03-15T22:12:03Z</dcterms:created>
  <dcterms:modified xsi:type="dcterms:W3CDTF">2026-03-16T00:27:15Z</dcterms:modified>
</cp:coreProperties>
</file>